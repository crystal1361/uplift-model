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Y = 1 if the customer applies for the credit card, 0 if not.  T = 1 if they received the prescreen mail offer (treatment), 0 if they were held out (control).</a:t>
            </a:r>
            <a:endParaRPr lang="en-US" sz="115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if they get the offer (Y=1 under T=1, Y=0 under T=0) —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either way (Y=1 regardless of T). Mailing them is wasted budget.</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offer or not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if they get the offer — the mailing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is_treated (got the offer, 1/0) as just another input feature. τ(x) = f(x,1) − f(x,0), where 1/0 flips whether the offer was sent.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 where μ₁ is the offer-group model and μ₀ is the no-offer (control)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Y (applied?) and is_treated (got the offer?)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is_treated: 1 = got the prescreen offer, 0 = control  ·  Y: 1 = applied for the card, 0 = didn't</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993392"/>
          <a:ext cx="4892040" cy="1344168"/>
        </p:xfrm>
        <a:graphic>
          <a:graphicData uri="http://schemas.openxmlformats.org/drawingml/2006/table">
            <a:tbl>
              <a:tblPr/>
              <a:tblGrid>
                <a:gridCol w="1858975"/>
                <a:gridCol w="1565453"/>
                <a:gridCol w="1467612"/>
              </a:tblGrid>
              <a:tr h="19202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is_treated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92024">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8" name="Shape 5"/>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9" name="Text 6"/>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mailing scenarios on customer G</a:t>
            </a:r>
            <a:endParaRPr lang="en-US" sz="1100" dirty="0"/>
          </a:p>
        </p:txBody>
      </p:sp>
      <p:sp>
        <p:nvSpPr>
          <p:cNvPr id="10" name="Text 7"/>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Same customer G, same model — we just flip is_treated and ask “what if?” twice</a:t>
            </a:r>
            <a:endParaRPr lang="en-US" sz="9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993392"/>
          <a:ext cx="4892040" cy="1344168"/>
        </p:xfrm>
        <a:graphic>
          <a:graphicData uri="http://schemas.openxmlformats.org/drawingml/2006/table">
            <a:tbl>
              <a:tblPr/>
              <a:tblGrid>
                <a:gridCol w="1761134"/>
                <a:gridCol w="1663294"/>
                <a:gridCol w="1467612"/>
              </a:tblGrid>
              <a:tr h="33604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Mailing scenario</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is_treated</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P(applied)</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336042">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G gets the offer</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8892B"/>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44A"/>
                          </a:solidFill>
                          <a:latin typeface="Calibri" pitchFamily="34" charset="0"/>
                          <a:ea typeface="Calibri" pitchFamily="34" charset="-122"/>
                          <a:cs typeface="Calibri" pitchFamily="34" charset="-120"/>
                        </a:rPr>
                        <a:t>0.42</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336042">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G doesn't get it</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50" dirty="0">
                          <a:solidFill>
                            <a:srgbClr val="1E2761"/>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50" dirty="0">
                          <a:solidFill>
                            <a:srgbClr val="33344A"/>
                          </a:solidFill>
                          <a:latin typeface="Calibri" pitchFamily="34" charset="0"/>
                          <a:ea typeface="Calibri" pitchFamily="34" charset="-122"/>
                          <a:cs typeface="Calibri" pitchFamily="34" charset="-120"/>
                        </a:rPr>
                        <a:t>0.31</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336042">
                <a:tc gridSpan="2">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τ(G) = f(G,1) − f(G,0)</a:t>
                      </a:r>
                      <a:endParaRPr lang="en-US" sz="115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c hMerge="1">
                  <a:tcPr/>
                </a:tc>
                <a:tc>
                  <a:txBody>
                    <a:bodyPr/>
                    <a:lstStyle/>
                    <a:p>
                      <a:pPr algn="ctr" indent="0" marL="0">
                        <a:buNone/>
                      </a:pPr>
                      <a:r>
                        <a:rPr lang="en-US" sz="1500" b="1" dirty="0">
                          <a:solidFill>
                            <a:srgbClr val="B8892B"/>
                          </a:solidFill>
                          <a:latin typeface="Calibri" pitchFamily="34" charset="0"/>
                          <a:ea typeface="Calibri" pitchFamily="34" charset="-122"/>
                          <a:cs typeface="Calibri" pitchFamily="34" charset="-120"/>
                        </a:rPr>
                        <a:t>0.11</a:t>
                      </a:r>
                      <a:endParaRPr lang="en-US" sz="15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r>
            </a:tbl>
          </a:graphicData>
        </a:graphic>
      </p:graphicFrame>
      <p:sp>
        <p:nvSpPr>
          <p:cNvPr id="12" name="Shape 8"/>
          <p:cNvSpPr/>
          <p:nvPr/>
        </p:nvSpPr>
        <p:spPr>
          <a:xfrm>
            <a:off x="548640" y="3611880"/>
            <a:ext cx="5349240" cy="1234440"/>
          </a:xfrm>
          <a:prstGeom prst="roundRect">
            <a:avLst>
              <a:gd name="adj" fmla="val 7407"/>
            </a:avLst>
          </a:prstGeom>
          <a:solidFill>
            <a:srgbClr val="E4F3EC"/>
          </a:solidFill>
          <a:ln/>
        </p:spPr>
      </p:sp>
      <p:sp>
        <p:nvSpPr>
          <p:cNvPr id="13" name="Text 9"/>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4" name="Text 10"/>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when the control holdout is small.</a:t>
            </a:r>
            <a:endParaRPr lang="en-US" sz="1150" dirty="0"/>
          </a:p>
        </p:txBody>
      </p:sp>
      <p:sp>
        <p:nvSpPr>
          <p:cNvPr id="15" name="Shape 11"/>
          <p:cNvSpPr/>
          <p:nvPr/>
        </p:nvSpPr>
        <p:spPr>
          <a:xfrm>
            <a:off x="6263640" y="3611880"/>
            <a:ext cx="5349240" cy="1234440"/>
          </a:xfrm>
          <a:prstGeom prst="roundRect">
            <a:avLst>
              <a:gd name="adj" fmla="val 7407"/>
            </a:avLst>
          </a:prstGeom>
          <a:solidFill>
            <a:srgbClr val="FBEAE8"/>
          </a:solidFill>
          <a:ln/>
        </p:spPr>
      </p:sp>
      <p:sp>
        <p:nvSpPr>
          <p:cNvPr id="16" name="Text 12"/>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17" name="Text 13"/>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is_treated feature over dozens of stronger predictors — treatment can get nearly ignored.</a:t>
            </a:r>
            <a:endParaRPr lang="en-US" sz="1150" dirty="0"/>
          </a:p>
        </p:txBody>
      </p:sp>
      <p:sp>
        <p:nvSpPr>
          <p:cNvPr id="18" name="Shape 14"/>
          <p:cNvSpPr/>
          <p:nvPr/>
        </p:nvSpPr>
        <p:spPr>
          <a:xfrm>
            <a:off x="548640" y="4983480"/>
            <a:ext cx="11064240" cy="1051560"/>
          </a:xfrm>
          <a:prstGeom prst="roundRect">
            <a:avLst>
              <a:gd name="adj" fmla="val 6957"/>
            </a:avLst>
          </a:prstGeom>
          <a:solidFill>
            <a:srgbClr val="141B4D"/>
          </a:solidFill>
          <a:ln/>
        </p:spPr>
      </p:sp>
      <p:sp>
        <p:nvSpPr>
          <p:cNvPr id="19" name="Text 15"/>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is_treated as noise, exactly the risk we can't take when isolating the offer's effect is the whole point.</a:t>
            </a:r>
            <a:endParaRPr lang="en-US" sz="1250" dirty="0"/>
          </a:p>
        </p:txBody>
      </p:sp>
      <p:sp>
        <p:nvSpPr>
          <p:cNvPr id="20"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1" name="Text 1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Y: 1 = applied for the card, 0 = didn't  ·  which model a customer trains depends on whether they got the offer</a:t>
            </a:r>
            <a:endParaRPr lang="en-US" sz="900" dirty="0"/>
          </a:p>
        </p:txBody>
      </p:sp>
      <p:sp>
        <p:nvSpPr>
          <p:cNvPr id="7" name="Text 5"/>
          <p:cNvSpPr txBox="1"/>
          <p:nvPr/>
        </p:nvSpPr>
        <p:spPr>
          <a:xfrm>
            <a:off x="777240" y="201168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model (no offer)  →  μ̂₀</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3314700" y="201168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model (got offer)  →  μ̂₁</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231136"/>
          <a:ext cx="2354580" cy="1106424"/>
        </p:xfrm>
        <a:graphic>
          <a:graphicData uri="http://schemas.openxmlformats.org/drawingml/2006/table">
            <a:tbl>
              <a:tblPr/>
              <a:tblGrid>
                <a:gridCol w="1295019"/>
                <a:gridCol w="1059561"/>
              </a:tblGrid>
              <a:tr h="276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Y</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7660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Shape 7"/>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2" name="Text 8"/>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sp>
        <p:nvSpPr>
          <p:cNvPr id="13" name="Text 9"/>
          <p:cNvSpPr txBox="1"/>
          <p:nvPr/>
        </p:nvSpPr>
        <p:spPr>
          <a:xfrm>
            <a:off x="6492240" y="1773936"/>
            <a:ext cx="489204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No flag to flip — which model you ask IS the mailing scenario</a:t>
            </a:r>
            <a:endParaRPr lang="en-US" sz="9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993392"/>
          <a:ext cx="4892040" cy="1344168"/>
        </p:xfrm>
        <a:graphic>
          <a:graphicData uri="http://schemas.openxmlformats.org/drawingml/2006/table">
            <a:tbl>
              <a:tblPr/>
              <a:tblGrid>
                <a:gridCol w="2152498"/>
                <a:gridCol w="1369771"/>
                <a:gridCol w="1369771"/>
              </a:tblGrid>
              <a:tr h="33604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Mailing scenario</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P(applied)</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336042">
                <a:tc>
                  <a:txBody>
                    <a:bodyPr/>
                    <a:lstStyle/>
                    <a:p>
                      <a:pPr algn="l" indent="0" marL="0">
                        <a:buNone/>
                      </a:pPr>
                      <a:r>
                        <a:rPr lang="en-US" sz="1100" b="1" dirty="0">
                          <a:solidFill>
                            <a:srgbClr val="1E2761"/>
                          </a:solidFill>
                          <a:latin typeface="Calibri" pitchFamily="34" charset="0"/>
                          <a:ea typeface="Calibri" pitchFamily="34" charset="-122"/>
                          <a:cs typeface="Calibri" pitchFamily="34" charset="-120"/>
                        </a:rPr>
                        <a:t>μ̂₀ — control 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G doesn't get it</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0.19</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336042">
                <a:tc>
                  <a:txBody>
                    <a:bodyPr/>
                    <a:lstStyle/>
                    <a:p>
                      <a:pPr algn="l" indent="0" marL="0">
                        <a:buNone/>
                      </a:pPr>
                      <a:r>
                        <a:rPr lang="en-US" sz="1100" b="1" dirty="0">
                          <a:solidFill>
                            <a:srgbClr val="B8892B"/>
                          </a:solidFill>
                          <a:latin typeface="Calibri" pitchFamily="34" charset="0"/>
                          <a:ea typeface="Calibri" pitchFamily="34" charset="-122"/>
                          <a:cs typeface="Calibri" pitchFamily="34" charset="-120"/>
                        </a:rPr>
                        <a:t>μ̂₁ — treatment model</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G gets the offer</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336042">
                <a:tc gridSpan="2">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τ(G) = μ̂₁(G) − μ̂₀(G)</a:t>
                      </a:r>
                      <a:endParaRPr lang="en-US" sz="11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c hMerge="1">
                  <a:tcPr/>
                </a:tc>
                <a:tc>
                  <a:txBody>
                    <a:bodyPr/>
                    <a:lstStyle/>
                    <a:p>
                      <a:pPr algn="ctr" indent="0" marL="0">
                        <a:buNone/>
                      </a:pPr>
                      <a:r>
                        <a:rPr lang="en-US" sz="1500" b="1" dirty="0">
                          <a:solidFill>
                            <a:srgbClr val="B8892B"/>
                          </a:solidFill>
                          <a:latin typeface="Calibri" pitchFamily="34" charset="0"/>
                          <a:ea typeface="Calibri" pitchFamily="34" charset="-122"/>
                          <a:cs typeface="Calibri" pitchFamily="34" charset="-120"/>
                        </a:rPr>
                        <a:t>0.16</a:t>
                      </a:r>
                      <a:endParaRPr lang="en-US" sz="1500" dirty="0">
                        <a:latin typeface="Calibri" charset="0"/>
                        <a:ea typeface="Calibri" charset="0"/>
                        <a:cs typeface="Calibri" charset="0"/>
                      </a:endParaRPr>
                    </a:p>
                  </a:txBody>
                  <a:tcPr marL="54864" marR="54864"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41B4D"/>
                    </a:solidFill>
                  </a:tcPr>
                </a:tc>
              </a:tr>
            </a:tbl>
          </a:graphicData>
        </a:graphic>
      </p:graphicFrame>
      <p:sp>
        <p:nvSpPr>
          <p:cNvPr id="15" name="Shape 10"/>
          <p:cNvSpPr/>
          <p:nvPr/>
        </p:nvSpPr>
        <p:spPr>
          <a:xfrm>
            <a:off x="548640" y="3611880"/>
            <a:ext cx="5349240" cy="1234440"/>
          </a:xfrm>
          <a:prstGeom prst="roundRect">
            <a:avLst>
              <a:gd name="adj" fmla="val 7407"/>
            </a:avLst>
          </a:prstGeom>
          <a:solidFill>
            <a:srgbClr val="E4F3EC"/>
          </a:solidFill>
          <a:ln/>
        </p:spPr>
      </p:sp>
      <p:sp>
        <p:nvSpPr>
          <p:cNvPr id="16"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7"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18" name="Shape 13"/>
          <p:cNvSpPr/>
          <p:nvPr/>
        </p:nvSpPr>
        <p:spPr>
          <a:xfrm>
            <a:off x="6263640" y="3611880"/>
            <a:ext cx="5349240" cy="1234440"/>
          </a:xfrm>
          <a:prstGeom prst="roundRect">
            <a:avLst>
              <a:gd name="adj" fmla="val 7407"/>
            </a:avLst>
          </a:prstGeom>
          <a:solidFill>
            <a:srgbClr val="FBEAE8"/>
          </a:solidFill>
          <a:ln/>
        </p:spPr>
      </p:sp>
      <p:sp>
        <p:nvSpPr>
          <p:cNvPr id="19"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0"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1" name="Shape 16"/>
          <p:cNvSpPr/>
          <p:nvPr/>
        </p:nvSpPr>
        <p:spPr>
          <a:xfrm>
            <a:off x="548640" y="4983480"/>
            <a:ext cx="11064240" cy="1051560"/>
          </a:xfrm>
          <a:prstGeom prst="roundRect">
            <a:avLst>
              <a:gd name="adj" fmla="val 6957"/>
            </a:avLst>
          </a:prstGeom>
          <a:solidFill>
            <a:srgbClr val="141B4D"/>
          </a:solidFill>
          <a:ln/>
        </p:spPr>
      </p:sp>
      <p:sp>
        <p:nvSpPr>
          <p:cNvPr id="22"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 starves the control model exactly where T-Learner needs it most; its noise lands straight in every uplift score. Closing that gap is the reason X-Learner exists.</a:t>
            </a:r>
            <a:endParaRPr lang="en-US" sz="1250" dirty="0"/>
          </a:p>
        </p:txBody>
      </p:sp>
      <p:sp>
        <p:nvSpPr>
          <p:cNvPr id="23"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4"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did NOT get the offer.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DID get the offer.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(Y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2026-08-27T03:59:54Z</dcterms:created>
  <dcterms:modified xsi:type="dcterms:W3CDTF">2026-08-27T03:59:54Z</dcterms:modified>
</cp:coreProperties>
</file>