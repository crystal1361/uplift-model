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 和 control 两组，分别训练两个 outcome model，一个学有 offer 时的结果，一个学没 offer 时的结果。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 offer 会产生最大的增量响应。
English equivalent:
1. Split historical experiment data into treatment and control, train two outcome models — one for what happens with the offer, one without.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because of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say yes with no offer at all. An uplift model predicts the incremental effect of the offer itself, so targeting can focus on the one segment where the offer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Text 4"/>
          <p:cNvSpPr txBox="1"/>
          <p:nvPr/>
        </p:nvSpPr>
        <p:spPr>
          <a:xfrm>
            <a:off x="548640" y="3611880"/>
            <a:ext cx="5212080" cy="54864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the treatment effect — not the response probability — is the thing we're trying to score.</a:t>
            </a:r>
            <a:endParaRPr lang="en-US" sz="1150" dirty="0"/>
          </a:p>
        </p:txBody>
      </p:sp>
      <p:sp>
        <p:nvSpPr>
          <p:cNvPr id="7" name="Shape 5"/>
          <p:cNvSpPr/>
          <p:nvPr/>
        </p:nvSpPr>
        <p:spPr>
          <a:xfrm>
            <a:off x="6126480" y="1371600"/>
            <a:ext cx="2587752" cy="2336292"/>
          </a:xfrm>
          <a:prstGeom prst="roundRect">
            <a:avLst>
              <a:gd name="adj" fmla="val 3131"/>
            </a:avLst>
          </a:prstGeom>
          <a:solidFill>
            <a:srgbClr val="E4F3EC"/>
          </a:solidFill>
          <a:ln/>
        </p:spPr>
      </p:sp>
      <p:sp>
        <p:nvSpPr>
          <p:cNvPr id="8" name="Text 6"/>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9" name="Text 7"/>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Respond only if treated — the offer changes their decision. This is the target segment.</a:t>
            </a:r>
            <a:endParaRPr lang="en-US" sz="1100" dirty="0"/>
          </a:p>
        </p:txBody>
      </p:sp>
      <p:sp>
        <p:nvSpPr>
          <p:cNvPr id="10" name="Shape 8"/>
          <p:cNvSpPr/>
          <p:nvPr/>
        </p:nvSpPr>
        <p:spPr>
          <a:xfrm>
            <a:off x="8933688" y="1371600"/>
            <a:ext cx="2587752" cy="2336292"/>
          </a:xfrm>
          <a:prstGeom prst="roundRect">
            <a:avLst>
              <a:gd name="adj" fmla="val 3131"/>
            </a:avLst>
          </a:prstGeom>
          <a:solidFill>
            <a:srgbClr val="EAF0FC"/>
          </a:solidFill>
          <a:ln/>
        </p:spPr>
      </p:sp>
      <p:sp>
        <p:nvSpPr>
          <p:cNvPr id="11" name="Text 9"/>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2" name="Text 10"/>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Respond either way. Treating them is wasted budget.</a:t>
            </a:r>
            <a:endParaRPr lang="en-US" sz="1100" dirty="0"/>
          </a:p>
        </p:txBody>
      </p:sp>
      <p:sp>
        <p:nvSpPr>
          <p:cNvPr id="13" name="Shape 11"/>
          <p:cNvSpPr/>
          <p:nvPr/>
        </p:nvSpPr>
        <p:spPr>
          <a:xfrm>
            <a:off x="6126480" y="3927348"/>
            <a:ext cx="2587752" cy="2336292"/>
          </a:xfrm>
          <a:prstGeom prst="roundRect">
            <a:avLst>
              <a:gd name="adj" fmla="val 3131"/>
            </a:avLst>
          </a:prstGeom>
          <a:solidFill>
            <a:srgbClr val="F2F2F5"/>
          </a:solidFill>
          <a:ln/>
        </p:spPr>
      </p:sp>
      <p:sp>
        <p:nvSpPr>
          <p:cNvPr id="14" name="Text 12"/>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5" name="Text 13"/>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respond, treated or not. Nothing to gain.</a:t>
            </a:r>
            <a:endParaRPr lang="en-US" sz="1100" dirty="0"/>
          </a:p>
        </p:txBody>
      </p:sp>
      <p:sp>
        <p:nvSpPr>
          <p:cNvPr id="16" name="Shape 14"/>
          <p:cNvSpPr/>
          <p:nvPr/>
        </p:nvSpPr>
        <p:spPr>
          <a:xfrm>
            <a:off x="8933688" y="3927348"/>
            <a:ext cx="2587752" cy="2336292"/>
          </a:xfrm>
          <a:prstGeom prst="roundRect">
            <a:avLst>
              <a:gd name="adj" fmla="val 3131"/>
            </a:avLst>
          </a:prstGeom>
          <a:solidFill>
            <a:srgbClr val="FBEAE8"/>
          </a:solidFill>
          <a:ln/>
        </p:spPr>
      </p:sp>
      <p:sp>
        <p:nvSpPr>
          <p:cNvPr id="17" name="Text 15"/>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18" name="Text 16"/>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Respond less if treated — the offer backfires.</a:t>
            </a:r>
            <a:endParaRPr lang="en-US" sz="1100" dirty="0"/>
          </a:p>
        </p:txBody>
      </p:sp>
      <p:sp>
        <p:nvSpPr>
          <p:cNvPr id="19" name="Text 17"/>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0" name="Text 18"/>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treatment as just another input feature. τ(x) = f(x,1) − f(x,0).</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models, one per arm. τ(x) = μ₁(x) − μ₀(x).</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417320"/>
            <a:ext cx="5349240" cy="1600200"/>
          </a:xfrm>
          <a:prstGeom prst="roundRect">
            <a:avLst>
              <a:gd name="adj" fmla="val 5714"/>
            </a:avLst>
          </a:prstGeom>
          <a:solidFill>
            <a:srgbClr val="EAF0FC"/>
          </a:solidFill>
          <a:ln w="12700">
            <a:solidFill>
              <a:srgbClr val="1E2761"/>
            </a:solidFill>
            <a:prstDash val="solid"/>
          </a:ln>
        </p:spPr>
      </p:sp>
      <p:sp>
        <p:nvSpPr>
          <p:cNvPr id="5" name="Text 3"/>
          <p:cNvSpPr txBox="1"/>
          <p:nvPr/>
        </p:nvSpPr>
        <p:spPr>
          <a:xfrm>
            <a:off x="822960" y="1581912"/>
            <a:ext cx="4800600" cy="320040"/>
          </a:xfrm>
          <a:prstGeom prst="rect">
            <a:avLst/>
          </a:prstGeom>
          <a:noFill/>
          <a:ln/>
        </p:spPr>
        <p:txBody>
          <a:bodyPr wrap="square" lIns="0" tIns="0" rIns="0" bIns="0" rtlCol="0" anchor="ctr"/>
          <a:lstStyle/>
          <a:p>
            <a:pPr indent="0" marL="0">
              <a:buNone/>
            </a:pPr>
            <a:r>
              <a:rPr lang="en-US" sz="1150" b="1" spc="150" kern="0" dirty="0">
                <a:solidFill>
                  <a:srgbClr val="1E2761"/>
                </a:solidFill>
                <a:latin typeface="Calibri" pitchFamily="34" charset="0"/>
                <a:ea typeface="Calibri" pitchFamily="34" charset="-122"/>
                <a:cs typeface="Calibri" pitchFamily="34" charset="-120"/>
              </a:rPr>
              <a:t>TRAIN</a:t>
            </a:r>
            <a:endParaRPr lang="en-US" sz="1150" dirty="0"/>
          </a:p>
        </p:txBody>
      </p:sp>
      <p:sp>
        <p:nvSpPr>
          <p:cNvPr id="6" name="Text 4"/>
          <p:cNvSpPr txBox="1"/>
          <p:nvPr/>
        </p:nvSpPr>
        <p:spPr>
          <a:xfrm>
            <a:off x="822960" y="1920240"/>
            <a:ext cx="4800600" cy="914400"/>
          </a:xfrm>
          <a:prstGeom prst="rect">
            <a:avLst/>
          </a:prstGeom>
          <a:noFill/>
          <a:ln/>
        </p:spPr>
        <p:txBody>
          <a:bodyPr wrap="square" lIns="0" tIns="0" rIns="0" bIns="0" rtlCol="0" anchor="ctr"/>
          <a:lstStyle/>
          <a:p>
            <a:pPr indent="0" marL="0">
              <a:lnSpc>
                <a:spcPct val="120000"/>
              </a:lnSpc>
              <a:buNone/>
            </a:pPr>
            <a:r>
              <a:rPr lang="en-US" sz="1200" dirty="0">
                <a:solidFill>
                  <a:srgbClr val="33344A"/>
                </a:solidFill>
                <a:latin typeface="Calibri" pitchFamily="34" charset="0"/>
                <a:ea typeface="Calibri" pitchFamily="34" charset="-122"/>
                <a:cs typeface="Calibri" pitchFamily="34" charset="-120"/>
              </a:rPr>
              <a:t>One GBM/logistic model, fit on ALL customers — treatment and control together. Features = customer attributes (utilization, tenure, income band, existing balances) plus a single is_treated flag. Label = responded (Y).</a:t>
            </a:r>
            <a:endParaRPr lang="en-US" sz="1200" dirty="0"/>
          </a:p>
        </p:txBody>
      </p:sp>
      <p:sp>
        <p:nvSpPr>
          <p:cNvPr id="7" name="Shape 5"/>
          <p:cNvSpPr/>
          <p:nvPr/>
        </p:nvSpPr>
        <p:spPr>
          <a:xfrm>
            <a:off x="6263640" y="1417320"/>
            <a:ext cx="5349240" cy="1600200"/>
          </a:xfrm>
          <a:prstGeom prst="roundRect">
            <a:avLst>
              <a:gd name="adj" fmla="val 5714"/>
            </a:avLst>
          </a:prstGeom>
          <a:solidFill>
            <a:srgbClr val="FBF3E1"/>
          </a:solidFill>
          <a:ln w="12700">
            <a:solidFill>
              <a:srgbClr val="B8892B"/>
            </a:solidFill>
            <a:prstDash val="solid"/>
          </a:ln>
        </p:spPr>
      </p:sp>
      <p:sp>
        <p:nvSpPr>
          <p:cNvPr id="8" name="Text 6"/>
          <p:cNvSpPr txBox="1"/>
          <p:nvPr/>
        </p:nvSpPr>
        <p:spPr>
          <a:xfrm>
            <a:off x="6537960" y="1581912"/>
            <a:ext cx="48006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SCORE</a:t>
            </a:r>
            <a:endParaRPr lang="en-US" sz="1150" dirty="0"/>
          </a:p>
        </p:txBody>
      </p:sp>
      <p:sp>
        <p:nvSpPr>
          <p:cNvPr id="9" name="Text 7"/>
          <p:cNvSpPr txBox="1"/>
          <p:nvPr/>
        </p:nvSpPr>
        <p:spPr>
          <a:xfrm>
            <a:off x="6537960" y="1920240"/>
            <a:ext cx="4800600" cy="914400"/>
          </a:xfrm>
          <a:prstGeom prst="rect">
            <a:avLst/>
          </a:prstGeom>
          <a:noFill/>
          <a:ln/>
        </p:spPr>
        <p:txBody>
          <a:bodyPr wrap="square" lIns="0" tIns="0" rIns="0" bIns="0" rtlCol="0" anchor="ctr"/>
          <a:lstStyle/>
          <a:p>
            <a:pPr indent="0" marL="0">
              <a:lnSpc>
                <a:spcPct val="120000"/>
              </a:lnSpc>
              <a:buNone/>
            </a:pPr>
            <a:r>
              <a:rPr lang="en-US" sz="1200" dirty="0">
                <a:solidFill>
                  <a:srgbClr val="33344A"/>
                </a:solidFill>
                <a:latin typeface="Calibri" pitchFamily="34" charset="0"/>
                <a:ea typeface="Calibri" pitchFamily="34" charset="-122"/>
                <a:cs typeface="Calibri" pitchFamily="34" charset="-120"/>
              </a:rPr>
              <a:t>Score every customer twice — once with is_treated=1, once with is_treated=0 — then τ(x) = f(x,1) − f(x,0). Only one model ever goes to production; scoring is just two forward passes per customer.</a:t>
            </a:r>
            <a:endParaRPr lang="en-US" sz="1200" dirty="0"/>
          </a:p>
        </p:txBody>
      </p:sp>
      <p:sp>
        <p:nvSpPr>
          <p:cNvPr id="10" name="Shape 8"/>
          <p:cNvSpPr/>
          <p:nvPr/>
        </p:nvSpPr>
        <p:spPr>
          <a:xfrm>
            <a:off x="548640" y="3200400"/>
            <a:ext cx="5349240" cy="1463040"/>
          </a:xfrm>
          <a:prstGeom prst="roundRect">
            <a:avLst>
              <a:gd name="adj" fmla="val 6250"/>
            </a:avLst>
          </a:prstGeom>
          <a:solidFill>
            <a:srgbClr val="E4F3EC"/>
          </a:solidFill>
          <a:ln/>
        </p:spPr>
      </p:sp>
      <p:sp>
        <p:nvSpPr>
          <p:cNvPr id="11" name="Text 9"/>
          <p:cNvSpPr txBox="1"/>
          <p:nvPr/>
        </p:nvSpPr>
        <p:spPr>
          <a:xfrm>
            <a:off x="822960" y="3346704"/>
            <a:ext cx="4800600" cy="320040"/>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2" name="Text 10"/>
          <p:cNvSpPr txBox="1"/>
          <p:nvPr/>
        </p:nvSpPr>
        <p:spPr>
          <a:xfrm>
            <a:off x="822960" y="3703320"/>
            <a:ext cx="4800600" cy="77724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validate, and monitor in production. Pools all customers together, so it's data-efficient — useful when the control holdout is small.</a:t>
            </a:r>
            <a:endParaRPr lang="en-US" sz="1150" dirty="0"/>
          </a:p>
        </p:txBody>
      </p:sp>
      <p:sp>
        <p:nvSpPr>
          <p:cNvPr id="13" name="Shape 11"/>
          <p:cNvSpPr/>
          <p:nvPr/>
        </p:nvSpPr>
        <p:spPr>
          <a:xfrm>
            <a:off x="6263640" y="3200400"/>
            <a:ext cx="5349240" cy="1463040"/>
          </a:xfrm>
          <a:prstGeom prst="roundRect">
            <a:avLst>
              <a:gd name="adj" fmla="val 6250"/>
            </a:avLst>
          </a:prstGeom>
          <a:solidFill>
            <a:srgbClr val="FBEAE8"/>
          </a:solidFill>
          <a:ln/>
        </p:spPr>
      </p:sp>
      <p:sp>
        <p:nvSpPr>
          <p:cNvPr id="14" name="Text 12"/>
          <p:cNvSpPr txBox="1"/>
          <p:nvPr/>
        </p:nvSpPr>
        <p:spPr>
          <a:xfrm>
            <a:off x="6537960" y="3346704"/>
            <a:ext cx="4800600" cy="320040"/>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15" name="Text 13"/>
          <p:cNvSpPr txBox="1"/>
          <p:nvPr/>
        </p:nvSpPr>
        <p:spPr>
          <a:xfrm>
            <a:off x="6537960" y="3703320"/>
            <a:ext cx="4800600" cy="77724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and tree-splitting have no reason to favor one is_treated feature over dozens of stronger baseline predictors. Left alone, the model can end up nearly ignoring treatment.</a:t>
            </a:r>
            <a:endParaRPr lang="en-US" sz="1150" dirty="0"/>
          </a:p>
        </p:txBody>
      </p:sp>
      <p:sp>
        <p:nvSpPr>
          <p:cNvPr id="16" name="Shape 14"/>
          <p:cNvSpPr/>
          <p:nvPr/>
        </p:nvSpPr>
        <p:spPr>
          <a:xfrm>
            <a:off x="548640" y="4846320"/>
            <a:ext cx="11064240" cy="1188720"/>
          </a:xfrm>
          <a:prstGeom prst="roundRect">
            <a:avLst>
              <a:gd name="adj" fmla="val 6154"/>
            </a:avLst>
          </a:prstGeom>
          <a:solidFill>
            <a:srgbClr val="141B4D"/>
          </a:solidFill>
          <a:ln/>
        </p:spPr>
      </p:sp>
      <p:sp>
        <p:nvSpPr>
          <p:cNvPr id="17" name="Text 15"/>
          <p:cNvSpPr txBox="1"/>
          <p:nvPr/>
        </p:nvSpPr>
        <p:spPr>
          <a:xfrm>
            <a:off x="868680" y="4846320"/>
            <a:ext cx="10424160" cy="1188720"/>
          </a:xfrm>
          <a:prstGeom prst="rect">
            <a:avLst/>
          </a:prstGeom>
          <a:noFill/>
          <a:ln/>
        </p:spPr>
        <p:txBody>
          <a:bodyPr wrap="square" lIns="0" tIns="0" rIns="0" bIns="0" rtlCol="0" anchor="ctr"/>
          <a:lstStyle/>
          <a:p>
            <a:pPr indent="0" marL="0">
              <a:lnSpc>
                <a:spcPct val="122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50" dirty="0">
                <a:solidFill>
                  <a:srgbClr val="FFFFFF"/>
                </a:solidFill>
                <a:latin typeface="Calibri" pitchFamily="34" charset="0"/>
                <a:ea typeface="Calibri" pitchFamily="34" charset="-122"/>
                <a:cs typeface="Calibri" pitchFamily="34" charset="-120"/>
              </a:rPr>
              <a:t>our baseline behavioral features — utilization, tenure, existing balances — are much stronger predictors of response than the offer itself. A pooled model has every incentive to lean on those and treat is_treated as noise, which is exactly the risk we can't afford when the whole point is isolating the offer's effect.</a:t>
            </a:r>
            <a:endParaRPr lang="en-US" sz="1250" dirty="0"/>
          </a:p>
        </p:txBody>
      </p:sp>
      <p:sp>
        <p:nvSpPr>
          <p:cNvPr id="18" name="Text 1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19" name="Text 1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417320"/>
            <a:ext cx="5349240" cy="1600200"/>
          </a:xfrm>
          <a:prstGeom prst="roundRect">
            <a:avLst>
              <a:gd name="adj" fmla="val 5714"/>
            </a:avLst>
          </a:prstGeom>
          <a:solidFill>
            <a:srgbClr val="EAF0FC"/>
          </a:solidFill>
          <a:ln w="12700">
            <a:solidFill>
              <a:srgbClr val="1E2761"/>
            </a:solidFill>
            <a:prstDash val="solid"/>
          </a:ln>
        </p:spPr>
      </p:sp>
      <p:sp>
        <p:nvSpPr>
          <p:cNvPr id="5" name="Text 3"/>
          <p:cNvSpPr txBox="1"/>
          <p:nvPr/>
        </p:nvSpPr>
        <p:spPr>
          <a:xfrm>
            <a:off x="822960" y="1581912"/>
            <a:ext cx="4800600" cy="320040"/>
          </a:xfrm>
          <a:prstGeom prst="rect">
            <a:avLst/>
          </a:prstGeom>
          <a:noFill/>
          <a:ln/>
        </p:spPr>
        <p:txBody>
          <a:bodyPr wrap="square" lIns="0" tIns="0" rIns="0" bIns="0" rtlCol="0" anchor="ctr"/>
          <a:lstStyle/>
          <a:p>
            <a:pPr indent="0" marL="0">
              <a:buNone/>
            </a:pPr>
            <a:r>
              <a:rPr lang="en-US" sz="1150" b="1" spc="150" kern="0" dirty="0">
                <a:solidFill>
                  <a:srgbClr val="1E2761"/>
                </a:solidFill>
                <a:latin typeface="Calibri" pitchFamily="34" charset="0"/>
                <a:ea typeface="Calibri" pitchFamily="34" charset="-122"/>
                <a:cs typeface="Calibri" pitchFamily="34" charset="-120"/>
              </a:rPr>
              <a:t>TRAIN</a:t>
            </a:r>
            <a:endParaRPr lang="en-US" sz="1150" dirty="0"/>
          </a:p>
        </p:txBody>
      </p:sp>
      <p:sp>
        <p:nvSpPr>
          <p:cNvPr id="6" name="Text 4"/>
          <p:cNvSpPr txBox="1"/>
          <p:nvPr/>
        </p:nvSpPr>
        <p:spPr>
          <a:xfrm>
            <a:off x="822960" y="1920240"/>
            <a:ext cx="4800600" cy="914400"/>
          </a:xfrm>
          <a:prstGeom prst="rect">
            <a:avLst/>
          </a:prstGeom>
          <a:noFill/>
          <a:ln/>
        </p:spPr>
        <p:txBody>
          <a:bodyPr wrap="square" lIns="0" tIns="0" rIns="0" bIns="0" rtlCol="0" anchor="ctr"/>
          <a:lstStyle/>
          <a:p>
            <a:pPr indent="0" marL="0">
              <a:lnSpc>
                <a:spcPct val="120000"/>
              </a:lnSpc>
              <a:buNone/>
            </a:pPr>
            <a:r>
              <a:rPr lang="en-US" sz="1200" dirty="0">
                <a:solidFill>
                  <a:srgbClr val="33344A"/>
                </a:solidFill>
                <a:latin typeface="Calibri" pitchFamily="34" charset="0"/>
                <a:ea typeface="Calibri" pitchFamily="34" charset="-122"/>
                <a:cs typeface="Calibri" pitchFamily="34" charset="-120"/>
              </a:rPr>
              <a:t>Two fully separate models. Control model μ̂₀ trained only on the small holdout that received no offer. Treatment model μ̂₁ trained only on the (much larger) mailed group. Same features, same label, disjoint training rows.</a:t>
            </a:r>
            <a:endParaRPr lang="en-US" sz="1200" dirty="0"/>
          </a:p>
        </p:txBody>
      </p:sp>
      <p:sp>
        <p:nvSpPr>
          <p:cNvPr id="7" name="Shape 5"/>
          <p:cNvSpPr/>
          <p:nvPr/>
        </p:nvSpPr>
        <p:spPr>
          <a:xfrm>
            <a:off x="6263640" y="1417320"/>
            <a:ext cx="5349240" cy="1600200"/>
          </a:xfrm>
          <a:prstGeom prst="roundRect">
            <a:avLst>
              <a:gd name="adj" fmla="val 5714"/>
            </a:avLst>
          </a:prstGeom>
          <a:solidFill>
            <a:srgbClr val="FBF3E1"/>
          </a:solidFill>
          <a:ln w="12700">
            <a:solidFill>
              <a:srgbClr val="B8892B"/>
            </a:solidFill>
            <a:prstDash val="solid"/>
          </a:ln>
        </p:spPr>
      </p:sp>
      <p:sp>
        <p:nvSpPr>
          <p:cNvPr id="8" name="Text 6"/>
          <p:cNvSpPr txBox="1"/>
          <p:nvPr/>
        </p:nvSpPr>
        <p:spPr>
          <a:xfrm>
            <a:off x="6537960" y="1581912"/>
            <a:ext cx="48006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SCORE</a:t>
            </a:r>
            <a:endParaRPr lang="en-US" sz="1150" dirty="0"/>
          </a:p>
        </p:txBody>
      </p:sp>
      <p:sp>
        <p:nvSpPr>
          <p:cNvPr id="9" name="Text 7"/>
          <p:cNvSpPr txBox="1"/>
          <p:nvPr/>
        </p:nvSpPr>
        <p:spPr>
          <a:xfrm>
            <a:off x="6537960" y="1920240"/>
            <a:ext cx="4800600" cy="914400"/>
          </a:xfrm>
          <a:prstGeom prst="rect">
            <a:avLst/>
          </a:prstGeom>
          <a:noFill/>
          <a:ln/>
        </p:spPr>
        <p:txBody>
          <a:bodyPr wrap="square" lIns="0" tIns="0" rIns="0" bIns="0" rtlCol="0" anchor="ctr"/>
          <a:lstStyle/>
          <a:p>
            <a:pPr indent="0" marL="0">
              <a:lnSpc>
                <a:spcPct val="120000"/>
              </a:lnSpc>
              <a:buNone/>
            </a:pPr>
            <a:r>
              <a:rPr lang="en-US" sz="1200" dirty="0">
                <a:solidFill>
                  <a:srgbClr val="33344A"/>
                </a:solidFill>
                <a:latin typeface="Calibri" pitchFamily="34" charset="0"/>
                <a:ea typeface="Calibri" pitchFamily="34" charset="-122"/>
                <a:cs typeface="Calibri" pitchFamily="34" charset="-120"/>
              </a:rPr>
              <a:t>Score every customer with both models regardless of which arm they were actually in, then τ(x) = μ̂₁(x) − μ̂₀(x). Two independent forward passes, one subtraction.</a:t>
            </a:r>
            <a:endParaRPr lang="en-US" sz="1200" dirty="0"/>
          </a:p>
        </p:txBody>
      </p:sp>
      <p:sp>
        <p:nvSpPr>
          <p:cNvPr id="10" name="Shape 8"/>
          <p:cNvSpPr/>
          <p:nvPr/>
        </p:nvSpPr>
        <p:spPr>
          <a:xfrm>
            <a:off x="548640" y="3200400"/>
            <a:ext cx="5349240" cy="1463040"/>
          </a:xfrm>
          <a:prstGeom prst="roundRect">
            <a:avLst>
              <a:gd name="adj" fmla="val 6250"/>
            </a:avLst>
          </a:prstGeom>
          <a:solidFill>
            <a:srgbClr val="E4F3EC"/>
          </a:solidFill>
          <a:ln/>
        </p:spPr>
      </p:sp>
      <p:sp>
        <p:nvSpPr>
          <p:cNvPr id="11" name="Text 9"/>
          <p:cNvSpPr txBox="1"/>
          <p:nvPr/>
        </p:nvSpPr>
        <p:spPr>
          <a:xfrm>
            <a:off x="822960" y="3346704"/>
            <a:ext cx="4800600" cy="320040"/>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2" name="Text 10"/>
          <p:cNvSpPr txBox="1"/>
          <p:nvPr/>
        </p:nvSpPr>
        <p:spPr>
          <a:xfrm>
            <a:off x="822960" y="3703320"/>
            <a:ext cx="4800600" cy="77724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Conceptually the simplest uplift estimator: it's just “model B minus model A.”</a:t>
            </a:r>
            <a:endParaRPr lang="en-US" sz="1150" dirty="0"/>
          </a:p>
        </p:txBody>
      </p:sp>
      <p:sp>
        <p:nvSpPr>
          <p:cNvPr id="13" name="Shape 11"/>
          <p:cNvSpPr/>
          <p:nvPr/>
        </p:nvSpPr>
        <p:spPr>
          <a:xfrm>
            <a:off x="6263640" y="3200400"/>
            <a:ext cx="5349240" cy="1463040"/>
          </a:xfrm>
          <a:prstGeom prst="roundRect">
            <a:avLst>
              <a:gd name="adj" fmla="val 6250"/>
            </a:avLst>
          </a:prstGeom>
          <a:solidFill>
            <a:srgbClr val="FBEAE8"/>
          </a:solidFill>
          <a:ln/>
        </p:spPr>
      </p:sp>
      <p:sp>
        <p:nvSpPr>
          <p:cNvPr id="14" name="Text 12"/>
          <p:cNvSpPr txBox="1"/>
          <p:nvPr/>
        </p:nvSpPr>
        <p:spPr>
          <a:xfrm>
            <a:off x="6537960" y="3346704"/>
            <a:ext cx="4800600" cy="320040"/>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15" name="Text 13"/>
          <p:cNvSpPr txBox="1"/>
          <p:nvPr/>
        </p:nvSpPr>
        <p:spPr>
          <a:xfrm>
            <a:off x="6537960" y="3703320"/>
            <a:ext cx="4800600" cy="77724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entirely on how well each arm is estimated alone. A small arm's model is noisy, and subtracting two independently-noisy predictions adds their variances together.</a:t>
            </a:r>
            <a:endParaRPr lang="en-US" sz="1150" dirty="0"/>
          </a:p>
        </p:txBody>
      </p:sp>
      <p:sp>
        <p:nvSpPr>
          <p:cNvPr id="16" name="Shape 14"/>
          <p:cNvSpPr/>
          <p:nvPr/>
        </p:nvSpPr>
        <p:spPr>
          <a:xfrm>
            <a:off x="548640" y="4846320"/>
            <a:ext cx="11064240" cy="1188720"/>
          </a:xfrm>
          <a:prstGeom prst="roundRect">
            <a:avLst>
              <a:gd name="adj" fmla="val 6154"/>
            </a:avLst>
          </a:prstGeom>
          <a:solidFill>
            <a:srgbClr val="141B4D"/>
          </a:solidFill>
          <a:ln/>
        </p:spPr>
      </p:sp>
      <p:sp>
        <p:nvSpPr>
          <p:cNvPr id="17" name="Text 15"/>
          <p:cNvSpPr txBox="1"/>
          <p:nvPr/>
        </p:nvSpPr>
        <p:spPr>
          <a:xfrm>
            <a:off x="868680" y="4846320"/>
            <a:ext cx="10424160" cy="1188720"/>
          </a:xfrm>
          <a:prstGeom prst="rect">
            <a:avLst/>
          </a:prstGeom>
          <a:noFill/>
          <a:ln/>
        </p:spPr>
        <p:txBody>
          <a:bodyPr wrap="square" lIns="0" tIns="0" rIns="0" bIns="0" rtlCol="0" anchor="ctr"/>
          <a:lstStyle/>
          <a:p>
            <a:pPr indent="0" marL="0">
              <a:lnSpc>
                <a:spcPct val="122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5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 starves the control model of data right where T-Learner needs it most, and its noise gets baked straight into every uplift score. This is the exact gap X-Learner's imputation step is built to close.</a:t>
            </a:r>
            <a:endParaRPr lang="en-US" sz="1250" dirty="0"/>
          </a:p>
        </p:txBody>
      </p:sp>
      <p:sp>
        <p:nvSpPr>
          <p:cNvPr id="18" name="Text 1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19" name="Text 1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treatment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control holdout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That's exactly T-Learner's weak point. X-Learner's imputation step lets the small arm's effect model borrow strength from the large arm's well-estimated outcome model.</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Y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417320"/>
            <a:ext cx="11064240" cy="777240"/>
          </a:xfrm>
          <a:prstGeom prst="rect">
            <a:avLst/>
          </a:prstGeom>
          <a:noFill/>
          <a:ln/>
        </p:spPr>
        <p:txBody>
          <a:bodyPr wrap="square" lIns="0" tIns="0" rIns="0" bIns="0" rtlCol="0" anchor="ctr"/>
          <a:lstStyle/>
          <a:p>
            <a:pPr indent="0" marL="0">
              <a:lnSpc>
                <a:spcPct val="130000"/>
              </a:lnSpc>
              <a:buNone/>
            </a:pPr>
            <a:r>
              <a:rPr lang="en-US" sz="1350" b="1" dirty="0">
                <a:solidFill>
                  <a:srgbClr val="1E2761"/>
                </a:solidFill>
                <a:latin typeface="Calibri" pitchFamily="34" charset="0"/>
                <a:ea typeface="Calibri" pitchFamily="34" charset="-122"/>
                <a:cs typeface="Calibri" pitchFamily="34" charset="-120"/>
              </a:rPr>
              <a:t>Control outcome model  </a:t>
            </a:r>
            <a:pPr indent="0" marL="0">
              <a:lnSpc>
                <a:spcPct val="130000"/>
              </a:lnSpc>
              <a:buNone/>
            </a:pPr>
            <a:r>
              <a:rPr lang="en-US" sz="1350" dirty="0">
                <a:solidFill>
                  <a:srgbClr val="33344A"/>
                </a:solidFill>
                <a:latin typeface="Calibri" pitchFamily="34" charset="0"/>
                <a:ea typeface="Calibri" pitchFamily="34" charset="-122"/>
                <a:cs typeface="Calibri" pitchFamily="34" charset="-120"/>
              </a:rPr>
              <a:t>learns μ̂₀(x) = E[Y(0) | X=x] — trained only on control-group rows.
</a:t>
            </a:r>
            <a:pPr indent="0" marL="0">
              <a:lnSpc>
                <a:spcPct val="130000"/>
              </a:lnSpc>
              <a:buNone/>
            </a:pPr>
            <a:r>
              <a:rPr lang="en-US" sz="1350" b="1" dirty="0">
                <a:solidFill>
                  <a:srgbClr val="1E2761"/>
                </a:solidFill>
                <a:latin typeface="Calibri" pitchFamily="34" charset="0"/>
                <a:ea typeface="Calibri" pitchFamily="34" charset="-122"/>
                <a:cs typeface="Calibri" pitchFamily="34" charset="-120"/>
              </a:rPr>
              <a:t>Treatment outcome model  </a:t>
            </a:r>
            <a:pPr indent="0" marL="0">
              <a:lnSpc>
                <a:spcPct val="130000"/>
              </a:lnSpc>
              <a:buNone/>
            </a:pPr>
            <a:r>
              <a:rPr lang="en-US" sz="1350" dirty="0">
                <a:solidFill>
                  <a:srgbClr val="33344A"/>
                </a:solidFill>
                <a:latin typeface="Calibri" pitchFamily="34" charset="0"/>
                <a:ea typeface="Calibri" pitchFamily="34" charset="-122"/>
                <a:cs typeface="Calibri" pitchFamily="34" charset="-120"/>
              </a:rPr>
              <a:t>learns μ̂₁(x) = E[Y(1) | X=x] — trained only on treatment-group rows.</a:t>
            </a:r>
            <a:endParaRPr lang="en-US" sz="1350" dirty="0"/>
          </a:p>
        </p:txBody>
      </p:sp>
      <p:sp>
        <p:nvSpPr>
          <p:cNvPr id="5" name="Shape 3"/>
          <p:cNvSpPr/>
          <p:nvPr/>
        </p:nvSpPr>
        <p:spPr>
          <a:xfrm>
            <a:off x="548640" y="2240280"/>
            <a:ext cx="11064240" cy="502920"/>
          </a:xfrm>
          <a:prstGeom prst="roundRect">
            <a:avLst>
              <a:gd name="adj" fmla="val 10909"/>
            </a:avLst>
          </a:prstGeom>
          <a:solidFill>
            <a:srgbClr val="EAF0FC"/>
          </a:solidFill>
          <a:ln/>
        </p:spPr>
      </p:sp>
      <p:sp>
        <p:nvSpPr>
          <p:cNvPr id="6" name="Text 4"/>
          <p:cNvSpPr txBox="1"/>
          <p:nvPr/>
        </p:nvSpPr>
        <p:spPr>
          <a:xfrm>
            <a:off x="777240" y="2240280"/>
            <a:ext cx="10607040" cy="50292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and an overly optimistic effect estimate later.</a:t>
            </a:r>
            <a:endParaRPr lang="en-US" sz="1150" dirty="0"/>
          </a:p>
        </p:txBody>
      </p:sp>
      <p:sp>
        <p:nvSpPr>
          <p:cNvPr id="7" name="Text 5"/>
          <p:cNvSpPr txBox="1"/>
          <p:nvPr/>
        </p:nvSpPr>
        <p:spPr>
          <a:xfrm>
            <a:off x="548640" y="2926080"/>
            <a:ext cx="1106424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Once trained, both models score EVERY customer — including their own counterfactual arm: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80160" y="3337560"/>
          <a:ext cx="9646920" cy="3017520"/>
        </p:xfrm>
        <a:graphic>
          <a:graphicData uri="http://schemas.openxmlformats.org/drawingml/2006/table">
            <a:tbl>
              <a:tblPr/>
              <a:tblGrid>
                <a:gridCol w="1463040"/>
                <a:gridCol w="1874520"/>
                <a:gridCol w="1463040"/>
                <a:gridCol w="2423160"/>
                <a:gridCol w="2423160"/>
              </a:tblGrid>
              <a:tr h="42976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Arm</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Y</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μ̂₀(x)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control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μ̂₁(x)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treatment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0.60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0.10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F</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9" name="Text 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10" name="Text 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It first imputes what each observed unit's effect probably was, using the OTHER arm's model as its counterfactual:</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D̃ᵢᶠ = μ̂₁(Xᵢ) − Yᵢ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Yᵢ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 = μ̂₁ − 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 = Y − μ̂₀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5029200"/>
            <a:ext cx="11064240" cy="777240"/>
          </a:xfrm>
          <a:prstGeom prst="roundRect">
            <a:avLst>
              <a:gd name="adj" fmla="val 7059"/>
            </a:avLst>
          </a:prstGeom>
          <a:solidFill>
            <a:srgbClr val="141B4D"/>
          </a:solidFill>
          <a:ln/>
        </p:spPr>
      </p:sp>
      <p:sp>
        <p:nvSpPr>
          <p:cNvPr id="14" name="Text 10"/>
          <p:cNvSpPr txBox="1"/>
          <p:nvPr/>
        </p:nvSpPr>
        <p:spPr>
          <a:xfrm>
            <a:off x="822960" y="5029200"/>
            <a:ext cx="10515600" cy="77724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These are continuous, signed numbers — not 0/1 labels. Each one is a single unit's best available estimate of its own treatment effect, and each becomes a training label in Layer 3.</a:t>
            </a:r>
            <a:endParaRPr lang="en-US" sz="12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Y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657600"/>
            <a:ext cx="11064240" cy="502920"/>
          </a:xfrm>
          <a:prstGeom prst="roundRect">
            <a:avLst>
              <a:gd name="adj" fmla="val 10909"/>
            </a:avLst>
          </a:prstGeom>
          <a:solidFill>
            <a:srgbClr val="EAF0FC"/>
          </a:solidFill>
          <a:ln/>
        </p:spPr>
      </p:sp>
      <p:sp>
        <p:nvSpPr>
          <p:cNvPr id="12" name="Text 10"/>
          <p:cNvSpPr txBox="1"/>
          <p:nvPr/>
        </p:nvSpPr>
        <p:spPr>
          <a:xfrm>
            <a:off x="777240" y="3657600"/>
            <a:ext cx="10607040" cy="502920"/>
          </a:xfrm>
          <a:prstGeom prst="rect">
            <a:avLst/>
          </a:prstGeom>
          <a:noFill/>
          <a:ln/>
        </p:spPr>
        <p:txBody>
          <a:bodyPr wrap="square" lIns="0" tIns="0" rIns="0" bIns="0"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What they output: “how big is this customer's incremental effect” — not “how likely are they to respond.”</a:t>
            </a:r>
            <a:endParaRPr lang="en-US" sz="1250" dirty="0"/>
          </a:p>
        </p:txBody>
      </p:sp>
      <p:sp>
        <p:nvSpPr>
          <p:cNvPr id="13" name="Text 11"/>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 a new customer, G, scored by both:</a:t>
            </a:r>
            <a:endParaRPr lang="en-US" sz="1350" dirty="0"/>
          </a:p>
        </p:txBody>
      </p:sp>
      <p:sp>
        <p:nvSpPr>
          <p:cNvPr id="14" name="Shape 12"/>
          <p:cNvSpPr/>
          <p:nvPr/>
        </p:nvSpPr>
        <p:spPr>
          <a:xfrm>
            <a:off x="3352648" y="4892040"/>
            <a:ext cx="2468880" cy="1188720"/>
          </a:xfrm>
          <a:prstGeom prst="roundRect">
            <a:avLst>
              <a:gd name="adj" fmla="val 6154"/>
            </a:avLst>
          </a:prstGeom>
          <a:solidFill>
            <a:srgbClr val="1B7A5A"/>
          </a:solidFill>
          <a:ln/>
        </p:spPr>
      </p:sp>
      <p:sp>
        <p:nvSpPr>
          <p:cNvPr id="15" name="Text 13"/>
          <p:cNvSpPr txBox="1"/>
          <p:nvPr/>
        </p:nvSpPr>
        <p:spPr>
          <a:xfrm>
            <a:off x="335264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τC(G)</a:t>
            </a:r>
            <a:endParaRPr lang="en-US" sz="1300" dirty="0"/>
          </a:p>
        </p:txBody>
      </p:sp>
      <p:sp>
        <p:nvSpPr>
          <p:cNvPr id="16" name="Text 14"/>
          <p:cNvSpPr txBox="1"/>
          <p:nvPr/>
        </p:nvSpPr>
        <p:spPr>
          <a:xfrm>
            <a:off x="335264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0.12</a:t>
            </a:r>
            <a:endParaRPr lang="en-US" sz="3200" dirty="0"/>
          </a:p>
        </p:txBody>
      </p:sp>
      <p:sp>
        <p:nvSpPr>
          <p:cNvPr id="17" name="Shape 15"/>
          <p:cNvSpPr/>
          <p:nvPr/>
        </p:nvSpPr>
        <p:spPr>
          <a:xfrm>
            <a:off x="6370168" y="4892040"/>
            <a:ext cx="2468880" cy="1188720"/>
          </a:xfrm>
          <a:prstGeom prst="roundRect">
            <a:avLst>
              <a:gd name="adj" fmla="val 6154"/>
            </a:avLst>
          </a:prstGeom>
          <a:solidFill>
            <a:srgbClr val="B8892B"/>
          </a:solidFill>
          <a:ln/>
        </p:spPr>
      </p:sp>
      <p:sp>
        <p:nvSpPr>
          <p:cNvPr id="18" name="Text 16"/>
          <p:cNvSpPr txBox="1"/>
          <p:nvPr/>
        </p:nvSpPr>
        <p:spPr>
          <a:xfrm>
            <a:off x="637016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τT(G)</a:t>
            </a:r>
            <a:endParaRPr lang="en-US" sz="1300" dirty="0"/>
          </a:p>
        </p:txBody>
      </p:sp>
      <p:sp>
        <p:nvSpPr>
          <p:cNvPr id="19" name="Text 17"/>
          <p:cNvSpPr txBox="1"/>
          <p:nvPr/>
        </p:nvSpPr>
        <p:spPr>
          <a:xfrm>
            <a:off x="637016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0.28</a:t>
            </a:r>
            <a:endParaRPr lang="en-US" sz="3200" dirty="0"/>
          </a:p>
        </p:txBody>
      </p:sp>
      <p:sp>
        <p:nvSpPr>
          <p:cNvPr id="20" name="Text 18"/>
          <p:cNvSpPr txBox="1"/>
          <p:nvPr/>
        </p:nvSpPr>
        <p:spPr>
          <a:xfrm>
            <a:off x="548640" y="6217920"/>
            <a:ext cx="11064240" cy="36576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2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86000"/>
            <a:ext cx="11064240" cy="41148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g(x) is the propensity score — how much to trust the treatment-side estimate vs. the control-side one for this customer.</a:t>
            </a:r>
            <a:endParaRPr lang="en-US" sz="1250" dirty="0"/>
          </a:p>
        </p:txBody>
      </p:sp>
      <p:sp>
        <p:nvSpPr>
          <p:cNvPr id="7" name="Text 5"/>
          <p:cNvSpPr txBox="1"/>
          <p:nvPr/>
        </p:nvSpPr>
        <p:spPr>
          <a:xfrm>
            <a:off x="548640" y="288036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continuing with customer G:</a:t>
            </a:r>
            <a:endParaRPr lang="en-US" sz="1350" dirty="0"/>
          </a:p>
        </p:txBody>
      </p:sp>
      <p:sp>
        <p:nvSpPr>
          <p:cNvPr id="8" name="Shape 6"/>
          <p:cNvSpPr/>
          <p:nvPr/>
        </p:nvSpPr>
        <p:spPr>
          <a:xfrm>
            <a:off x="548640" y="3337560"/>
            <a:ext cx="8138160" cy="566928"/>
          </a:xfrm>
          <a:prstGeom prst="roundRect">
            <a:avLst>
              <a:gd name="adj" fmla="val 9677"/>
            </a:avLst>
          </a:prstGeom>
          <a:solidFill>
            <a:srgbClr val="FBF3E1"/>
          </a:solidFill>
          <a:ln/>
        </p:spPr>
      </p:sp>
      <p:sp>
        <p:nvSpPr>
          <p:cNvPr id="9" name="Text 7"/>
          <p:cNvSpPr txBox="1"/>
          <p:nvPr/>
        </p:nvSpPr>
        <p:spPr>
          <a:xfrm>
            <a:off x="777240" y="3337560"/>
            <a:ext cx="1188720" cy="566928"/>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337560"/>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337560"/>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337560"/>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337560"/>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041648"/>
            <a:ext cx="8138160" cy="566928"/>
          </a:xfrm>
          <a:prstGeom prst="roundRect">
            <a:avLst>
              <a:gd name="adj" fmla="val 9677"/>
            </a:avLst>
          </a:prstGeom>
          <a:solidFill>
            <a:srgbClr val="E4F3EC"/>
          </a:solidFill>
          <a:ln/>
        </p:spPr>
      </p:sp>
      <p:sp>
        <p:nvSpPr>
          <p:cNvPr id="17" name="Text 15"/>
          <p:cNvSpPr txBox="1"/>
          <p:nvPr/>
        </p:nvSpPr>
        <p:spPr>
          <a:xfrm>
            <a:off x="777240" y="4041648"/>
            <a:ext cx="1188720" cy="566928"/>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041648"/>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041648"/>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041648"/>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041648"/>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246120"/>
            <a:ext cx="2606040" cy="1453896"/>
          </a:xfrm>
          <a:prstGeom prst="roundRect">
            <a:avLst>
              <a:gd name="adj" fmla="val 6289"/>
            </a:avLst>
          </a:prstGeom>
          <a:solidFill>
            <a:srgbClr val="1E2761"/>
          </a:solidFill>
          <a:ln/>
        </p:spPr>
      </p:sp>
      <p:sp>
        <p:nvSpPr>
          <p:cNvPr id="25" name="Text 23"/>
          <p:cNvSpPr txBox="1"/>
          <p:nvPr/>
        </p:nvSpPr>
        <p:spPr>
          <a:xfrm>
            <a:off x="9006840" y="338328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65760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379976"/>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Mail — send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Don't mail — offer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mail down to a budget cutoff, and treat a low or negative score as a decision NOT to spend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mailing everyone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2026-08-27T03:31:21Z</dcterms:created>
  <dcterms:modified xsi:type="dcterms:W3CDTF">2026-08-27T03:31:21Z</dcterms:modified>
</cp:coreProperties>
</file>