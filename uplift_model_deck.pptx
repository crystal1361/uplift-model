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Chinese answer (verbatim, for rehearsal):
X-learner 的流程是这样的：
1. 先把历史实验数据分成 treatment 和 control 两组，分别训练两个 outcome model，一个学有 offer 时的结果，一个学没 offer 时的结果。
2. 然后对每个样本做反事实预测，构造 pseudo effect：对 control 组样本，用 treatment model 预测值减真实结果；对 treatment 组样本，用真实结果减 control model 预测值。构造两类 pseudo effect（control-side pseudo effect, treatment-side pseudo effect）。
3. 接着用这些 pseudo effect 分别训练两个 effect model，effect model C 和 effect model T。它们输出的是连续的 uplift 分数，而不是回复概率。
4. 最后再用一个权重 g(x) 把两个 effect model 的结果融合，得到最终 uplift，用来排序和选人。这样做的好处是，它不只是看谁最可能回复，而是看谁因为 offer 会产生最大的增量响应。
English equivalent:
1. Split historical experiment data into treatment and control, train two outcome models — one for what happens with the offer, one without.
2. For each unit, do a counterfactual prediction to build a pseudo effect: for control units, treatment-model prediction minus actual outcome; for treatment units, actual outcome minus control-model prediction. Two kinds of pseudo effect result.
3. Train two effect models on these pseudo effects. Their output is a continuous uplift score, not a response probability.
4. Finally, blend the two effect models with a weight g(x) into the final uplift score, used for ranking and targeting. The benefit: you're not just looking at who's most likely to respond, but who will produce the biggest incremental response because of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8778240" y="3291840"/>
            <a:ext cx="5486400" cy="5486400"/>
          </a:xfrm>
          <a:prstGeom prst="ellipse">
            <a:avLst/>
          </a:prstGeom>
          <a:ln w="19050">
            <a:solidFill>
              <a:srgbClr val="34408A"/>
            </a:solidFill>
            <a:prstDash val="solid"/>
          </a:ln>
        </p:spPr>
      </p:sp>
      <p:sp>
        <p:nvSpPr>
          <p:cNvPr id="4" name="Shape 2"/>
          <p:cNvSpPr/>
          <p:nvPr/>
        </p:nvSpPr>
        <p:spPr>
          <a:xfrm>
            <a:off x="9418320" y="3931920"/>
            <a:ext cx="4206240" cy="4206240"/>
          </a:xfrm>
          <a:prstGeom prst="ellipse">
            <a:avLst/>
          </a:prstGeom>
          <a:ln w="19050">
            <a:solidFill>
              <a:srgbClr val="34408A"/>
            </a:solidFill>
            <a:prstDash val="solid"/>
          </a:ln>
        </p:spPr>
      </p:sp>
      <p:sp>
        <p:nvSpPr>
          <p:cNvPr id="5" name="Shape 3"/>
          <p:cNvSpPr/>
          <p:nvPr/>
        </p:nvSpPr>
        <p:spPr>
          <a:xfrm>
            <a:off x="10058400" y="4572000"/>
            <a:ext cx="2926080" cy="2926080"/>
          </a:xfrm>
          <a:prstGeom prst="ellipse">
            <a:avLst/>
          </a:prstGeom>
          <a:solidFill>
            <a:srgbClr val="B8892B"/>
          </a:solidFill>
          <a:ln/>
        </p:spPr>
      </p:sp>
      <p:sp>
        <p:nvSpPr>
          <p:cNvPr id="6" name="Text 4"/>
          <p:cNvSpPr txBox="1"/>
          <p:nvPr/>
        </p:nvSpPr>
        <p:spPr>
          <a:xfrm>
            <a:off x="822960" y="1965960"/>
            <a:ext cx="9144000" cy="365760"/>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UPLIFT MODELING</a:t>
            </a:r>
            <a:endParaRPr lang="en-US" sz="1400" dirty="0"/>
          </a:p>
        </p:txBody>
      </p:sp>
      <p:sp>
        <p:nvSpPr>
          <p:cNvPr id="7" name="Text 5"/>
          <p:cNvSpPr txBox="1"/>
          <p:nvPr/>
        </p:nvSpPr>
        <p:spPr>
          <a:xfrm>
            <a:off x="777240" y="2331720"/>
            <a:ext cx="877824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Targeting the Persuadables:</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The X-Learner Approach</a:t>
            </a:r>
            <a:endParaRPr lang="en-US" sz="4400" dirty="0"/>
          </a:p>
        </p:txBody>
      </p:sp>
      <p:sp>
        <p:nvSpPr>
          <p:cNvPr id="8" name="Text 6"/>
          <p:cNvSpPr txBox="1"/>
          <p:nvPr/>
        </p:nvSpPr>
        <p:spPr>
          <a:xfrm>
            <a:off x="822960" y="4251960"/>
            <a:ext cx="8046720" cy="7315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From two outcome models to a single ranked uplift score — how it's built, why X-Learner over S/T-Learner, and how it's validated.</a:t>
            </a:r>
            <a:endParaRPr lang="en-US" sz="1500" dirty="0"/>
          </a:p>
        </p:txBody>
      </p:sp>
      <p:sp>
        <p:nvSpPr>
          <p:cNvPr id="9" name="Text 7"/>
          <p:cNvSpPr txBox="1"/>
          <p:nvPr/>
        </p:nvSpPr>
        <p:spPr>
          <a:xfrm>
            <a:off x="822960" y="6126480"/>
            <a:ext cx="8229600" cy="365760"/>
          </a:xfrm>
          <a:prstGeom prst="rect">
            <a:avLst/>
          </a:prstGeom>
          <a:noFill/>
          <a:ln/>
        </p:spPr>
        <p:txBody>
          <a:bodyPr wrap="square" lIns="0" tIns="0" rIns="0" bIns="0" rtlCol="0" anchor="ctr"/>
          <a:lstStyle/>
          <a:p>
            <a:pPr indent="0" marL="0">
              <a:buNone/>
            </a:pPr>
            <a:r>
              <a:rPr lang="en-US" sz="1150" dirty="0">
                <a:solidFill>
                  <a:srgbClr val="8E9BD6"/>
                </a:solidFill>
                <a:latin typeface="Calibri" pitchFamily="34" charset="0"/>
                <a:ea typeface="Calibri" pitchFamily="34" charset="-122"/>
                <a:cs typeface="Calibri" pitchFamily="34" charset="-120"/>
              </a:rPr>
              <a:t>Credit Card Prescreen Targeting  ·  Methodology Walkthrough  ·  Synthetic-Data Demo</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We'll Walk Through</a:t>
            </a:r>
            <a:endParaRPr lang="en-US" sz="3000" dirty="0"/>
          </a:p>
        </p:txBody>
      </p:sp>
      <p:sp>
        <p:nvSpPr>
          <p:cNvPr id="4" name="Shape 2"/>
          <p:cNvSpPr/>
          <p:nvPr/>
        </p:nvSpPr>
        <p:spPr>
          <a:xfrm>
            <a:off x="548640" y="1600200"/>
            <a:ext cx="11064240" cy="1115568"/>
          </a:xfrm>
          <a:prstGeom prst="roundRect">
            <a:avLst>
              <a:gd name="adj" fmla="val 7377"/>
            </a:avLst>
          </a:prstGeom>
          <a:solidFill>
            <a:srgbClr val="EAF0FC"/>
          </a:solidFill>
          <a:ln w="12700">
            <a:solidFill>
              <a:srgbClr val="CADCFC"/>
            </a:solidFill>
            <a:prstDash val="solid"/>
          </a:ln>
        </p:spPr>
      </p:sp>
      <p:sp>
        <p:nvSpPr>
          <p:cNvPr id="5" name="Text 3"/>
          <p:cNvSpPr txBox="1"/>
          <p:nvPr/>
        </p:nvSpPr>
        <p:spPr>
          <a:xfrm>
            <a:off x="822960" y="1600200"/>
            <a:ext cx="1005840" cy="1115568"/>
          </a:xfrm>
          <a:prstGeom prst="rect">
            <a:avLst/>
          </a:prstGeom>
          <a:noFill/>
          <a:ln/>
        </p:spPr>
        <p:txBody>
          <a:bodyPr wrap="square" lIns="0" tIns="0" rIns="0" bIns="0" rtlCol="0" anchor="ctr"/>
          <a:lstStyle/>
          <a:p>
            <a:pPr indent="0" marL="0">
              <a:buNone/>
            </a:pPr>
            <a:r>
              <a:rPr lang="en-US" sz="3000" b="1" dirty="0">
                <a:solidFill>
                  <a:srgbClr val="9FB4E8"/>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965960" y="1728216"/>
            <a:ext cx="420624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Why an uplift model</a:t>
            </a:r>
            <a:endParaRPr lang="en-US" sz="1700" dirty="0"/>
          </a:p>
        </p:txBody>
      </p:sp>
      <p:sp>
        <p:nvSpPr>
          <p:cNvPr id="7" name="Text 5"/>
          <p:cNvSpPr txBox="1"/>
          <p:nvPr/>
        </p:nvSpPr>
        <p:spPr>
          <a:xfrm>
            <a:off x="1965960" y="2130552"/>
            <a:ext cx="9052560" cy="502920"/>
          </a:xfrm>
          <a:prstGeom prst="rect">
            <a:avLst/>
          </a:prstGeom>
          <a:noFill/>
          <a:ln/>
        </p:spPr>
        <p:txBody>
          <a:bodyPr wrap="square" lIns="0" tIns="0" rIns="0" bIns="0" rtlCol="0" anchor="ctr"/>
          <a:lstStyle/>
          <a:p>
            <a:pPr indent="0" marL="0">
              <a:buNone/>
            </a:pPr>
            <a:r>
              <a:rPr lang="en-US" sz="1250" dirty="0">
                <a:solidFill>
                  <a:srgbClr val="33344A"/>
                </a:solidFill>
                <a:latin typeface="Calibri" pitchFamily="34" charset="0"/>
                <a:ea typeface="Calibri" pitchFamily="34" charset="-122"/>
                <a:cs typeface="Calibri" pitchFamily="34" charset="-120"/>
              </a:rPr>
              <a:t>Response models waste budget on people who'd act anyway — uplift targets who the offer actually changes.</a:t>
            </a:r>
            <a:endParaRPr lang="en-US" sz="1250" dirty="0"/>
          </a:p>
        </p:txBody>
      </p:sp>
      <p:sp>
        <p:nvSpPr>
          <p:cNvPr id="8" name="Shape 6"/>
          <p:cNvSpPr/>
          <p:nvPr/>
        </p:nvSpPr>
        <p:spPr>
          <a:xfrm>
            <a:off x="548640" y="2880360"/>
            <a:ext cx="11064240" cy="1115568"/>
          </a:xfrm>
          <a:prstGeom prst="roundRect">
            <a:avLst>
              <a:gd name="adj" fmla="val 7377"/>
            </a:avLst>
          </a:prstGeom>
          <a:solidFill>
            <a:srgbClr val="FFFFFF"/>
          </a:solidFill>
          <a:ln w="12700">
            <a:solidFill>
              <a:srgbClr val="CADCFC"/>
            </a:solidFill>
            <a:prstDash val="solid"/>
          </a:ln>
        </p:spPr>
      </p:sp>
      <p:sp>
        <p:nvSpPr>
          <p:cNvPr id="9" name="Text 7"/>
          <p:cNvSpPr txBox="1"/>
          <p:nvPr/>
        </p:nvSpPr>
        <p:spPr>
          <a:xfrm>
            <a:off x="822960" y="2880360"/>
            <a:ext cx="1005840" cy="1115568"/>
          </a:xfrm>
          <a:prstGeom prst="rect">
            <a:avLst/>
          </a:prstGeom>
          <a:noFill/>
          <a:ln/>
        </p:spPr>
        <p:txBody>
          <a:bodyPr wrap="square" lIns="0" tIns="0" rIns="0" bIns="0" rtlCol="0" anchor="ctr"/>
          <a:lstStyle/>
          <a:p>
            <a:pPr indent="0" marL="0">
              <a:buNone/>
            </a:pPr>
            <a:r>
              <a:rPr lang="en-US" sz="3000" b="1" dirty="0">
                <a:solidFill>
                  <a:srgbClr val="9FB4E8"/>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1965960" y="3008376"/>
            <a:ext cx="420624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Three ways to estimate it</a:t>
            </a:r>
            <a:endParaRPr lang="en-US" sz="1700" dirty="0"/>
          </a:p>
        </p:txBody>
      </p:sp>
      <p:sp>
        <p:nvSpPr>
          <p:cNvPr id="11" name="Text 9"/>
          <p:cNvSpPr txBox="1"/>
          <p:nvPr/>
        </p:nvSpPr>
        <p:spPr>
          <a:xfrm>
            <a:off x="1965960" y="3410712"/>
            <a:ext cx="9052560" cy="502920"/>
          </a:xfrm>
          <a:prstGeom prst="rect">
            <a:avLst/>
          </a:prstGeom>
          <a:noFill/>
          <a:ln/>
        </p:spPr>
        <p:txBody>
          <a:bodyPr wrap="square" lIns="0" tIns="0" rIns="0" bIns="0" rtlCol="0" anchor="ctr"/>
          <a:lstStyle/>
          <a:p>
            <a:pPr indent="0" marL="0">
              <a:buNone/>
            </a:pPr>
            <a:r>
              <a:rPr lang="en-US" sz="1250" dirty="0">
                <a:solidFill>
                  <a:srgbClr val="33344A"/>
                </a:solidFill>
                <a:latin typeface="Calibri" pitchFamily="34" charset="0"/>
                <a:ea typeface="Calibri" pitchFamily="34" charset="-122"/>
                <a:cs typeface="Calibri" pitchFamily="34" charset="-120"/>
              </a:rPr>
              <a:t>S-Learner, T-Learner, X-Learner — what each one does, and why X-Learner wins here.</a:t>
            </a:r>
            <a:endParaRPr lang="en-US" sz="1250" dirty="0"/>
          </a:p>
        </p:txBody>
      </p:sp>
      <p:sp>
        <p:nvSpPr>
          <p:cNvPr id="12" name="Shape 10"/>
          <p:cNvSpPr/>
          <p:nvPr/>
        </p:nvSpPr>
        <p:spPr>
          <a:xfrm>
            <a:off x="548640" y="4160520"/>
            <a:ext cx="11064240" cy="1115568"/>
          </a:xfrm>
          <a:prstGeom prst="roundRect">
            <a:avLst>
              <a:gd name="adj" fmla="val 7377"/>
            </a:avLst>
          </a:prstGeom>
          <a:solidFill>
            <a:srgbClr val="EAF0FC"/>
          </a:solidFill>
          <a:ln w="12700">
            <a:solidFill>
              <a:srgbClr val="CADCFC"/>
            </a:solidFill>
            <a:prstDash val="solid"/>
          </a:ln>
        </p:spPr>
      </p:sp>
      <p:sp>
        <p:nvSpPr>
          <p:cNvPr id="13" name="Text 11"/>
          <p:cNvSpPr txBox="1"/>
          <p:nvPr/>
        </p:nvSpPr>
        <p:spPr>
          <a:xfrm>
            <a:off x="822960" y="4160520"/>
            <a:ext cx="1005840" cy="1115568"/>
          </a:xfrm>
          <a:prstGeom prst="rect">
            <a:avLst/>
          </a:prstGeom>
          <a:noFill/>
          <a:ln/>
        </p:spPr>
        <p:txBody>
          <a:bodyPr wrap="square" lIns="0" tIns="0" rIns="0" bIns="0" rtlCol="0" anchor="ctr"/>
          <a:lstStyle/>
          <a:p>
            <a:pPr indent="0" marL="0">
              <a:buNone/>
            </a:pPr>
            <a:r>
              <a:rPr lang="en-US" sz="3000" b="1" dirty="0">
                <a:solidFill>
                  <a:srgbClr val="9FB4E8"/>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965960" y="4288536"/>
            <a:ext cx="420624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X-Learner, layer by layer</a:t>
            </a:r>
            <a:endParaRPr lang="en-US" sz="1700" dirty="0"/>
          </a:p>
        </p:txBody>
      </p:sp>
      <p:sp>
        <p:nvSpPr>
          <p:cNvPr id="15" name="Text 13"/>
          <p:cNvSpPr txBox="1"/>
          <p:nvPr/>
        </p:nvSpPr>
        <p:spPr>
          <a:xfrm>
            <a:off x="1965960" y="4690872"/>
            <a:ext cx="9052560" cy="502920"/>
          </a:xfrm>
          <a:prstGeom prst="rect">
            <a:avLst/>
          </a:prstGeom>
          <a:noFill/>
          <a:ln/>
        </p:spPr>
        <p:txBody>
          <a:bodyPr wrap="square" lIns="0" tIns="0" rIns="0" bIns="0" rtlCol="0" anchor="ctr"/>
          <a:lstStyle/>
          <a:p>
            <a:pPr indent="0" marL="0">
              <a:buNone/>
            </a:pPr>
            <a:r>
              <a:rPr lang="en-US" sz="1250" dirty="0">
                <a:solidFill>
                  <a:srgbClr val="33344A"/>
                </a:solidFill>
                <a:latin typeface="Calibri" pitchFamily="34" charset="0"/>
                <a:ea typeface="Calibri" pitchFamily="34" charset="-122"/>
                <a:cs typeface="Calibri" pitchFamily="34" charset="-120"/>
              </a:rPr>
              <a:t>Two outcome models → pseudo effects → two effect models → weighted fusion, with a worked numeric example.</a:t>
            </a:r>
            <a:endParaRPr lang="en-US" sz="1250" dirty="0"/>
          </a:p>
        </p:txBody>
      </p:sp>
      <p:sp>
        <p:nvSpPr>
          <p:cNvPr id="16" name="Shape 14"/>
          <p:cNvSpPr/>
          <p:nvPr/>
        </p:nvSpPr>
        <p:spPr>
          <a:xfrm>
            <a:off x="548640" y="5440680"/>
            <a:ext cx="11064240" cy="1115568"/>
          </a:xfrm>
          <a:prstGeom prst="roundRect">
            <a:avLst>
              <a:gd name="adj" fmla="val 7377"/>
            </a:avLst>
          </a:prstGeom>
          <a:solidFill>
            <a:srgbClr val="FFFFFF"/>
          </a:solidFill>
          <a:ln w="12700">
            <a:solidFill>
              <a:srgbClr val="CADCFC"/>
            </a:solidFill>
            <a:prstDash val="solid"/>
          </a:ln>
        </p:spPr>
      </p:sp>
      <p:sp>
        <p:nvSpPr>
          <p:cNvPr id="17" name="Text 15"/>
          <p:cNvSpPr txBox="1"/>
          <p:nvPr/>
        </p:nvSpPr>
        <p:spPr>
          <a:xfrm>
            <a:off x="822960" y="5440680"/>
            <a:ext cx="1005840" cy="1115568"/>
          </a:xfrm>
          <a:prstGeom prst="rect">
            <a:avLst/>
          </a:prstGeom>
          <a:noFill/>
          <a:ln/>
        </p:spPr>
        <p:txBody>
          <a:bodyPr wrap="square" lIns="0" tIns="0" rIns="0" bIns="0" rtlCol="0" anchor="ctr"/>
          <a:lstStyle/>
          <a:p>
            <a:pPr indent="0" marL="0">
              <a:buNone/>
            </a:pPr>
            <a:r>
              <a:rPr lang="en-US" sz="3000" b="1" dirty="0">
                <a:solidFill>
                  <a:srgbClr val="9FB4E8"/>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1965960" y="5568696"/>
            <a:ext cx="420624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Validation &amp; business impact</a:t>
            </a:r>
            <a:endParaRPr lang="en-US" sz="1700" dirty="0"/>
          </a:p>
        </p:txBody>
      </p:sp>
      <p:sp>
        <p:nvSpPr>
          <p:cNvPr id="19" name="Text 17"/>
          <p:cNvSpPr txBox="1"/>
          <p:nvPr/>
        </p:nvSpPr>
        <p:spPr>
          <a:xfrm>
            <a:off x="1965960" y="5971032"/>
            <a:ext cx="9052560" cy="502920"/>
          </a:xfrm>
          <a:prstGeom prst="rect">
            <a:avLst/>
          </a:prstGeom>
          <a:noFill/>
          <a:ln/>
        </p:spPr>
        <p:txBody>
          <a:bodyPr wrap="square" lIns="0" tIns="0" rIns="0" bIns="0" rtlCol="0" anchor="ctr"/>
          <a:lstStyle/>
          <a:p>
            <a:pPr indent="0" marL="0">
              <a:buNone/>
            </a:pPr>
            <a:r>
              <a:rPr lang="en-US" sz="1250" dirty="0">
                <a:solidFill>
                  <a:srgbClr val="33344A"/>
                </a:solidFill>
                <a:latin typeface="Calibri" pitchFamily="34" charset="0"/>
                <a:ea typeface="Calibri" pitchFamily="34" charset="-122"/>
                <a:cs typeface="Calibri" pitchFamily="34" charset="-120"/>
              </a:rPr>
              <a:t>Qini curve, a ground-truth check only synthetic data allows, and what it means for targeting decisions.</a:t>
            </a:r>
            <a:endParaRPr lang="en-US" sz="1250" dirty="0"/>
          </a:p>
        </p:txBody>
      </p:sp>
      <p:sp>
        <p:nvSpPr>
          <p:cNvPr id="20" name="Text 18"/>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21" name="Text 1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THE CORE IDEA</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Not “Who Responds” — “Who Responds Because of Us”</a:t>
            </a:r>
            <a:endParaRPr lang="en-US" sz="3000" dirty="0"/>
          </a:p>
        </p:txBody>
      </p:sp>
      <p:sp>
        <p:nvSpPr>
          <p:cNvPr id="4" name="Text 2"/>
          <p:cNvSpPr txBox="1"/>
          <p:nvPr/>
        </p:nvSpPr>
        <p:spPr>
          <a:xfrm>
            <a:off x="548640" y="1371600"/>
            <a:ext cx="5212080" cy="1554480"/>
          </a:xfrm>
          <a:prstGeom prst="rect">
            <a:avLst/>
          </a:prstGeom>
          <a:noFill/>
          <a:ln/>
        </p:spPr>
        <p:txBody>
          <a:bodyPr wrap="square" lIns="0" tIns="0" rIns="0" bIns="0" rtlCol="0" anchor="ctr"/>
          <a:lstStyle/>
          <a:p>
            <a:pPr indent="0" marL="0">
              <a:lnSpc>
                <a:spcPct val="125000"/>
              </a:lnSpc>
              <a:buNone/>
            </a:pPr>
            <a:r>
              <a:rPr lang="en-US" sz="1350" dirty="0">
                <a:solidFill>
                  <a:srgbClr val="33344A"/>
                </a:solidFill>
                <a:latin typeface="Calibri" pitchFamily="34" charset="0"/>
                <a:ea typeface="Calibri" pitchFamily="34" charset="-122"/>
                <a:cs typeface="Calibri" pitchFamily="34" charset="-120"/>
              </a:rPr>
              <a:t>A response model predicts who's likely to respond — but that includes people who'd say yes with no offer at all. An uplift model predicts the incremental effect of the offer itself, so targeting can focus on the one segment where the offer changes the outcome.</a:t>
            </a:r>
            <a:endParaRPr lang="en-US" sz="1350" dirty="0"/>
          </a:p>
        </p:txBody>
      </p:sp>
      <p:sp>
        <p:nvSpPr>
          <p:cNvPr id="5" name="Text 3"/>
          <p:cNvSpPr txBox="1"/>
          <p:nvPr/>
        </p:nvSpPr>
        <p:spPr>
          <a:xfrm>
            <a:off x="548640" y="3063240"/>
            <a:ext cx="5212080" cy="548640"/>
          </a:xfrm>
          <a:prstGeom prst="rect">
            <a:avLst/>
          </a:prstGeom>
          <a:noFill/>
          <a:ln/>
        </p:spPr>
        <p:txBody>
          <a:bodyPr wrap="square" lIns="0" tIns="0" rIns="0" bIns="0"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τ(x) = P(Y=1 | X=x, T=1) − P(Y=1 | X=x, T=0)</a:t>
            </a:r>
            <a:endParaRPr lang="en-US" sz="1400" dirty="0"/>
          </a:p>
        </p:txBody>
      </p:sp>
      <p:sp>
        <p:nvSpPr>
          <p:cNvPr id="6" name="Shape 4"/>
          <p:cNvSpPr/>
          <p:nvPr/>
        </p:nvSpPr>
        <p:spPr>
          <a:xfrm>
            <a:off x="548640" y="3657600"/>
            <a:ext cx="5212080" cy="777240"/>
          </a:xfrm>
          <a:prstGeom prst="roundRect">
            <a:avLst>
              <a:gd name="adj" fmla="val 7059"/>
            </a:avLst>
          </a:prstGeom>
          <a:solidFill>
            <a:srgbClr val="EAF0FC"/>
          </a:solidFill>
          <a:ln/>
        </p:spPr>
      </p:sp>
      <p:sp>
        <p:nvSpPr>
          <p:cNvPr id="7" name="Text 5"/>
          <p:cNvSpPr txBox="1"/>
          <p:nvPr/>
        </p:nvSpPr>
        <p:spPr>
          <a:xfrm>
            <a:off x="777240" y="3657600"/>
            <a:ext cx="4892040" cy="777240"/>
          </a:xfrm>
          <a:prstGeom prst="rect">
            <a:avLst/>
          </a:prstGeom>
          <a:noFill/>
          <a:ln/>
        </p:spPr>
        <p:txBody>
          <a:bodyPr wrap="square" lIns="0" tIns="0" rIns="0" bIns="0" rtlCol="0" anchor="ctr"/>
          <a:lstStyle/>
          <a:p>
            <a:pPr indent="0" marL="0">
              <a:lnSpc>
                <a:spcPct val="120000"/>
              </a:lnSpc>
              <a:buNone/>
            </a:pPr>
            <a:r>
              <a:rPr lang="en-US" sz="1150" b="1" dirty="0">
                <a:solidFill>
                  <a:srgbClr val="1E2761"/>
                </a:solidFill>
                <a:latin typeface="Calibri" pitchFamily="34" charset="0"/>
                <a:ea typeface="Calibri" pitchFamily="34" charset="-122"/>
                <a:cs typeface="Calibri" pitchFamily="34" charset="-120"/>
              </a:rPr>
              <a:t>In our prescreen example:  </a:t>
            </a:r>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Y = 1 if the customer applies for the credit card, 0 if not.  T = 1 if they received the prescreen mail offer (treatment), 0 if they were held out (control).</a:t>
            </a:r>
            <a:endParaRPr lang="en-US" sz="1150" dirty="0"/>
          </a:p>
        </p:txBody>
      </p:sp>
      <p:sp>
        <p:nvSpPr>
          <p:cNvPr id="8" name="Text 6"/>
          <p:cNvSpPr txBox="1"/>
          <p:nvPr/>
        </p:nvSpPr>
        <p:spPr>
          <a:xfrm>
            <a:off x="548640" y="4526280"/>
            <a:ext cx="5212080" cy="41148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the treatment effect — not the response probability — is the thing we're trying to score.</a:t>
            </a:r>
            <a:endParaRPr lang="en-US" sz="1100" dirty="0"/>
          </a:p>
        </p:txBody>
      </p:sp>
      <p:sp>
        <p:nvSpPr>
          <p:cNvPr id="9" name="Shape 7"/>
          <p:cNvSpPr/>
          <p:nvPr/>
        </p:nvSpPr>
        <p:spPr>
          <a:xfrm>
            <a:off x="6126480" y="1371600"/>
            <a:ext cx="2587752" cy="2336292"/>
          </a:xfrm>
          <a:prstGeom prst="roundRect">
            <a:avLst>
              <a:gd name="adj" fmla="val 3131"/>
            </a:avLst>
          </a:prstGeom>
          <a:solidFill>
            <a:srgbClr val="E4F3EC"/>
          </a:solidFill>
          <a:ln/>
        </p:spPr>
      </p:sp>
      <p:sp>
        <p:nvSpPr>
          <p:cNvPr id="10" name="Text 8"/>
          <p:cNvSpPr txBox="1"/>
          <p:nvPr/>
        </p:nvSpPr>
        <p:spPr>
          <a:xfrm>
            <a:off x="6327648" y="1536192"/>
            <a:ext cx="2221992" cy="365760"/>
          </a:xfrm>
          <a:prstGeom prst="rect">
            <a:avLst/>
          </a:prstGeom>
          <a:noFill/>
          <a:ln/>
        </p:spPr>
        <p:txBody>
          <a:bodyPr wrap="square" lIns="0" tIns="0" rIns="0" bIns="0" rtlCol="0" anchor="ctr"/>
          <a:lstStyle/>
          <a:p>
            <a:pPr indent="0" marL="0">
              <a:buNone/>
            </a:pPr>
            <a:r>
              <a:rPr lang="en-US" sz="1550" b="1" dirty="0">
                <a:solidFill>
                  <a:srgbClr val="1B7A5A"/>
                </a:solidFill>
                <a:latin typeface="Cambria" pitchFamily="34" charset="0"/>
                <a:ea typeface="Cambria" pitchFamily="34" charset="-122"/>
                <a:cs typeface="Cambria" pitchFamily="34" charset="-120"/>
              </a:rPr>
              <a:t>Persuadables</a:t>
            </a:r>
            <a:endParaRPr lang="en-US" sz="1550" dirty="0"/>
          </a:p>
        </p:txBody>
      </p:sp>
      <p:sp>
        <p:nvSpPr>
          <p:cNvPr id="11" name="Text 9"/>
          <p:cNvSpPr txBox="1"/>
          <p:nvPr/>
        </p:nvSpPr>
        <p:spPr>
          <a:xfrm>
            <a:off x="6327648" y="1938528"/>
            <a:ext cx="2185416" cy="1604772"/>
          </a:xfrm>
          <a:prstGeom prst="rect">
            <a:avLst/>
          </a:prstGeom>
          <a:noFill/>
          <a:ln/>
        </p:spPr>
        <p:txBody>
          <a:bodyPr wrap="square" lIns="0" tIns="0" rIns="0" bIns="0" rtlCol="0" anchor="ctr"/>
          <a:lstStyle/>
          <a:p>
            <a:pPr indent="0" marL="0">
              <a:lnSpc>
                <a:spcPct val="115000"/>
              </a:lnSpc>
              <a:buNone/>
            </a:pPr>
            <a:r>
              <a:rPr lang="en-US" sz="1100" dirty="0">
                <a:solidFill>
                  <a:srgbClr val="33344A"/>
                </a:solidFill>
                <a:latin typeface="Calibri" pitchFamily="34" charset="0"/>
                <a:ea typeface="Calibri" pitchFamily="34" charset="-122"/>
                <a:cs typeface="Calibri" pitchFamily="34" charset="-120"/>
              </a:rPr>
              <a:t>Apply only if they get the offer (Y=1 under T=1, Y=0 under T=0) — the offer changes their decision. This is the target segment.</a:t>
            </a:r>
            <a:endParaRPr lang="en-US" sz="1100" dirty="0"/>
          </a:p>
        </p:txBody>
      </p:sp>
      <p:sp>
        <p:nvSpPr>
          <p:cNvPr id="12" name="Shape 10"/>
          <p:cNvSpPr/>
          <p:nvPr/>
        </p:nvSpPr>
        <p:spPr>
          <a:xfrm>
            <a:off x="8933688" y="1371600"/>
            <a:ext cx="2587752" cy="2336292"/>
          </a:xfrm>
          <a:prstGeom prst="roundRect">
            <a:avLst>
              <a:gd name="adj" fmla="val 3131"/>
            </a:avLst>
          </a:prstGeom>
          <a:solidFill>
            <a:srgbClr val="EAF0FC"/>
          </a:solidFill>
          <a:ln/>
        </p:spPr>
      </p:sp>
      <p:sp>
        <p:nvSpPr>
          <p:cNvPr id="13" name="Text 11"/>
          <p:cNvSpPr txBox="1"/>
          <p:nvPr/>
        </p:nvSpPr>
        <p:spPr>
          <a:xfrm>
            <a:off x="9134856" y="1536192"/>
            <a:ext cx="2221992" cy="3657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Sure Things</a:t>
            </a:r>
            <a:endParaRPr lang="en-US" sz="1550" dirty="0"/>
          </a:p>
        </p:txBody>
      </p:sp>
      <p:sp>
        <p:nvSpPr>
          <p:cNvPr id="14" name="Text 12"/>
          <p:cNvSpPr txBox="1"/>
          <p:nvPr/>
        </p:nvSpPr>
        <p:spPr>
          <a:xfrm>
            <a:off x="9134856" y="1938528"/>
            <a:ext cx="2185416" cy="1604772"/>
          </a:xfrm>
          <a:prstGeom prst="rect">
            <a:avLst/>
          </a:prstGeom>
          <a:noFill/>
          <a:ln/>
        </p:spPr>
        <p:txBody>
          <a:bodyPr wrap="square" lIns="0" tIns="0" rIns="0" bIns="0" rtlCol="0" anchor="ctr"/>
          <a:lstStyle/>
          <a:p>
            <a:pPr indent="0" marL="0">
              <a:lnSpc>
                <a:spcPct val="115000"/>
              </a:lnSpc>
              <a:buNone/>
            </a:pPr>
            <a:r>
              <a:rPr lang="en-US" sz="1100" dirty="0">
                <a:solidFill>
                  <a:srgbClr val="33344A"/>
                </a:solidFill>
                <a:latin typeface="Calibri" pitchFamily="34" charset="0"/>
                <a:ea typeface="Calibri" pitchFamily="34" charset="-122"/>
                <a:cs typeface="Calibri" pitchFamily="34" charset="-120"/>
              </a:rPr>
              <a:t>Apply either way (Y=1 regardless of T). Mailing them is wasted budget.</a:t>
            </a:r>
            <a:endParaRPr lang="en-US" sz="1100" dirty="0"/>
          </a:p>
        </p:txBody>
      </p:sp>
      <p:sp>
        <p:nvSpPr>
          <p:cNvPr id="15" name="Shape 13"/>
          <p:cNvSpPr/>
          <p:nvPr/>
        </p:nvSpPr>
        <p:spPr>
          <a:xfrm>
            <a:off x="6126480" y="3927348"/>
            <a:ext cx="2587752" cy="2336292"/>
          </a:xfrm>
          <a:prstGeom prst="roundRect">
            <a:avLst>
              <a:gd name="adj" fmla="val 3131"/>
            </a:avLst>
          </a:prstGeom>
          <a:solidFill>
            <a:srgbClr val="F2F2F5"/>
          </a:solidFill>
          <a:ln/>
        </p:spPr>
      </p:sp>
      <p:sp>
        <p:nvSpPr>
          <p:cNvPr id="16" name="Text 14"/>
          <p:cNvSpPr txBox="1"/>
          <p:nvPr/>
        </p:nvSpPr>
        <p:spPr>
          <a:xfrm>
            <a:off x="6327648" y="4091940"/>
            <a:ext cx="2221992" cy="365760"/>
          </a:xfrm>
          <a:prstGeom prst="rect">
            <a:avLst/>
          </a:prstGeom>
          <a:noFill/>
          <a:ln/>
        </p:spPr>
        <p:txBody>
          <a:bodyPr wrap="square" lIns="0" tIns="0" rIns="0" bIns="0" rtlCol="0" anchor="ctr"/>
          <a:lstStyle/>
          <a:p>
            <a:pPr indent="0" marL="0">
              <a:buNone/>
            </a:pPr>
            <a:r>
              <a:rPr lang="en-US" sz="1550" b="1" dirty="0">
                <a:solidFill>
                  <a:srgbClr val="6B7280"/>
                </a:solidFill>
                <a:latin typeface="Cambria" pitchFamily="34" charset="0"/>
                <a:ea typeface="Cambria" pitchFamily="34" charset="-122"/>
                <a:cs typeface="Cambria" pitchFamily="34" charset="-120"/>
              </a:rPr>
              <a:t>Lost Causes</a:t>
            </a:r>
            <a:endParaRPr lang="en-US" sz="1550" dirty="0"/>
          </a:p>
        </p:txBody>
      </p:sp>
      <p:sp>
        <p:nvSpPr>
          <p:cNvPr id="17" name="Text 15"/>
          <p:cNvSpPr txBox="1"/>
          <p:nvPr/>
        </p:nvSpPr>
        <p:spPr>
          <a:xfrm>
            <a:off x="6327648" y="4494276"/>
            <a:ext cx="2185416" cy="1604772"/>
          </a:xfrm>
          <a:prstGeom prst="rect">
            <a:avLst/>
          </a:prstGeom>
          <a:noFill/>
          <a:ln/>
        </p:spPr>
        <p:txBody>
          <a:bodyPr wrap="square" lIns="0" tIns="0" rIns="0" bIns="0" rtlCol="0" anchor="ctr"/>
          <a:lstStyle/>
          <a:p>
            <a:pPr indent="0" marL="0">
              <a:lnSpc>
                <a:spcPct val="115000"/>
              </a:lnSpc>
              <a:buNone/>
            </a:pPr>
            <a:r>
              <a:rPr lang="en-US" sz="1100" dirty="0">
                <a:solidFill>
                  <a:srgbClr val="33344A"/>
                </a:solidFill>
                <a:latin typeface="Calibri" pitchFamily="34" charset="0"/>
                <a:ea typeface="Calibri" pitchFamily="34" charset="-122"/>
                <a:cs typeface="Calibri" pitchFamily="34" charset="-120"/>
              </a:rPr>
              <a:t>Never apply, offer or not (Y=0 regardless of T). Nothing to gain.</a:t>
            </a:r>
            <a:endParaRPr lang="en-US" sz="1100" dirty="0"/>
          </a:p>
        </p:txBody>
      </p:sp>
      <p:sp>
        <p:nvSpPr>
          <p:cNvPr id="18" name="Shape 16"/>
          <p:cNvSpPr/>
          <p:nvPr/>
        </p:nvSpPr>
        <p:spPr>
          <a:xfrm>
            <a:off x="8933688" y="3927348"/>
            <a:ext cx="2587752" cy="2336292"/>
          </a:xfrm>
          <a:prstGeom prst="roundRect">
            <a:avLst>
              <a:gd name="adj" fmla="val 3131"/>
            </a:avLst>
          </a:prstGeom>
          <a:solidFill>
            <a:srgbClr val="FBEAE8"/>
          </a:solidFill>
          <a:ln/>
        </p:spPr>
      </p:sp>
      <p:sp>
        <p:nvSpPr>
          <p:cNvPr id="19" name="Text 17"/>
          <p:cNvSpPr txBox="1"/>
          <p:nvPr/>
        </p:nvSpPr>
        <p:spPr>
          <a:xfrm>
            <a:off x="9134856" y="4091940"/>
            <a:ext cx="2221992" cy="365760"/>
          </a:xfrm>
          <a:prstGeom prst="rect">
            <a:avLst/>
          </a:prstGeom>
          <a:noFill/>
          <a:ln/>
        </p:spPr>
        <p:txBody>
          <a:bodyPr wrap="square" lIns="0" tIns="0" rIns="0" bIns="0" rtlCol="0" anchor="ctr"/>
          <a:lstStyle/>
          <a:p>
            <a:pPr indent="0" marL="0">
              <a:buNone/>
            </a:pPr>
            <a:r>
              <a:rPr lang="en-US" sz="1550" b="1" dirty="0">
                <a:solidFill>
                  <a:srgbClr val="B03A2E"/>
                </a:solidFill>
                <a:latin typeface="Cambria" pitchFamily="34" charset="0"/>
                <a:ea typeface="Cambria" pitchFamily="34" charset="-122"/>
                <a:cs typeface="Cambria" pitchFamily="34" charset="-120"/>
              </a:rPr>
              <a:t>Sleeping Dogs</a:t>
            </a:r>
            <a:endParaRPr lang="en-US" sz="1550" dirty="0"/>
          </a:p>
        </p:txBody>
      </p:sp>
      <p:sp>
        <p:nvSpPr>
          <p:cNvPr id="20" name="Text 18"/>
          <p:cNvSpPr txBox="1"/>
          <p:nvPr/>
        </p:nvSpPr>
        <p:spPr>
          <a:xfrm>
            <a:off x="9134856" y="4494276"/>
            <a:ext cx="2185416" cy="1604772"/>
          </a:xfrm>
          <a:prstGeom prst="rect">
            <a:avLst/>
          </a:prstGeom>
          <a:noFill/>
          <a:ln/>
        </p:spPr>
        <p:txBody>
          <a:bodyPr wrap="square" lIns="0" tIns="0" rIns="0" bIns="0" rtlCol="0" anchor="ctr"/>
          <a:lstStyle/>
          <a:p>
            <a:pPr indent="0" marL="0">
              <a:lnSpc>
                <a:spcPct val="115000"/>
              </a:lnSpc>
              <a:buNone/>
            </a:pPr>
            <a:r>
              <a:rPr lang="en-US" sz="1100" dirty="0">
                <a:solidFill>
                  <a:srgbClr val="33344A"/>
                </a:solidFill>
                <a:latin typeface="Calibri" pitchFamily="34" charset="0"/>
                <a:ea typeface="Calibri" pitchFamily="34" charset="-122"/>
                <a:cs typeface="Calibri" pitchFamily="34" charset="-120"/>
              </a:rPr>
              <a:t>Apply LESS often if they get the offer — the mailing backfires.</a:t>
            </a:r>
            <a:endParaRPr lang="en-US" sz="1100" dirty="0"/>
          </a:p>
        </p:txBody>
      </p:sp>
      <p:sp>
        <p:nvSpPr>
          <p:cNvPr id="21" name="Text 1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ESTIMATION STRATEGIES</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Ways to Estimate an Uplift Score</a:t>
            </a:r>
            <a:endParaRPr lang="en-US" sz="3000" dirty="0"/>
          </a:p>
        </p:txBody>
      </p:sp>
      <p:sp>
        <p:nvSpPr>
          <p:cNvPr id="4" name="Shape 2"/>
          <p:cNvSpPr/>
          <p:nvPr/>
        </p:nvSpPr>
        <p:spPr>
          <a:xfrm>
            <a:off x="540868" y="1691640"/>
            <a:ext cx="3520440" cy="4480560"/>
          </a:xfrm>
          <a:prstGeom prst="roundRect">
            <a:avLst>
              <a:gd name="adj" fmla="val 2597"/>
            </a:avLst>
          </a:prstGeom>
          <a:solidFill>
            <a:srgbClr val="EAF0FC"/>
          </a:solidFill>
          <a:ln w="12700">
            <a:solidFill>
              <a:srgbClr val="CADCFC"/>
            </a:solidFill>
            <a:prstDash val="solid"/>
          </a:ln>
        </p:spPr>
      </p:sp>
      <p:sp>
        <p:nvSpPr>
          <p:cNvPr id="5" name="Text 3"/>
          <p:cNvSpPr txBox="1"/>
          <p:nvPr/>
        </p:nvSpPr>
        <p:spPr>
          <a:xfrm>
            <a:off x="815188" y="1965960"/>
            <a:ext cx="9144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815188" y="2560320"/>
            <a:ext cx="2971800" cy="45720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S-Learner</a:t>
            </a:r>
            <a:endParaRPr lang="en-US" sz="2100" dirty="0"/>
          </a:p>
        </p:txBody>
      </p:sp>
      <p:sp>
        <p:nvSpPr>
          <p:cNvPr id="7" name="Text 5"/>
          <p:cNvSpPr txBox="1"/>
          <p:nvPr/>
        </p:nvSpPr>
        <p:spPr>
          <a:xfrm>
            <a:off x="815188" y="2990088"/>
            <a:ext cx="29718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SINGLE MODEL</a:t>
            </a:r>
            <a:endParaRPr lang="en-US" sz="1050" dirty="0"/>
          </a:p>
        </p:txBody>
      </p:sp>
      <p:sp>
        <p:nvSpPr>
          <p:cNvPr id="8" name="Shape 6"/>
          <p:cNvSpPr/>
          <p:nvPr/>
        </p:nvSpPr>
        <p:spPr>
          <a:xfrm>
            <a:off x="815188" y="3383280"/>
            <a:ext cx="2971800" cy="0"/>
          </a:xfrm>
          <a:prstGeom prst="line">
            <a:avLst/>
          </a:prstGeom>
          <a:noFill/>
          <a:ln w="12700">
            <a:solidFill>
              <a:srgbClr val="CADCFC"/>
            </a:solidFill>
            <a:prstDash val="solid"/>
          </a:ln>
        </p:spPr>
      </p:sp>
      <p:sp>
        <p:nvSpPr>
          <p:cNvPr id="9" name="Text 7"/>
          <p:cNvSpPr txBox="1"/>
          <p:nvPr/>
        </p:nvSpPr>
        <p:spPr>
          <a:xfrm>
            <a:off x="815188" y="356616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33344A"/>
                </a:solidFill>
                <a:latin typeface="Calibri" pitchFamily="34" charset="0"/>
                <a:ea typeface="Calibri" pitchFamily="34" charset="-122"/>
                <a:cs typeface="Calibri" pitchFamily="34" charset="-120"/>
              </a:rPr>
              <a:t>One model, is_treated (got the offer, 1/0) as just another input feature. τ(x) = f(x,1) − f(x,0), where 1/0 flips whether the offer was sent.</a:t>
            </a:r>
            <a:endParaRPr lang="en-US" sz="1300" dirty="0"/>
          </a:p>
        </p:txBody>
      </p:sp>
      <p:sp>
        <p:nvSpPr>
          <p:cNvPr id="10" name="Shape 8"/>
          <p:cNvSpPr/>
          <p:nvPr/>
        </p:nvSpPr>
        <p:spPr>
          <a:xfrm>
            <a:off x="4335628" y="1691640"/>
            <a:ext cx="3520440" cy="4480560"/>
          </a:xfrm>
          <a:prstGeom prst="roundRect">
            <a:avLst>
              <a:gd name="adj" fmla="val 2597"/>
            </a:avLst>
          </a:prstGeom>
          <a:solidFill>
            <a:srgbClr val="EAF0FC"/>
          </a:solidFill>
          <a:ln w="12700">
            <a:solidFill>
              <a:srgbClr val="CADCFC"/>
            </a:solidFill>
            <a:prstDash val="solid"/>
          </a:ln>
        </p:spPr>
      </p:sp>
      <p:sp>
        <p:nvSpPr>
          <p:cNvPr id="11" name="Text 9"/>
          <p:cNvSpPr txBox="1"/>
          <p:nvPr/>
        </p:nvSpPr>
        <p:spPr>
          <a:xfrm>
            <a:off x="4609948" y="1965960"/>
            <a:ext cx="9144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4609948" y="2560320"/>
            <a:ext cx="2971800" cy="45720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T-Learner</a:t>
            </a:r>
            <a:endParaRPr lang="en-US" sz="2100" dirty="0"/>
          </a:p>
        </p:txBody>
      </p:sp>
      <p:sp>
        <p:nvSpPr>
          <p:cNvPr id="13" name="Text 11"/>
          <p:cNvSpPr txBox="1"/>
          <p:nvPr/>
        </p:nvSpPr>
        <p:spPr>
          <a:xfrm>
            <a:off x="4609948" y="2990088"/>
            <a:ext cx="29718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TWO MODELS</a:t>
            </a:r>
            <a:endParaRPr lang="en-US" sz="1050" dirty="0"/>
          </a:p>
        </p:txBody>
      </p:sp>
      <p:sp>
        <p:nvSpPr>
          <p:cNvPr id="14" name="Shape 12"/>
          <p:cNvSpPr/>
          <p:nvPr/>
        </p:nvSpPr>
        <p:spPr>
          <a:xfrm>
            <a:off x="4609948" y="3383280"/>
            <a:ext cx="2971800" cy="0"/>
          </a:xfrm>
          <a:prstGeom prst="line">
            <a:avLst/>
          </a:prstGeom>
          <a:noFill/>
          <a:ln w="12700">
            <a:solidFill>
              <a:srgbClr val="CADCFC"/>
            </a:solidFill>
            <a:prstDash val="solid"/>
          </a:ln>
        </p:spPr>
      </p:sp>
      <p:sp>
        <p:nvSpPr>
          <p:cNvPr id="15" name="Text 13"/>
          <p:cNvSpPr txBox="1"/>
          <p:nvPr/>
        </p:nvSpPr>
        <p:spPr>
          <a:xfrm>
            <a:off x="4609948" y="356616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33344A"/>
                </a:solidFill>
                <a:latin typeface="Calibri" pitchFamily="34" charset="0"/>
                <a:ea typeface="Calibri" pitchFamily="34" charset="-122"/>
                <a:cs typeface="Calibri" pitchFamily="34" charset="-120"/>
              </a:rPr>
              <a:t>Two fully separate models, one per arm. τ(x) = μ₁(x) − μ₀(x), where μ₁ is the offer-group model and μ₀ is the no-offer (control) model.</a:t>
            </a:r>
            <a:endParaRPr lang="en-US" sz="1300" dirty="0"/>
          </a:p>
        </p:txBody>
      </p:sp>
      <p:sp>
        <p:nvSpPr>
          <p:cNvPr id="16" name="Shape 14"/>
          <p:cNvSpPr/>
          <p:nvPr/>
        </p:nvSpPr>
        <p:spPr>
          <a:xfrm>
            <a:off x="8130388" y="1691640"/>
            <a:ext cx="3520440" cy="4480560"/>
          </a:xfrm>
          <a:prstGeom prst="roundRect">
            <a:avLst>
              <a:gd name="adj" fmla="val 2597"/>
            </a:avLst>
          </a:prstGeom>
          <a:solidFill>
            <a:srgbClr val="FBF3E1"/>
          </a:solidFill>
          <a:ln w="19050">
            <a:solidFill>
              <a:srgbClr val="B8892B"/>
            </a:solidFill>
            <a:prstDash val="solid"/>
          </a:ln>
        </p:spPr>
      </p:sp>
      <p:sp>
        <p:nvSpPr>
          <p:cNvPr id="17" name="Shape 15"/>
          <p:cNvSpPr/>
          <p:nvPr/>
        </p:nvSpPr>
        <p:spPr>
          <a:xfrm>
            <a:off x="10096348" y="1892808"/>
            <a:ext cx="1325880" cy="310896"/>
          </a:xfrm>
          <a:prstGeom prst="roundRect">
            <a:avLst>
              <a:gd name="adj" fmla="val 50000"/>
            </a:avLst>
          </a:prstGeom>
          <a:solidFill>
            <a:srgbClr val="B8892B"/>
          </a:solidFill>
          <a:ln/>
        </p:spPr>
      </p:sp>
      <p:sp>
        <p:nvSpPr>
          <p:cNvPr id="18" name="Text 16"/>
          <p:cNvSpPr txBox="1"/>
          <p:nvPr/>
        </p:nvSpPr>
        <p:spPr>
          <a:xfrm>
            <a:off x="10096348" y="1892808"/>
            <a:ext cx="13258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Used here</a:t>
            </a:r>
            <a:endParaRPr lang="en-US" sz="1200" dirty="0"/>
          </a:p>
        </p:txBody>
      </p:sp>
      <p:sp>
        <p:nvSpPr>
          <p:cNvPr id="19" name="Text 17"/>
          <p:cNvSpPr txBox="1"/>
          <p:nvPr/>
        </p:nvSpPr>
        <p:spPr>
          <a:xfrm>
            <a:off x="8404708" y="1965960"/>
            <a:ext cx="9144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a:t>
            </a:r>
            <a:endParaRPr lang="en-US" sz="2600" dirty="0"/>
          </a:p>
        </p:txBody>
      </p:sp>
      <p:sp>
        <p:nvSpPr>
          <p:cNvPr id="20" name="Text 18"/>
          <p:cNvSpPr txBox="1"/>
          <p:nvPr/>
        </p:nvSpPr>
        <p:spPr>
          <a:xfrm>
            <a:off x="8404708" y="2560320"/>
            <a:ext cx="2971800" cy="45720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X-Learner</a:t>
            </a:r>
            <a:endParaRPr lang="en-US" sz="2100" dirty="0"/>
          </a:p>
        </p:txBody>
      </p:sp>
      <p:sp>
        <p:nvSpPr>
          <p:cNvPr id="21" name="Text 19"/>
          <p:cNvSpPr txBox="1"/>
          <p:nvPr/>
        </p:nvSpPr>
        <p:spPr>
          <a:xfrm>
            <a:off x="8404708" y="2990088"/>
            <a:ext cx="29718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CROSS-LEARNING</a:t>
            </a:r>
            <a:endParaRPr lang="en-US" sz="1050" dirty="0"/>
          </a:p>
        </p:txBody>
      </p:sp>
      <p:sp>
        <p:nvSpPr>
          <p:cNvPr id="22" name="Shape 20"/>
          <p:cNvSpPr/>
          <p:nvPr/>
        </p:nvSpPr>
        <p:spPr>
          <a:xfrm>
            <a:off x="8404708" y="3383280"/>
            <a:ext cx="2971800" cy="0"/>
          </a:xfrm>
          <a:prstGeom prst="line">
            <a:avLst/>
          </a:prstGeom>
          <a:noFill/>
          <a:ln w="12700">
            <a:solidFill>
              <a:srgbClr val="B8892B"/>
            </a:solidFill>
            <a:prstDash val="solid"/>
          </a:ln>
        </p:spPr>
      </p:sp>
      <p:sp>
        <p:nvSpPr>
          <p:cNvPr id="23" name="Text 21"/>
          <p:cNvSpPr txBox="1"/>
          <p:nvPr/>
        </p:nvSpPr>
        <p:spPr>
          <a:xfrm>
            <a:off x="8404708" y="356616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33344A"/>
                </a:solidFill>
                <a:latin typeface="Calibri" pitchFamily="34" charset="0"/>
                <a:ea typeface="Calibri" pitchFamily="34" charset="-122"/>
                <a:cs typeface="Calibri" pitchFamily="34" charset="-120"/>
              </a:rPr>
              <a:t>Two outcome models feed two effect models, combined by a weight g(x). Same Y (applied?) and is_treated (got the offer?) as above.</a:t>
            </a:r>
            <a:endParaRPr lang="en-US" sz="1300" dirty="0"/>
          </a:p>
        </p:txBody>
      </p:sp>
      <p:sp>
        <p:nvSpPr>
          <p:cNvPr id="24" name="Text 22"/>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ESTIMATOR 1 OF 3</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S-Learner, In Our Prescreen Example</a:t>
            </a:r>
            <a:endParaRPr lang="en-US" sz="3000" dirty="0"/>
          </a:p>
        </p:txBody>
      </p:sp>
      <p:sp>
        <p:nvSpPr>
          <p:cNvPr id="4" name="Shape 2"/>
          <p:cNvSpPr/>
          <p:nvPr/>
        </p:nvSpPr>
        <p:spPr>
          <a:xfrm>
            <a:off x="548640" y="1371600"/>
            <a:ext cx="5349240" cy="2103120"/>
          </a:xfrm>
          <a:prstGeom prst="roundRect">
            <a:avLst>
              <a:gd name="adj" fmla="val 4348"/>
            </a:avLst>
          </a:prstGeom>
          <a:solidFill>
            <a:srgbClr val="EAF0FC"/>
          </a:solidFill>
          <a:ln w="12700">
            <a:solidFill>
              <a:srgbClr val="1E2761"/>
            </a:solidFill>
            <a:prstDash val="solid"/>
          </a:ln>
        </p:spPr>
      </p:sp>
      <p:sp>
        <p:nvSpPr>
          <p:cNvPr id="5" name="Text 3"/>
          <p:cNvSpPr txBox="1"/>
          <p:nvPr/>
        </p:nvSpPr>
        <p:spPr>
          <a:xfrm>
            <a:off x="777240" y="1499616"/>
            <a:ext cx="489204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TRAIN   </a:t>
            </a:r>
            <a:pPr indent="0" marL="0">
              <a:buNone/>
            </a:pPr>
            <a:r>
              <a:rPr lang="en-US" sz="1100" i="1" dirty="0">
                <a:solidFill>
                  <a:srgbClr val="6B7280"/>
                </a:solidFill>
                <a:latin typeface="Calibri" pitchFamily="34" charset="0"/>
                <a:ea typeface="Calibri" pitchFamily="34" charset="-122"/>
                <a:cs typeface="Calibri" pitchFamily="34" charset="-120"/>
              </a:rPr>
              <a:t>pooled — ONE model, ONE fit() call</a:t>
            </a:r>
            <a:endParaRPr lang="en-US" sz="1100" dirty="0"/>
          </a:p>
        </p:txBody>
      </p:sp>
      <p:sp>
        <p:nvSpPr>
          <p:cNvPr id="6" name="Text 4"/>
          <p:cNvSpPr txBox="1"/>
          <p:nvPr/>
        </p:nvSpPr>
        <p:spPr>
          <a:xfrm>
            <a:off x="777240" y="1773936"/>
            <a:ext cx="489204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is_treated: 1 = got the prescreen offer, 0 = control  ·  Y: 1 = applied for the card, 0 = didn't</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993392"/>
          <a:ext cx="4892040" cy="1344168"/>
        </p:xfrm>
        <a:graphic>
          <a:graphicData uri="http://schemas.openxmlformats.org/drawingml/2006/table">
            <a:tbl>
              <a:tblPr/>
              <a:tblGrid>
                <a:gridCol w="1858975"/>
                <a:gridCol w="1565453"/>
                <a:gridCol w="1467612"/>
              </a:tblGrid>
              <a:tr h="1920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is_treated</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76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1E276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76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B889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E</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889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192024">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F</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B889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r>
            </a:tbl>
          </a:graphicData>
        </a:graphic>
      </p:graphicFrame>
      <p:sp>
        <p:nvSpPr>
          <p:cNvPr id="8" name="Shape 5"/>
          <p:cNvSpPr/>
          <p:nvPr/>
        </p:nvSpPr>
        <p:spPr>
          <a:xfrm>
            <a:off x="6263640" y="1371600"/>
            <a:ext cx="5349240" cy="2103120"/>
          </a:xfrm>
          <a:prstGeom prst="roundRect">
            <a:avLst>
              <a:gd name="adj" fmla="val 4348"/>
            </a:avLst>
          </a:prstGeom>
          <a:solidFill>
            <a:srgbClr val="FBF3E1"/>
          </a:solidFill>
          <a:ln w="12700">
            <a:solidFill>
              <a:srgbClr val="B8892B"/>
            </a:solidFill>
            <a:prstDash val="solid"/>
          </a:ln>
        </p:spPr>
      </p:sp>
      <p:sp>
        <p:nvSpPr>
          <p:cNvPr id="9" name="Text 6"/>
          <p:cNvSpPr txBox="1"/>
          <p:nvPr/>
        </p:nvSpPr>
        <p:spPr>
          <a:xfrm>
            <a:off x="6492240" y="1499616"/>
            <a:ext cx="4892040" cy="256032"/>
          </a:xfrm>
          <a:prstGeom prst="rect">
            <a:avLst/>
          </a:prstGeom>
          <a:noFill/>
          <a:ln/>
        </p:spPr>
        <p:txBody>
          <a:bodyPr wrap="square" lIns="0" tIns="0" rIns="0" bIns="0" rtlCol="0" anchor="ctr"/>
          <a:lstStyle/>
          <a:p>
            <a:pPr indent="0" marL="0">
              <a:buNone/>
            </a:pPr>
            <a:r>
              <a:rPr lang="en-US" sz="1100" b="1" dirty="0">
                <a:solidFill>
                  <a:srgbClr val="B8892B"/>
                </a:solidFill>
                <a:latin typeface="Calibri" pitchFamily="34" charset="0"/>
                <a:ea typeface="Calibri" pitchFamily="34" charset="-122"/>
                <a:cs typeface="Calibri" pitchFamily="34" charset="-120"/>
              </a:rPr>
              <a:t>SCORE   </a:t>
            </a:r>
            <a:pPr indent="0" marL="0">
              <a:buNone/>
            </a:pPr>
            <a:r>
              <a:rPr lang="en-US" sz="1100" i="1" dirty="0">
                <a:solidFill>
                  <a:srgbClr val="6B7280"/>
                </a:solidFill>
                <a:latin typeface="Calibri" pitchFamily="34" charset="0"/>
                <a:ea typeface="Calibri" pitchFamily="34" charset="-122"/>
                <a:cs typeface="Calibri" pitchFamily="34" charset="-120"/>
              </a:rPr>
              <a:t>one model, run for BOTH mailing scenarios on customer G</a:t>
            </a:r>
            <a:endParaRPr lang="en-US" sz="1100" dirty="0"/>
          </a:p>
        </p:txBody>
      </p:sp>
      <p:sp>
        <p:nvSpPr>
          <p:cNvPr id="10" name="Text 7"/>
          <p:cNvSpPr txBox="1"/>
          <p:nvPr/>
        </p:nvSpPr>
        <p:spPr>
          <a:xfrm>
            <a:off x="6492240" y="1773936"/>
            <a:ext cx="489204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Same customer G, same model — we just flip is_treated and ask “what if?” twice</a:t>
            </a:r>
            <a:endParaRPr lang="en-US" sz="9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92240" y="1993392"/>
          <a:ext cx="4892040" cy="1344168"/>
        </p:xfrm>
        <a:graphic>
          <a:graphicData uri="http://schemas.openxmlformats.org/drawingml/2006/table">
            <a:tbl>
              <a:tblPr/>
              <a:tblGrid>
                <a:gridCol w="1761134"/>
                <a:gridCol w="1663294"/>
                <a:gridCol w="1467612"/>
              </a:tblGrid>
              <a:tr h="336042">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Mailing scenario</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is_treated</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P(applied)</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r>
              <a:tr h="336042">
                <a:tc>
                  <a:txBody>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G gets the offer</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8892B"/>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44A"/>
                          </a:solidFill>
                          <a:latin typeface="Calibri" pitchFamily="34" charset="0"/>
                          <a:ea typeface="Calibri" pitchFamily="34" charset="-122"/>
                          <a:cs typeface="Calibri" pitchFamily="34" charset="-120"/>
                        </a:rPr>
                        <a:t>0.42</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r>
              <a:tr h="336042">
                <a:tc>
                  <a:txBody>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G doesn't get it</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c>
                  <a:txBody>
                    <a:bodyPr/>
                    <a:lstStyle/>
                    <a:p>
                      <a:pPr algn="ctr" indent="0" marL="0">
                        <a:buNone/>
                      </a:pPr>
                      <a:r>
                        <a:rPr lang="en-US" sz="1150" dirty="0">
                          <a:solidFill>
                            <a:srgbClr val="33344A"/>
                          </a:solidFill>
                          <a:latin typeface="Calibri" pitchFamily="34" charset="0"/>
                          <a:ea typeface="Calibri" pitchFamily="34" charset="-122"/>
                          <a:cs typeface="Calibri" pitchFamily="34" charset="-120"/>
                        </a:rPr>
                        <a:t>0.31</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r>
              <a:tr h="336042">
                <a:tc gridSpan="2">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τ(G) = f(G,1) − f(G,0)</a:t>
                      </a:r>
                      <a:endParaRPr lang="en-US" sz="115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141B4D"/>
                    </a:solidFill>
                  </a:tcPr>
                </a:tc>
                <a:tc hMerge="1">
                  <a:tcPr/>
                </a:tc>
                <a:tc>
                  <a:txBody>
                    <a:bodyPr/>
                    <a:lstStyle/>
                    <a:p>
                      <a:pPr algn="ctr" indent="0" marL="0">
                        <a:buNone/>
                      </a:pPr>
                      <a:r>
                        <a:rPr lang="en-US" sz="1500" b="1" dirty="0">
                          <a:solidFill>
                            <a:srgbClr val="B8892B"/>
                          </a:solidFill>
                          <a:latin typeface="Calibri" pitchFamily="34" charset="0"/>
                          <a:ea typeface="Calibri" pitchFamily="34" charset="-122"/>
                          <a:cs typeface="Calibri" pitchFamily="34" charset="-120"/>
                        </a:rPr>
                        <a:t>0.11</a:t>
                      </a:r>
                      <a:endParaRPr lang="en-US" sz="15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141B4D"/>
                    </a:solidFill>
                  </a:tcPr>
                </a:tc>
              </a:tr>
            </a:tbl>
          </a:graphicData>
        </a:graphic>
      </p:graphicFrame>
      <p:sp>
        <p:nvSpPr>
          <p:cNvPr id="12" name="Shape 8"/>
          <p:cNvSpPr/>
          <p:nvPr/>
        </p:nvSpPr>
        <p:spPr>
          <a:xfrm>
            <a:off x="548640" y="3611880"/>
            <a:ext cx="5349240" cy="1234440"/>
          </a:xfrm>
          <a:prstGeom prst="roundRect">
            <a:avLst>
              <a:gd name="adj" fmla="val 7407"/>
            </a:avLst>
          </a:prstGeom>
          <a:solidFill>
            <a:srgbClr val="E4F3EC"/>
          </a:solidFill>
          <a:ln/>
        </p:spPr>
      </p:sp>
      <p:sp>
        <p:nvSpPr>
          <p:cNvPr id="13" name="Text 9"/>
          <p:cNvSpPr txBox="1"/>
          <p:nvPr/>
        </p:nvSpPr>
        <p:spPr>
          <a:xfrm>
            <a:off x="822960" y="3739896"/>
            <a:ext cx="4800600" cy="292608"/>
          </a:xfrm>
          <a:prstGeom prst="rect">
            <a:avLst/>
          </a:prstGeom>
          <a:noFill/>
          <a:ln/>
        </p:spPr>
        <p:txBody>
          <a:bodyPr wrap="square" lIns="0" tIns="0" rIns="0" bIns="0" rtlCol="0" anchor="ctr"/>
          <a:lstStyle/>
          <a:p>
            <a:pPr indent="0" marL="0">
              <a:buNone/>
            </a:pPr>
            <a:r>
              <a:rPr lang="en-US" sz="1450" b="1" dirty="0">
                <a:solidFill>
                  <a:srgbClr val="1B7A5A"/>
                </a:solidFill>
                <a:latin typeface="Cambria" pitchFamily="34" charset="0"/>
                <a:ea typeface="Cambria" pitchFamily="34" charset="-122"/>
                <a:cs typeface="Cambria" pitchFamily="34" charset="-120"/>
              </a:rPr>
              <a:t>+  Pros</a:t>
            </a:r>
            <a:endParaRPr lang="en-US" sz="1450" dirty="0"/>
          </a:p>
        </p:txBody>
      </p:sp>
      <p:sp>
        <p:nvSpPr>
          <p:cNvPr id="14" name="Text 10"/>
          <p:cNvSpPr txBox="1"/>
          <p:nvPr/>
        </p:nvSpPr>
        <p:spPr>
          <a:xfrm>
            <a:off x="822960" y="4069080"/>
            <a:ext cx="4800600" cy="6400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One model to build and monitor. Pools all customers, so it's data-efficient when the control holdout is small.</a:t>
            </a:r>
            <a:endParaRPr lang="en-US" sz="1150" dirty="0"/>
          </a:p>
        </p:txBody>
      </p:sp>
      <p:sp>
        <p:nvSpPr>
          <p:cNvPr id="15" name="Shape 11"/>
          <p:cNvSpPr/>
          <p:nvPr/>
        </p:nvSpPr>
        <p:spPr>
          <a:xfrm>
            <a:off x="6263640" y="3611880"/>
            <a:ext cx="5349240" cy="1234440"/>
          </a:xfrm>
          <a:prstGeom prst="roundRect">
            <a:avLst>
              <a:gd name="adj" fmla="val 7407"/>
            </a:avLst>
          </a:prstGeom>
          <a:solidFill>
            <a:srgbClr val="FBEAE8"/>
          </a:solidFill>
          <a:ln/>
        </p:spPr>
      </p:sp>
      <p:sp>
        <p:nvSpPr>
          <p:cNvPr id="16" name="Text 12"/>
          <p:cNvSpPr txBox="1"/>
          <p:nvPr/>
        </p:nvSpPr>
        <p:spPr>
          <a:xfrm>
            <a:off x="6537960" y="3739896"/>
            <a:ext cx="4800600" cy="292608"/>
          </a:xfrm>
          <a:prstGeom prst="rect">
            <a:avLst/>
          </a:prstGeom>
          <a:noFill/>
          <a:ln/>
        </p:spPr>
        <p:txBody>
          <a:bodyPr wrap="square" lIns="0" tIns="0" rIns="0" bIns="0" rtlCol="0" anchor="ctr"/>
          <a:lstStyle/>
          <a:p>
            <a:pPr indent="0" marL="0">
              <a:buNone/>
            </a:pPr>
            <a:r>
              <a:rPr lang="en-US" sz="1450" b="1" dirty="0">
                <a:solidFill>
                  <a:srgbClr val="B03A2E"/>
                </a:solidFill>
                <a:latin typeface="Cambria" pitchFamily="34" charset="0"/>
                <a:ea typeface="Cambria" pitchFamily="34" charset="-122"/>
                <a:cs typeface="Cambria" pitchFamily="34" charset="-120"/>
              </a:rPr>
              <a:t>−  Cons</a:t>
            </a:r>
            <a:endParaRPr lang="en-US" sz="1450" dirty="0"/>
          </a:p>
        </p:txBody>
      </p:sp>
      <p:sp>
        <p:nvSpPr>
          <p:cNvPr id="17" name="Text 13"/>
          <p:cNvSpPr txBox="1"/>
          <p:nvPr/>
        </p:nvSpPr>
        <p:spPr>
          <a:xfrm>
            <a:off x="6537960" y="4069080"/>
            <a:ext cx="4800600" cy="6400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Regularization has no reason to favor one is_treated feature over dozens of stronger predictors — treatment can get nearly ignored.</a:t>
            </a:r>
            <a:endParaRPr lang="en-US" sz="1150" dirty="0"/>
          </a:p>
        </p:txBody>
      </p:sp>
      <p:sp>
        <p:nvSpPr>
          <p:cNvPr id="18" name="Shape 14"/>
          <p:cNvSpPr/>
          <p:nvPr/>
        </p:nvSpPr>
        <p:spPr>
          <a:xfrm>
            <a:off x="548640" y="4983480"/>
            <a:ext cx="11064240" cy="1051560"/>
          </a:xfrm>
          <a:prstGeom prst="roundRect">
            <a:avLst>
              <a:gd name="adj" fmla="val 6957"/>
            </a:avLst>
          </a:prstGeom>
          <a:solidFill>
            <a:srgbClr val="141B4D"/>
          </a:solidFill>
          <a:ln/>
        </p:spPr>
      </p:sp>
      <p:sp>
        <p:nvSpPr>
          <p:cNvPr id="19" name="Text 15"/>
          <p:cNvSpPr txBox="1"/>
          <p:nvPr/>
        </p:nvSpPr>
        <p:spPr>
          <a:xfrm>
            <a:off x="868680" y="4983480"/>
            <a:ext cx="10424160" cy="1051560"/>
          </a:xfrm>
          <a:prstGeom prst="rect">
            <a:avLst/>
          </a:prstGeom>
          <a:noFill/>
          <a:ln/>
        </p:spPr>
        <p:txBody>
          <a:bodyPr wrap="square" lIns="0" tIns="0" rIns="0" bIns="0" rtlCol="0" anchor="ctr"/>
          <a:lstStyle/>
          <a:p>
            <a:pPr indent="0" marL="0">
              <a:lnSpc>
                <a:spcPct val="120000"/>
              </a:lnSpc>
              <a:buNone/>
            </a:pPr>
            <a:r>
              <a:rPr lang="en-US" sz="1250" b="1" dirty="0">
                <a:solidFill>
                  <a:srgbClr val="B8892B"/>
                </a:solidFill>
                <a:latin typeface="Calibri" pitchFamily="34" charset="0"/>
                <a:ea typeface="Calibri" pitchFamily="34" charset="-122"/>
                <a:cs typeface="Calibri" pitchFamily="34" charset="-120"/>
              </a:rPr>
              <a:t>Why not chosen:  </a:t>
            </a:r>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baseline behavioral features — utilization, tenure, balances — predict response far better than the offer itself. A pooled model leans on those and treats is_treated as noise, exactly the risk we can't take when isolating the offer's effect is the whole point.</a:t>
            </a:r>
            <a:endParaRPr lang="en-US" sz="1250" dirty="0"/>
          </a:p>
        </p:txBody>
      </p:sp>
      <p:sp>
        <p:nvSpPr>
          <p:cNvPr id="20" name="Text 16"/>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21" name="Text 1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ESTIMATOR 2 OF 3</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T-Learner, In Our Prescreen Example</a:t>
            </a:r>
            <a:endParaRPr lang="en-US" sz="3000" dirty="0"/>
          </a:p>
        </p:txBody>
      </p:sp>
      <p:sp>
        <p:nvSpPr>
          <p:cNvPr id="4" name="Shape 2"/>
          <p:cNvSpPr/>
          <p:nvPr/>
        </p:nvSpPr>
        <p:spPr>
          <a:xfrm>
            <a:off x="548640" y="1371600"/>
            <a:ext cx="5349240" cy="2103120"/>
          </a:xfrm>
          <a:prstGeom prst="roundRect">
            <a:avLst>
              <a:gd name="adj" fmla="val 4348"/>
            </a:avLst>
          </a:prstGeom>
          <a:solidFill>
            <a:srgbClr val="EAF0FC"/>
          </a:solidFill>
          <a:ln w="12700">
            <a:solidFill>
              <a:srgbClr val="1E2761"/>
            </a:solidFill>
            <a:prstDash val="solid"/>
          </a:ln>
        </p:spPr>
      </p:sp>
      <p:sp>
        <p:nvSpPr>
          <p:cNvPr id="5" name="Text 3"/>
          <p:cNvSpPr txBox="1"/>
          <p:nvPr/>
        </p:nvSpPr>
        <p:spPr>
          <a:xfrm>
            <a:off x="777240" y="1499616"/>
            <a:ext cx="489204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TRAIN   </a:t>
            </a:r>
            <a:pPr indent="0" marL="0">
              <a:buNone/>
            </a:pPr>
            <a:r>
              <a:rPr lang="en-US" sz="1100" i="1" dirty="0">
                <a:solidFill>
                  <a:srgbClr val="6B7280"/>
                </a:solidFill>
                <a:latin typeface="Calibri" pitchFamily="34" charset="0"/>
                <a:ea typeface="Calibri" pitchFamily="34" charset="-122"/>
                <a:cs typeface="Calibri" pitchFamily="34" charset="-120"/>
              </a:rPr>
              <a:t>two separate models, TWO fit() calls</a:t>
            </a:r>
            <a:endParaRPr lang="en-US" sz="1100" dirty="0"/>
          </a:p>
        </p:txBody>
      </p:sp>
      <p:sp>
        <p:nvSpPr>
          <p:cNvPr id="6" name="Text 4"/>
          <p:cNvSpPr txBox="1"/>
          <p:nvPr/>
        </p:nvSpPr>
        <p:spPr>
          <a:xfrm>
            <a:off x="777240" y="1773936"/>
            <a:ext cx="489204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Control = A, B, C — did NOT get the offer/coupon.  Treatment = D, E, F — DID get the offer/coupon. Y: 1 = applied, 0 = didn't.</a:t>
            </a:r>
            <a:endParaRPr lang="en-US" sz="900" dirty="0"/>
          </a:p>
        </p:txBody>
      </p:sp>
      <p:sp>
        <p:nvSpPr>
          <p:cNvPr id="7" name="Text 5"/>
          <p:cNvSpPr txBox="1"/>
          <p:nvPr/>
        </p:nvSpPr>
        <p:spPr>
          <a:xfrm>
            <a:off x="777240" y="2011680"/>
            <a:ext cx="2354580" cy="219456"/>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Control (A,B,C)  →  μ̂₀</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2231136"/>
          <a:ext cx="2354580" cy="1106424"/>
        </p:xfrm>
        <a:graphic>
          <a:graphicData uri="http://schemas.openxmlformats.org/drawingml/2006/table">
            <a:tbl>
              <a:tblPr/>
              <a:tblGrid>
                <a:gridCol w="1295019"/>
                <a:gridCol w="1059561"/>
              </a:tblGrid>
              <a:tr h="27660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3314700" y="2011680"/>
            <a:ext cx="2354580" cy="219456"/>
          </a:xfrm>
          <a:prstGeom prst="rect">
            <a:avLst/>
          </a:prstGeom>
          <a:noFill/>
          <a:ln/>
        </p:spPr>
        <p:txBody>
          <a:bodyPr wrap="square" lIns="0" tIns="0" rIns="0" bIns="0" rtlCol="0" anchor="ctr"/>
          <a:lstStyle/>
          <a:p>
            <a:pPr indent="0" marL="0">
              <a:buNone/>
            </a:pPr>
            <a:r>
              <a:rPr lang="en-US" sz="1000" b="1" dirty="0">
                <a:solidFill>
                  <a:srgbClr val="B8892B"/>
                </a:solidFill>
                <a:latin typeface="Calibri" pitchFamily="34" charset="0"/>
                <a:ea typeface="Calibri" pitchFamily="34" charset="-122"/>
                <a:cs typeface="Calibri" pitchFamily="34" charset="-120"/>
              </a:rPr>
              <a:t>Treatment (D,E,F)  →  μ̂₁</a:t>
            </a:r>
            <a:endParaRPr lang="en-US" sz="10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3314700" y="2231136"/>
          <a:ext cx="2354580" cy="1106424"/>
        </p:xfrm>
        <a:graphic>
          <a:graphicData uri="http://schemas.openxmlformats.org/drawingml/2006/table">
            <a:tbl>
              <a:tblPr/>
              <a:tblGrid>
                <a:gridCol w="1295019"/>
                <a:gridCol w="1059561"/>
              </a:tblGrid>
              <a:tr h="27660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E</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4F6FB"/>
                    </a:solidFill>
                  </a:tcPr>
                </a:tc>
              </a:tr>
              <a:tr h="276606">
                <a:tc>
                  <a:txBody>
                    <a:bodyPr/>
                    <a:lstStyle/>
                    <a:p>
                      <a:pPr algn="ctr" indent="0" marL="0">
                        <a:buNone/>
                      </a:pPr>
                      <a:r>
                        <a:rPr lang="en-US" sz="1050" b="1" dirty="0">
                          <a:solidFill>
                            <a:srgbClr val="33344A"/>
                          </a:solidFill>
                          <a:latin typeface="Calibri" pitchFamily="34" charset="0"/>
                          <a:ea typeface="Calibri" pitchFamily="34" charset="-122"/>
                          <a:cs typeface="Calibri" pitchFamily="34" charset="-120"/>
                        </a:rPr>
                        <a:t>F</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4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18288" marB="18288"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bl>
          </a:graphicData>
        </a:graphic>
      </p:graphicFrame>
      <p:sp>
        <p:nvSpPr>
          <p:cNvPr id="11" name="Shape 7"/>
          <p:cNvSpPr/>
          <p:nvPr/>
        </p:nvSpPr>
        <p:spPr>
          <a:xfrm>
            <a:off x="6263640" y="1371600"/>
            <a:ext cx="5349240" cy="2103120"/>
          </a:xfrm>
          <a:prstGeom prst="roundRect">
            <a:avLst>
              <a:gd name="adj" fmla="val 4348"/>
            </a:avLst>
          </a:prstGeom>
          <a:solidFill>
            <a:srgbClr val="FBF3E1"/>
          </a:solidFill>
          <a:ln w="12700">
            <a:solidFill>
              <a:srgbClr val="B8892B"/>
            </a:solidFill>
            <a:prstDash val="solid"/>
          </a:ln>
        </p:spPr>
      </p:sp>
      <p:sp>
        <p:nvSpPr>
          <p:cNvPr id="12" name="Text 8"/>
          <p:cNvSpPr txBox="1"/>
          <p:nvPr/>
        </p:nvSpPr>
        <p:spPr>
          <a:xfrm>
            <a:off x="6492240" y="1499616"/>
            <a:ext cx="4892040" cy="256032"/>
          </a:xfrm>
          <a:prstGeom prst="rect">
            <a:avLst/>
          </a:prstGeom>
          <a:noFill/>
          <a:ln/>
        </p:spPr>
        <p:txBody>
          <a:bodyPr wrap="square" lIns="0" tIns="0" rIns="0" bIns="0" rtlCol="0" anchor="ctr"/>
          <a:lstStyle/>
          <a:p>
            <a:pPr indent="0" marL="0">
              <a:buNone/>
            </a:pPr>
            <a:r>
              <a:rPr lang="en-US" sz="1100" b="1" dirty="0">
                <a:solidFill>
                  <a:srgbClr val="B8892B"/>
                </a:solidFill>
                <a:latin typeface="Calibri" pitchFamily="34" charset="0"/>
                <a:ea typeface="Calibri" pitchFamily="34" charset="-122"/>
                <a:cs typeface="Calibri" pitchFamily="34" charset="-120"/>
              </a:rPr>
              <a:t>SCORE   </a:t>
            </a:r>
            <a:pPr indent="0" marL="0">
              <a:buNone/>
            </a:pPr>
            <a:r>
              <a:rPr lang="en-US" sz="1100" i="1" dirty="0">
                <a:solidFill>
                  <a:srgbClr val="6B7280"/>
                </a:solidFill>
                <a:latin typeface="Calibri" pitchFamily="34" charset="0"/>
                <a:ea typeface="Calibri" pitchFamily="34" charset="-122"/>
                <a:cs typeface="Calibri" pitchFamily="34" charset="-120"/>
              </a:rPr>
              <a:t>each model scores customer G under ITS OWN scenario</a:t>
            </a:r>
            <a:endParaRPr lang="en-US" sz="1100" dirty="0"/>
          </a:p>
        </p:txBody>
      </p:sp>
      <p:sp>
        <p:nvSpPr>
          <p:cNvPr id="13" name="Text 9"/>
          <p:cNvSpPr txBox="1"/>
          <p:nvPr/>
        </p:nvSpPr>
        <p:spPr>
          <a:xfrm>
            <a:off x="6492240" y="1773936"/>
            <a:ext cx="489204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No flag to flip — which model you ask IS the mailing scenario</a:t>
            </a:r>
            <a:endParaRPr lang="en-US" sz="90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6492240" y="1993392"/>
          <a:ext cx="4892040" cy="1344168"/>
        </p:xfrm>
        <a:graphic>
          <a:graphicData uri="http://schemas.openxmlformats.org/drawingml/2006/table">
            <a:tbl>
              <a:tblPr/>
              <a:tblGrid>
                <a:gridCol w="2152498"/>
                <a:gridCol w="1369771"/>
                <a:gridCol w="1369771"/>
              </a:tblGrid>
              <a:tr h="33604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Mailing scenario</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P(applied)</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B8892B"/>
                    </a:solidFill>
                  </a:tcPr>
                </a:tc>
              </a:tr>
              <a:tr h="336042">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μ̂₀ — control model</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44A"/>
                          </a:solidFill>
                          <a:latin typeface="Calibri" pitchFamily="34" charset="0"/>
                          <a:ea typeface="Calibri" pitchFamily="34" charset="-122"/>
                          <a:cs typeface="Calibri" pitchFamily="34" charset="-120"/>
                        </a:rPr>
                        <a:t>G doesn't get it</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44A"/>
                          </a:solidFill>
                          <a:latin typeface="Calibri" pitchFamily="34" charset="0"/>
                          <a:ea typeface="Calibri" pitchFamily="34" charset="-122"/>
                          <a:cs typeface="Calibri" pitchFamily="34" charset="-120"/>
                        </a:rPr>
                        <a:t>0.19</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FFFFF"/>
                    </a:solidFill>
                  </a:tcPr>
                </a:tc>
              </a:tr>
              <a:tr h="336042">
                <a:tc>
                  <a:txBody>
                    <a:bodyPr/>
                    <a:lstStyle/>
                    <a:p>
                      <a:pPr algn="l" indent="0" marL="0">
                        <a:buNone/>
                      </a:pPr>
                      <a:r>
                        <a:rPr lang="en-US" sz="1100" b="1" dirty="0">
                          <a:solidFill>
                            <a:srgbClr val="B8892B"/>
                          </a:solidFill>
                          <a:latin typeface="Calibri" pitchFamily="34" charset="0"/>
                          <a:ea typeface="Calibri" pitchFamily="34" charset="-122"/>
                          <a:cs typeface="Calibri" pitchFamily="34" charset="-120"/>
                        </a:rPr>
                        <a:t>μ̂₁ — treatment model</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c>
                  <a:txBody>
                    <a:bodyPr/>
                    <a:lstStyle/>
                    <a:p>
                      <a:pPr algn="ctr" indent="0" marL="0">
                        <a:buNone/>
                      </a:pPr>
                      <a:r>
                        <a:rPr lang="en-US" sz="1100" dirty="0">
                          <a:solidFill>
                            <a:srgbClr val="33344A"/>
                          </a:solidFill>
                          <a:latin typeface="Calibri" pitchFamily="34" charset="0"/>
                          <a:ea typeface="Calibri" pitchFamily="34" charset="-122"/>
                          <a:cs typeface="Calibri" pitchFamily="34" charset="-120"/>
                        </a:rPr>
                        <a:t>G gets the offer</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c>
                  <a:txBody>
                    <a:bodyPr/>
                    <a:lstStyle/>
                    <a:p>
                      <a:pPr algn="ctr" indent="0" marL="0">
                        <a:buNone/>
                      </a:pPr>
                      <a:r>
                        <a:rPr lang="en-US" sz="1100" dirty="0">
                          <a:solidFill>
                            <a:srgbClr val="33344A"/>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FBF3E1"/>
                    </a:solidFill>
                  </a:tcPr>
                </a:tc>
              </a:tr>
              <a:tr h="336042">
                <a:tc gridSpan="2">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τ(G) = μ̂₁(G) − μ̂₀(G)</a:t>
                      </a:r>
                      <a:endParaRPr lang="en-US" sz="11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141B4D"/>
                    </a:solidFill>
                  </a:tcPr>
                </a:tc>
                <a:tc hMerge="1">
                  <a:tcPr/>
                </a:tc>
                <a:tc>
                  <a:txBody>
                    <a:bodyPr/>
                    <a:lstStyle/>
                    <a:p>
                      <a:pPr algn="ctr" indent="0" marL="0">
                        <a:buNone/>
                      </a:pPr>
                      <a:r>
                        <a:rPr lang="en-US" sz="1500" b="1" dirty="0">
                          <a:solidFill>
                            <a:srgbClr val="B8892B"/>
                          </a:solidFill>
                          <a:latin typeface="Calibri" pitchFamily="34" charset="0"/>
                          <a:ea typeface="Calibri" pitchFamily="34" charset="-122"/>
                          <a:cs typeface="Calibri" pitchFamily="34" charset="-120"/>
                        </a:rPr>
                        <a:t>0.16</a:t>
                      </a:r>
                      <a:endParaRPr lang="en-US" sz="1500" dirty="0">
                        <a:latin typeface="Calibri" charset="0"/>
                        <a:ea typeface="Calibri" charset="0"/>
                        <a:cs typeface="Calibri" charset="0"/>
                      </a:endParaRPr>
                    </a:p>
                  </a:txBody>
                  <a:tcPr marL="54864" marR="54864" marT="36576" marB="36576" anchor="ctr">
                    <a:lnL w="12700" cap="flat" cmpd="sng" algn="ctr">
                      <a:solidFill>
                        <a:srgbClr val="F0DFB0"/>
                      </a:solidFill>
                      <a:prstDash val="solid"/>
                      <a:round/>
                      <a:headEnd type="none" w="med" len="med"/>
                      <a:tailEnd type="none" w="med" len="med"/>
                    </a:lnL>
                    <a:lnR w="12700" cap="flat" cmpd="sng" algn="ctr">
                      <a:solidFill>
                        <a:srgbClr val="F0DFB0"/>
                      </a:solidFill>
                      <a:prstDash val="solid"/>
                      <a:round/>
                      <a:headEnd type="none" w="med" len="med"/>
                      <a:tailEnd type="none" w="med" len="med"/>
                    </a:lnR>
                    <a:lnT w="12700" cap="flat" cmpd="sng" algn="ctr">
                      <a:solidFill>
                        <a:srgbClr val="F0DFB0"/>
                      </a:solidFill>
                      <a:prstDash val="solid"/>
                      <a:round/>
                      <a:headEnd type="none" w="med" len="med"/>
                      <a:tailEnd type="none" w="med" len="med"/>
                    </a:lnT>
                    <a:lnB w="12700" cap="flat" cmpd="sng" algn="ctr">
                      <a:solidFill>
                        <a:srgbClr val="F0DFB0"/>
                      </a:solidFill>
                      <a:prstDash val="solid"/>
                      <a:round/>
                      <a:headEnd type="none" w="med" len="med"/>
                      <a:tailEnd type="none" w="med" len="med"/>
                    </a:lnB>
                    <a:solidFill>
                      <a:srgbClr val="141B4D"/>
                    </a:solidFill>
                  </a:tcPr>
                </a:tc>
              </a:tr>
            </a:tbl>
          </a:graphicData>
        </a:graphic>
      </p:graphicFrame>
      <p:sp>
        <p:nvSpPr>
          <p:cNvPr id="15" name="Shape 10"/>
          <p:cNvSpPr/>
          <p:nvPr/>
        </p:nvSpPr>
        <p:spPr>
          <a:xfrm>
            <a:off x="548640" y="3611880"/>
            <a:ext cx="5349240" cy="1234440"/>
          </a:xfrm>
          <a:prstGeom prst="roundRect">
            <a:avLst>
              <a:gd name="adj" fmla="val 7407"/>
            </a:avLst>
          </a:prstGeom>
          <a:solidFill>
            <a:srgbClr val="E4F3EC"/>
          </a:solidFill>
          <a:ln/>
        </p:spPr>
      </p:sp>
      <p:sp>
        <p:nvSpPr>
          <p:cNvPr id="16" name="Text 11"/>
          <p:cNvSpPr txBox="1"/>
          <p:nvPr/>
        </p:nvSpPr>
        <p:spPr>
          <a:xfrm>
            <a:off x="822960" y="3739896"/>
            <a:ext cx="4800600" cy="292608"/>
          </a:xfrm>
          <a:prstGeom prst="rect">
            <a:avLst/>
          </a:prstGeom>
          <a:noFill/>
          <a:ln/>
        </p:spPr>
        <p:txBody>
          <a:bodyPr wrap="square" lIns="0" tIns="0" rIns="0" bIns="0" rtlCol="0" anchor="ctr"/>
          <a:lstStyle/>
          <a:p>
            <a:pPr indent="0" marL="0">
              <a:buNone/>
            </a:pPr>
            <a:r>
              <a:rPr lang="en-US" sz="1450" b="1" dirty="0">
                <a:solidFill>
                  <a:srgbClr val="1B7A5A"/>
                </a:solidFill>
                <a:latin typeface="Cambria" pitchFamily="34" charset="0"/>
                <a:ea typeface="Cambria" pitchFamily="34" charset="-122"/>
                <a:cs typeface="Cambria" pitchFamily="34" charset="-120"/>
              </a:rPr>
              <a:t>+  Pros</a:t>
            </a:r>
            <a:endParaRPr lang="en-US" sz="1450" dirty="0"/>
          </a:p>
        </p:txBody>
      </p:sp>
      <p:sp>
        <p:nvSpPr>
          <p:cNvPr id="17" name="Text 12"/>
          <p:cNvSpPr txBox="1"/>
          <p:nvPr/>
        </p:nvSpPr>
        <p:spPr>
          <a:xfrm>
            <a:off x="822960" y="4069080"/>
            <a:ext cx="4800600" cy="6400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Each model specializes freely — no shared regularization fighting over the treatment signal. Simplest to reason about: “model B minus model A.”</a:t>
            </a:r>
            <a:endParaRPr lang="en-US" sz="1150" dirty="0"/>
          </a:p>
        </p:txBody>
      </p:sp>
      <p:sp>
        <p:nvSpPr>
          <p:cNvPr id="18" name="Shape 13"/>
          <p:cNvSpPr/>
          <p:nvPr/>
        </p:nvSpPr>
        <p:spPr>
          <a:xfrm>
            <a:off x="6263640" y="3611880"/>
            <a:ext cx="5349240" cy="1234440"/>
          </a:xfrm>
          <a:prstGeom prst="roundRect">
            <a:avLst>
              <a:gd name="adj" fmla="val 7407"/>
            </a:avLst>
          </a:prstGeom>
          <a:solidFill>
            <a:srgbClr val="FBEAE8"/>
          </a:solidFill>
          <a:ln/>
        </p:spPr>
      </p:sp>
      <p:sp>
        <p:nvSpPr>
          <p:cNvPr id="19" name="Text 14"/>
          <p:cNvSpPr txBox="1"/>
          <p:nvPr/>
        </p:nvSpPr>
        <p:spPr>
          <a:xfrm>
            <a:off x="6537960" y="3739896"/>
            <a:ext cx="4800600" cy="292608"/>
          </a:xfrm>
          <a:prstGeom prst="rect">
            <a:avLst/>
          </a:prstGeom>
          <a:noFill/>
          <a:ln/>
        </p:spPr>
        <p:txBody>
          <a:bodyPr wrap="square" lIns="0" tIns="0" rIns="0" bIns="0" rtlCol="0" anchor="ctr"/>
          <a:lstStyle/>
          <a:p>
            <a:pPr indent="0" marL="0">
              <a:buNone/>
            </a:pPr>
            <a:r>
              <a:rPr lang="en-US" sz="1450" b="1" dirty="0">
                <a:solidFill>
                  <a:srgbClr val="B03A2E"/>
                </a:solidFill>
                <a:latin typeface="Cambria" pitchFamily="34" charset="0"/>
                <a:ea typeface="Cambria" pitchFamily="34" charset="-122"/>
                <a:cs typeface="Cambria" pitchFamily="34" charset="-120"/>
              </a:rPr>
              <a:t>−  Cons</a:t>
            </a:r>
            <a:endParaRPr lang="en-US" sz="1450" dirty="0"/>
          </a:p>
        </p:txBody>
      </p:sp>
      <p:sp>
        <p:nvSpPr>
          <p:cNvPr id="20" name="Text 15"/>
          <p:cNvSpPr txBox="1"/>
          <p:nvPr/>
        </p:nvSpPr>
        <p:spPr>
          <a:xfrm>
            <a:off x="6537960" y="4069080"/>
            <a:ext cx="4800600" cy="6400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Quality depends on how well each arm is estimated alone. A small arm's model is noisy, and subtracting two noisy predictions adds their variances.</a:t>
            </a:r>
            <a:endParaRPr lang="en-US" sz="1150" dirty="0"/>
          </a:p>
        </p:txBody>
      </p:sp>
      <p:sp>
        <p:nvSpPr>
          <p:cNvPr id="21" name="Shape 16"/>
          <p:cNvSpPr/>
          <p:nvPr/>
        </p:nvSpPr>
        <p:spPr>
          <a:xfrm>
            <a:off x="548640" y="4983480"/>
            <a:ext cx="11064240" cy="1051560"/>
          </a:xfrm>
          <a:prstGeom prst="roundRect">
            <a:avLst>
              <a:gd name="adj" fmla="val 6957"/>
            </a:avLst>
          </a:prstGeom>
          <a:solidFill>
            <a:srgbClr val="141B4D"/>
          </a:solidFill>
          <a:ln/>
        </p:spPr>
      </p:sp>
      <p:sp>
        <p:nvSpPr>
          <p:cNvPr id="22" name="Text 17"/>
          <p:cNvSpPr txBox="1"/>
          <p:nvPr/>
        </p:nvSpPr>
        <p:spPr>
          <a:xfrm>
            <a:off x="868680" y="4983480"/>
            <a:ext cx="10424160" cy="1051560"/>
          </a:xfrm>
          <a:prstGeom prst="rect">
            <a:avLst/>
          </a:prstGeom>
          <a:noFill/>
          <a:ln/>
        </p:spPr>
        <p:txBody>
          <a:bodyPr wrap="square" lIns="0" tIns="0" rIns="0" bIns="0" rtlCol="0" anchor="ctr"/>
          <a:lstStyle/>
          <a:p>
            <a:pPr indent="0" marL="0">
              <a:lnSpc>
                <a:spcPct val="120000"/>
              </a:lnSpc>
              <a:buNone/>
            </a:pPr>
            <a:r>
              <a:rPr lang="en-US" sz="1250" b="1" dirty="0">
                <a:solidFill>
                  <a:srgbClr val="B8892B"/>
                </a:solidFill>
                <a:latin typeface="Calibri" pitchFamily="34" charset="0"/>
                <a:ea typeface="Calibri" pitchFamily="34" charset="-122"/>
                <a:cs typeface="Calibri" pitchFamily="34" charset="-120"/>
              </a:rPr>
              <a:t>Why not chosen:  </a:t>
            </a:r>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control is deliberately a small holdout — you can't withhold the offer from too many good prospects. That starves the control model exactly where T-Learner needs it most; its noise lands straight in every uplift score. Closing that gap is the reason X-Learner exists.</a:t>
            </a:r>
            <a:endParaRPr lang="en-US" sz="1250" dirty="0"/>
          </a:p>
        </p:txBody>
      </p:sp>
      <p:sp>
        <p:nvSpPr>
          <p:cNvPr id="23" name="Text 18"/>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24" name="Text 1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THE DECISION</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X-Learner, Specifically</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246120"/>
        </p:xfrm>
        <a:graphic>
          <a:graphicData uri="http://schemas.openxmlformats.org/drawingml/2006/table">
            <a:tbl>
              <a:tblPr/>
              <a:tblGrid>
                <a:gridCol w="1737360"/>
                <a:gridCol w="3108960"/>
                <a:gridCol w="3108960"/>
                <a:gridCol w="3108960"/>
              </a:tblGrid>
              <a:tr h="777240">
                <a:tc>
                  <a:txBody>
                    <a:bodyPr/>
                    <a:lstStyle/>
                    <a:p>
                      <a:pPr algn="l" indent="0" marL="0">
                        <a:buNone/>
                      </a:pP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S-Learner</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T-Learner</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X-Learner</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r>
              <a:tr h="77724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How effect</a:t>
                      </a:r>
                      <a:endParaRPr lang="en-US" sz="1200" dirty="0">
                        <a:latin typeface="Calibri" charset="0"/>
                        <a:ea typeface="Calibri" charset="0"/>
                        <a:cs typeface="Calibri" charset="0"/>
                      </a:endParaRPr>
                    </a:p>
                    <a:p>
                      <a:pPr algn="l" indent="0" marL="0">
                        <a:buNone/>
                      </a:pPr>
                      <a:r>
                        <a:rPr lang="en-US" sz="1200" b="1" dirty="0">
                          <a:solidFill>
                            <a:srgbClr val="1E2761"/>
                          </a:solidFill>
                          <a:latin typeface="Calibri" pitchFamily="34" charset="0"/>
                          <a:ea typeface="Calibri" pitchFamily="34" charset="-122"/>
                          <a:cs typeface="Calibri" pitchFamily="34" charset="-120"/>
                        </a:rPr>
                        <a:t>is estimated</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Implicit — read off one shared model's treatment term</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Difference of two</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independently-fit models</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Directly regresses on an</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imputed treatment effect</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r>
              <a:tr h="77724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Best when</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Treatment effect is a strong,</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easily separable signal</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Treatment / control groups</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are large and balanced</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Groups are imbalanced —</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e.g. a small control holdout</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r>
              <a:tr h="77724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Main risk</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Regularization can shrink the</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treatment signal toward zero</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Minority-arm model is noisy;</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errors compound on subtraction</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tcPr>
                </a:tc>
                <a:tc>
                  <a:txBody>
                    <a:bodyPr/>
                    <a:lstStyle/>
                    <a:p>
                      <a:pPr algn="l" indent="0" marL="0">
                        <a:buNone/>
                      </a:pPr>
                      <a:r>
                        <a:rPr lang="en-US" sz="1200" dirty="0">
                          <a:solidFill>
                            <a:srgbClr val="33344A"/>
                          </a:solidFill>
                          <a:latin typeface="Calibri" pitchFamily="34" charset="0"/>
                          <a:ea typeface="Calibri" pitchFamily="34" charset="-122"/>
                          <a:cs typeface="Calibri" pitchFamily="34" charset="-120"/>
                        </a:rPr>
                        <a:t>More moving parts — more</a:t>
                      </a:r>
                      <a:endParaRPr lang="en-US" sz="1200" dirty="0">
                        <a:latin typeface="Calibri" charset="0"/>
                        <a:ea typeface="Calibri" charset="0"/>
                        <a:cs typeface="Calibri" charset="0"/>
                      </a:endParaRPr>
                    </a:p>
                    <a:p>
                      <a:pPr algn="l" indent="0" marL="0">
                        <a:buNone/>
                      </a:pPr>
                      <a:r>
                        <a:rPr lang="en-US" sz="1200" dirty="0">
                          <a:solidFill>
                            <a:srgbClr val="33344A"/>
                          </a:solidFill>
                          <a:latin typeface="Calibri" pitchFamily="34" charset="0"/>
                          <a:ea typeface="Calibri" pitchFamily="34" charset="-122"/>
                          <a:cs typeface="Calibri" pitchFamily="34" charset="-120"/>
                        </a:rPr>
                        <a:t>places to get cross-fitting wrong</a:t>
                      </a:r>
                      <a:endParaRPr lang="en-US" sz="1200" dirty="0">
                        <a:latin typeface="Calibri" charset="0"/>
                        <a:ea typeface="Calibri" charset="0"/>
                        <a:cs typeface="Calibri" charset="0"/>
                      </a:endParaRPr>
                    </a:p>
                  </a:txBody>
                  <a:tcPr marL="109728" marR="109728" marT="73152" marB="73152"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r>
            </a:tbl>
          </a:graphicData>
        </a:graphic>
      </p:graphicFrame>
      <p:sp>
        <p:nvSpPr>
          <p:cNvPr id="5" name="Shape 2"/>
          <p:cNvSpPr/>
          <p:nvPr/>
        </p:nvSpPr>
        <p:spPr>
          <a:xfrm>
            <a:off x="548640" y="5029200"/>
            <a:ext cx="11064240" cy="1234440"/>
          </a:xfrm>
          <a:prstGeom prst="roundRect">
            <a:avLst>
              <a:gd name="adj" fmla="val 5926"/>
            </a:avLst>
          </a:prstGeom>
          <a:solidFill>
            <a:srgbClr val="141B4D"/>
          </a:solidFill>
          <a:ln/>
        </p:spPr>
      </p:sp>
      <p:sp>
        <p:nvSpPr>
          <p:cNvPr id="6" name="Text 3"/>
          <p:cNvSpPr txBox="1"/>
          <p:nvPr/>
        </p:nvSpPr>
        <p:spPr>
          <a:xfrm>
            <a:off x="868680" y="5029200"/>
            <a:ext cx="10424160" cy="1234440"/>
          </a:xfrm>
          <a:prstGeom prst="rect">
            <a:avLst/>
          </a:prstGeom>
          <a:noFill/>
          <a:ln/>
        </p:spPr>
        <p:txBody>
          <a:bodyPr wrap="square" lIns="0" tIns="0" rIns="0" bIns="0" rtlCol="0" anchor="ctr"/>
          <a:lstStyle/>
          <a:p>
            <a:pPr indent="0" marL="0">
              <a:lnSpc>
                <a:spcPct val="125000"/>
              </a:lnSpc>
              <a:buNone/>
            </a:pPr>
            <a:r>
              <a:rPr lang="en-US" sz="1300" b="1" dirty="0">
                <a:solidFill>
                  <a:srgbClr val="B8892B"/>
                </a:solidFill>
                <a:latin typeface="Calibri" pitchFamily="34" charset="0"/>
                <a:ea typeface="Calibri" pitchFamily="34" charset="-122"/>
                <a:cs typeface="Calibri" pitchFamily="34" charset="-120"/>
              </a:rPr>
              <a:t>Our real constraint: </a:t>
            </a:r>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control is deliberately a small holdout — you can't withhold the offer from too many good prospects. That's exactly T-Learner's weak point. X-Learner's imputation step lets the small arm's effect model borrow strength from the large arm's well-estimated outcome model.</a:t>
            </a:r>
            <a:endParaRPr lang="en-US" sz="1300" dirty="0"/>
          </a:p>
        </p:txBody>
      </p:sp>
      <p:sp>
        <p:nvSpPr>
          <p:cNvPr id="7" name="Text 4"/>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8"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X-Learner, End to End</a:t>
            </a:r>
            <a:endParaRPr lang="en-US" sz="3000" dirty="0"/>
          </a:p>
        </p:txBody>
      </p:sp>
      <p:sp>
        <p:nvSpPr>
          <p:cNvPr id="4" name="Shape 2"/>
          <p:cNvSpPr/>
          <p:nvPr/>
        </p:nvSpPr>
        <p:spPr>
          <a:xfrm>
            <a:off x="582016" y="1920240"/>
            <a:ext cx="2331720" cy="2377440"/>
          </a:xfrm>
          <a:prstGeom prst="roundRect">
            <a:avLst>
              <a:gd name="adj" fmla="val 3922"/>
            </a:avLst>
          </a:prstGeom>
          <a:solidFill>
            <a:srgbClr val="EAF0FC"/>
          </a:solidFill>
          <a:ln w="19050">
            <a:solidFill>
              <a:srgbClr val="CADCFC"/>
            </a:solidFill>
            <a:prstDash val="solid"/>
          </a:ln>
        </p:spPr>
      </p:sp>
      <p:sp>
        <p:nvSpPr>
          <p:cNvPr id="5" name="Shape 3"/>
          <p:cNvSpPr/>
          <p:nvPr/>
        </p:nvSpPr>
        <p:spPr>
          <a:xfrm>
            <a:off x="1455268" y="1627632"/>
            <a:ext cx="585216" cy="585216"/>
          </a:xfrm>
          <a:prstGeom prst="ellipse">
            <a:avLst/>
          </a:prstGeom>
          <a:solidFill>
            <a:srgbClr val="1E2761"/>
          </a:solidFill>
          <a:ln w="25400">
            <a:solidFill>
              <a:srgbClr val="FFFFFF"/>
            </a:solidFill>
            <a:prstDash val="solid"/>
          </a:ln>
        </p:spPr>
      </p:sp>
      <p:sp>
        <p:nvSpPr>
          <p:cNvPr id="6" name="Text 4"/>
          <p:cNvSpPr txBox="1"/>
          <p:nvPr/>
        </p:nvSpPr>
        <p:spPr>
          <a:xfrm>
            <a:off x="1455268" y="1627632"/>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46608" y="2377440"/>
            <a:ext cx="2002536"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Outcome Models</a:t>
            </a:r>
            <a:endParaRPr lang="en-US" sz="1600" dirty="0"/>
          </a:p>
        </p:txBody>
      </p:sp>
      <p:sp>
        <p:nvSpPr>
          <p:cNvPr id="8" name="Text 6"/>
          <p:cNvSpPr txBox="1"/>
          <p:nvPr/>
        </p:nvSpPr>
        <p:spPr>
          <a:xfrm>
            <a:off x="746608" y="3108960"/>
            <a:ext cx="2002536" cy="10972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μ̂₀(x), μ̂₁(x) — one per arm, trained separately</a:t>
            </a:r>
            <a:endParaRPr lang="en-US" sz="1150" dirty="0"/>
          </a:p>
        </p:txBody>
      </p:sp>
      <p:sp>
        <p:nvSpPr>
          <p:cNvPr id="9" name="Text 7"/>
          <p:cNvSpPr txBox="1"/>
          <p:nvPr/>
        </p:nvSpPr>
        <p:spPr>
          <a:xfrm>
            <a:off x="2968600" y="2788920"/>
            <a:ext cx="457200" cy="640080"/>
          </a:xfrm>
          <a:prstGeom prst="rect">
            <a:avLst/>
          </a:prstGeom>
          <a:noFill/>
          <a:ln/>
        </p:spPr>
        <p:txBody>
          <a:bodyPr wrap="square" lIns="0" tIns="0" rIns="0" bIns="0" rtlCol="0" anchor="ctr"/>
          <a:lstStyle/>
          <a:p>
            <a:pPr algn="ctr" indent="0" marL="0">
              <a:buNone/>
            </a:pPr>
            <a:r>
              <a:rPr lang="en-US" sz="2600" b="1" dirty="0">
                <a:solidFill>
                  <a:srgbClr val="6B7280"/>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480664" y="1920240"/>
            <a:ext cx="2331720" cy="2377440"/>
          </a:xfrm>
          <a:prstGeom prst="roundRect">
            <a:avLst>
              <a:gd name="adj" fmla="val 3922"/>
            </a:avLst>
          </a:prstGeom>
          <a:solidFill>
            <a:srgbClr val="EAF0FC"/>
          </a:solidFill>
          <a:ln w="19050">
            <a:solidFill>
              <a:srgbClr val="CADCFC"/>
            </a:solidFill>
            <a:prstDash val="solid"/>
          </a:ln>
        </p:spPr>
      </p:sp>
      <p:sp>
        <p:nvSpPr>
          <p:cNvPr id="11" name="Shape 9"/>
          <p:cNvSpPr/>
          <p:nvPr/>
        </p:nvSpPr>
        <p:spPr>
          <a:xfrm>
            <a:off x="4353916" y="1627632"/>
            <a:ext cx="585216" cy="585216"/>
          </a:xfrm>
          <a:prstGeom prst="ellipse">
            <a:avLst/>
          </a:prstGeom>
          <a:solidFill>
            <a:srgbClr val="1E2761"/>
          </a:solidFill>
          <a:ln w="25400">
            <a:solidFill>
              <a:srgbClr val="FFFFFF"/>
            </a:solidFill>
            <a:prstDash val="solid"/>
          </a:ln>
        </p:spPr>
      </p:sp>
      <p:sp>
        <p:nvSpPr>
          <p:cNvPr id="12" name="Text 10"/>
          <p:cNvSpPr txBox="1"/>
          <p:nvPr/>
        </p:nvSpPr>
        <p:spPr>
          <a:xfrm>
            <a:off x="4353916" y="1627632"/>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645256" y="2377440"/>
            <a:ext cx="2002536"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Pseudo Effects</a:t>
            </a:r>
            <a:endParaRPr lang="en-US" sz="1600" dirty="0"/>
          </a:p>
        </p:txBody>
      </p:sp>
      <p:sp>
        <p:nvSpPr>
          <p:cNvPr id="14" name="Text 12"/>
          <p:cNvSpPr txBox="1"/>
          <p:nvPr/>
        </p:nvSpPr>
        <p:spPr>
          <a:xfrm>
            <a:off x="3645256" y="3108960"/>
            <a:ext cx="2002536" cy="10972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Counterfactual predictions turn Y into an imputed effect</a:t>
            </a:r>
            <a:endParaRPr lang="en-US" sz="1150" dirty="0"/>
          </a:p>
        </p:txBody>
      </p:sp>
      <p:sp>
        <p:nvSpPr>
          <p:cNvPr id="15" name="Text 13"/>
          <p:cNvSpPr txBox="1"/>
          <p:nvPr/>
        </p:nvSpPr>
        <p:spPr>
          <a:xfrm>
            <a:off x="5867248" y="2788920"/>
            <a:ext cx="457200" cy="640080"/>
          </a:xfrm>
          <a:prstGeom prst="rect">
            <a:avLst/>
          </a:prstGeom>
          <a:noFill/>
          <a:ln/>
        </p:spPr>
        <p:txBody>
          <a:bodyPr wrap="square" lIns="0" tIns="0" rIns="0" bIns="0" rtlCol="0" anchor="ctr"/>
          <a:lstStyle/>
          <a:p>
            <a:pPr algn="ctr" indent="0" marL="0">
              <a:buNone/>
            </a:pPr>
            <a:r>
              <a:rPr lang="en-US" sz="2600" b="1" dirty="0">
                <a:solidFill>
                  <a:srgbClr val="6B7280"/>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6379312" y="1920240"/>
            <a:ext cx="2331720" cy="2377440"/>
          </a:xfrm>
          <a:prstGeom prst="roundRect">
            <a:avLst>
              <a:gd name="adj" fmla="val 3922"/>
            </a:avLst>
          </a:prstGeom>
          <a:solidFill>
            <a:srgbClr val="EAF0FC"/>
          </a:solidFill>
          <a:ln w="19050">
            <a:solidFill>
              <a:srgbClr val="CADCFC"/>
            </a:solidFill>
            <a:prstDash val="solid"/>
          </a:ln>
        </p:spPr>
      </p:sp>
      <p:sp>
        <p:nvSpPr>
          <p:cNvPr id="17" name="Shape 15"/>
          <p:cNvSpPr/>
          <p:nvPr/>
        </p:nvSpPr>
        <p:spPr>
          <a:xfrm>
            <a:off x="7252564" y="1627632"/>
            <a:ext cx="585216" cy="585216"/>
          </a:xfrm>
          <a:prstGeom prst="ellipse">
            <a:avLst/>
          </a:prstGeom>
          <a:solidFill>
            <a:srgbClr val="1E2761"/>
          </a:solidFill>
          <a:ln w="25400">
            <a:solidFill>
              <a:srgbClr val="FFFFFF"/>
            </a:solidFill>
            <a:prstDash val="solid"/>
          </a:ln>
        </p:spPr>
      </p:sp>
      <p:sp>
        <p:nvSpPr>
          <p:cNvPr id="18" name="Text 16"/>
          <p:cNvSpPr txBox="1"/>
          <p:nvPr/>
        </p:nvSpPr>
        <p:spPr>
          <a:xfrm>
            <a:off x="7252564" y="1627632"/>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6543904" y="2377440"/>
            <a:ext cx="2002536"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Effect Models</a:t>
            </a:r>
            <a:endParaRPr lang="en-US" sz="1600" dirty="0"/>
          </a:p>
        </p:txBody>
      </p:sp>
      <p:sp>
        <p:nvSpPr>
          <p:cNvPr id="20" name="Text 18"/>
          <p:cNvSpPr txBox="1"/>
          <p:nvPr/>
        </p:nvSpPr>
        <p:spPr>
          <a:xfrm>
            <a:off x="6543904" y="3108960"/>
            <a:ext cx="2002536" cy="10972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τC(x), τT(x) — regressors on the imputed effect</a:t>
            </a:r>
            <a:endParaRPr lang="en-US" sz="1150" dirty="0"/>
          </a:p>
        </p:txBody>
      </p:sp>
      <p:sp>
        <p:nvSpPr>
          <p:cNvPr id="21" name="Text 19"/>
          <p:cNvSpPr txBox="1"/>
          <p:nvPr/>
        </p:nvSpPr>
        <p:spPr>
          <a:xfrm>
            <a:off x="8765896" y="2788920"/>
            <a:ext cx="457200" cy="640080"/>
          </a:xfrm>
          <a:prstGeom prst="rect">
            <a:avLst/>
          </a:prstGeom>
          <a:noFill/>
          <a:ln/>
        </p:spPr>
        <p:txBody>
          <a:bodyPr wrap="square" lIns="0" tIns="0" rIns="0" bIns="0" rtlCol="0" anchor="ctr"/>
          <a:lstStyle/>
          <a:p>
            <a:pPr algn="ctr" indent="0" marL="0">
              <a:buNone/>
            </a:pPr>
            <a:r>
              <a:rPr lang="en-US" sz="2600" b="1" dirty="0">
                <a:solidFill>
                  <a:srgbClr val="6B7280"/>
                </a:solidFill>
                <a:latin typeface="Calibri" pitchFamily="34" charset="0"/>
                <a:ea typeface="Calibri" pitchFamily="34" charset="-122"/>
                <a:cs typeface="Calibri" pitchFamily="34" charset="-120"/>
              </a:rPr>
              <a:t>→</a:t>
            </a:r>
            <a:endParaRPr lang="en-US" sz="2600" dirty="0"/>
          </a:p>
        </p:txBody>
      </p:sp>
      <p:sp>
        <p:nvSpPr>
          <p:cNvPr id="22" name="Shape 20"/>
          <p:cNvSpPr/>
          <p:nvPr/>
        </p:nvSpPr>
        <p:spPr>
          <a:xfrm>
            <a:off x="9277960" y="1920240"/>
            <a:ext cx="2331720" cy="2377440"/>
          </a:xfrm>
          <a:prstGeom prst="roundRect">
            <a:avLst>
              <a:gd name="adj" fmla="val 3922"/>
            </a:avLst>
          </a:prstGeom>
          <a:solidFill>
            <a:srgbClr val="FBF3E1"/>
          </a:solidFill>
          <a:ln w="19050">
            <a:solidFill>
              <a:srgbClr val="B8892B"/>
            </a:solidFill>
            <a:prstDash val="solid"/>
          </a:ln>
        </p:spPr>
      </p:sp>
      <p:sp>
        <p:nvSpPr>
          <p:cNvPr id="23" name="Shape 21"/>
          <p:cNvSpPr/>
          <p:nvPr/>
        </p:nvSpPr>
        <p:spPr>
          <a:xfrm>
            <a:off x="10151212" y="1627632"/>
            <a:ext cx="585216" cy="585216"/>
          </a:xfrm>
          <a:prstGeom prst="ellipse">
            <a:avLst/>
          </a:prstGeom>
          <a:solidFill>
            <a:srgbClr val="B8892B"/>
          </a:solidFill>
          <a:ln w="25400">
            <a:solidFill>
              <a:srgbClr val="FFFFFF"/>
            </a:solidFill>
            <a:prstDash val="solid"/>
          </a:ln>
        </p:spPr>
      </p:sp>
      <p:sp>
        <p:nvSpPr>
          <p:cNvPr id="24" name="Text 22"/>
          <p:cNvSpPr txBox="1"/>
          <p:nvPr/>
        </p:nvSpPr>
        <p:spPr>
          <a:xfrm>
            <a:off x="10151212" y="1627632"/>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9442552" y="2377440"/>
            <a:ext cx="2002536"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Weighted Fusion</a:t>
            </a:r>
            <a:endParaRPr lang="en-US" sz="1600" dirty="0"/>
          </a:p>
        </p:txBody>
      </p:sp>
      <p:sp>
        <p:nvSpPr>
          <p:cNvPr id="26" name="Text 24"/>
          <p:cNvSpPr txBox="1"/>
          <p:nvPr/>
        </p:nvSpPr>
        <p:spPr>
          <a:xfrm>
            <a:off x="9442552" y="3108960"/>
            <a:ext cx="2002536" cy="1097280"/>
          </a:xfrm>
          <a:prstGeom prst="rect">
            <a:avLst/>
          </a:prstGeom>
          <a:noFill/>
          <a:ln/>
        </p:spPr>
        <p:txBody>
          <a:bodyPr wrap="square" lIns="0" tIns="0" rIns="0" bIns="0" rtlCol="0" anchor="ctr"/>
          <a:lstStyle/>
          <a:p>
            <a:pPr indent="0" marL="0">
              <a:lnSpc>
                <a:spcPct val="120000"/>
              </a:lnSpc>
              <a:buNone/>
            </a:pPr>
            <a:r>
              <a:rPr lang="en-US" sz="1150" dirty="0">
                <a:solidFill>
                  <a:srgbClr val="33344A"/>
                </a:solidFill>
                <a:latin typeface="Calibri" pitchFamily="34" charset="0"/>
                <a:ea typeface="Calibri" pitchFamily="34" charset="-122"/>
                <a:cs typeface="Calibri" pitchFamily="34" charset="-120"/>
              </a:rPr>
              <a:t>g(x) blends the two into one uplift score τ(x)</a:t>
            </a:r>
            <a:endParaRPr lang="en-US" sz="1150" dirty="0"/>
          </a:p>
        </p:txBody>
      </p:sp>
      <p:sp>
        <p:nvSpPr>
          <p:cNvPr id="27" name="Text 25"/>
          <p:cNvSpPr txBox="1"/>
          <p:nvPr/>
        </p:nvSpPr>
        <p:spPr>
          <a:xfrm>
            <a:off x="548640" y="4800600"/>
            <a:ext cx="11064240" cy="36576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Layers 1–3 are model training. Layer 4 happens at scoring time, for every customer.</a:t>
            </a:r>
            <a:endParaRPr lang="en-US" sz="1250" dirty="0"/>
          </a:p>
        </p:txBody>
      </p:sp>
      <p:sp>
        <p:nvSpPr>
          <p:cNvPr id="28" name="Text 26"/>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29" name="Text 2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LAYER 1 OF 4</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Outcome Models</a:t>
            </a:r>
            <a:endParaRPr lang="en-US" sz="3000" dirty="0"/>
          </a:p>
        </p:txBody>
      </p:sp>
      <p:sp>
        <p:nvSpPr>
          <p:cNvPr id="4" name="Text 2"/>
          <p:cNvSpPr txBox="1"/>
          <p:nvPr/>
        </p:nvSpPr>
        <p:spPr>
          <a:xfrm>
            <a:off x="548640" y="1417320"/>
            <a:ext cx="11064240" cy="777240"/>
          </a:xfrm>
          <a:prstGeom prst="rect">
            <a:avLst/>
          </a:prstGeom>
          <a:noFill/>
          <a:ln/>
        </p:spPr>
        <p:txBody>
          <a:bodyPr wrap="square" lIns="0" tIns="0" rIns="0" bIns="0" rtlCol="0" anchor="ctr"/>
          <a:lstStyle/>
          <a:p>
            <a:pPr indent="0" marL="0">
              <a:lnSpc>
                <a:spcPct val="128000"/>
              </a:lnSpc>
              <a:buNone/>
            </a:pPr>
            <a:r>
              <a:rPr lang="en-US" sz="1300" b="1" dirty="0">
                <a:solidFill>
                  <a:srgbClr val="1E2761"/>
                </a:solidFill>
                <a:latin typeface="Calibri" pitchFamily="34" charset="0"/>
                <a:ea typeface="Calibri" pitchFamily="34" charset="-122"/>
                <a:cs typeface="Calibri" pitchFamily="34" charset="-120"/>
              </a:rPr>
              <a:t>Control outcome model  </a:t>
            </a:r>
            <a:pPr indent="0" marL="0">
              <a:lnSpc>
                <a:spcPct val="128000"/>
              </a:lnSpc>
              <a:buNone/>
            </a:pPr>
            <a:r>
              <a:rPr lang="en-US" sz="1300" dirty="0">
                <a:solidFill>
                  <a:srgbClr val="33344A"/>
                </a:solidFill>
                <a:latin typeface="Calibri" pitchFamily="34" charset="0"/>
                <a:ea typeface="Calibri" pitchFamily="34" charset="-122"/>
                <a:cs typeface="Calibri" pitchFamily="34" charset="-120"/>
              </a:rPr>
              <a:t>learns μ̂₀(x) = E[Y(0) | X=x] — trained only on customers who did NOT get the offer.
</a:t>
            </a:r>
            <a:pPr indent="0" marL="0">
              <a:lnSpc>
                <a:spcPct val="128000"/>
              </a:lnSpc>
              <a:buNone/>
            </a:pPr>
            <a:r>
              <a:rPr lang="en-US" sz="1300" b="1" dirty="0">
                <a:solidFill>
                  <a:srgbClr val="1E2761"/>
                </a:solidFill>
                <a:latin typeface="Calibri" pitchFamily="34" charset="0"/>
                <a:ea typeface="Calibri" pitchFamily="34" charset="-122"/>
                <a:cs typeface="Calibri" pitchFamily="34" charset="-120"/>
              </a:rPr>
              <a:t>Treatment outcome model  </a:t>
            </a:r>
            <a:pPr indent="0" marL="0">
              <a:lnSpc>
                <a:spcPct val="128000"/>
              </a:lnSpc>
              <a:buNone/>
            </a:pPr>
            <a:r>
              <a:rPr lang="en-US" sz="1300" dirty="0">
                <a:solidFill>
                  <a:srgbClr val="33344A"/>
                </a:solidFill>
                <a:latin typeface="Calibri" pitchFamily="34" charset="0"/>
                <a:ea typeface="Calibri" pitchFamily="34" charset="-122"/>
                <a:cs typeface="Calibri" pitchFamily="34" charset="-120"/>
              </a:rPr>
              <a:t>learns μ̂₁(x) = E[Y(1) | X=x] — trained only on customers who DID get the offer. (Y = 1 if they applied for the card, 0 if not.)</a:t>
            </a:r>
            <a:endParaRPr lang="en-US" sz="1300" dirty="0"/>
          </a:p>
        </p:txBody>
      </p:sp>
      <p:sp>
        <p:nvSpPr>
          <p:cNvPr id="5" name="Shape 3"/>
          <p:cNvSpPr/>
          <p:nvPr/>
        </p:nvSpPr>
        <p:spPr>
          <a:xfrm>
            <a:off x="548640" y="2240280"/>
            <a:ext cx="11064240" cy="502920"/>
          </a:xfrm>
          <a:prstGeom prst="roundRect">
            <a:avLst>
              <a:gd name="adj" fmla="val 10909"/>
            </a:avLst>
          </a:prstGeom>
          <a:solidFill>
            <a:srgbClr val="EAF0FC"/>
          </a:solidFill>
          <a:ln/>
        </p:spPr>
      </p:sp>
      <p:sp>
        <p:nvSpPr>
          <p:cNvPr id="6" name="Text 4"/>
          <p:cNvSpPr txBox="1"/>
          <p:nvPr/>
        </p:nvSpPr>
        <p:spPr>
          <a:xfrm>
            <a:off x="777240" y="2240280"/>
            <a:ext cx="10607040" cy="50292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Both models are trained with out-of-fold / cross-fitted predictions — never a model scoring its own training rows. That avoids leakage and an overly optimistic effect estimate later.</a:t>
            </a:r>
            <a:endParaRPr lang="en-US" sz="1150" dirty="0"/>
          </a:p>
        </p:txBody>
      </p:sp>
      <p:sp>
        <p:nvSpPr>
          <p:cNvPr id="7" name="Text 5"/>
          <p:cNvSpPr txBox="1"/>
          <p:nvPr/>
        </p:nvSpPr>
        <p:spPr>
          <a:xfrm>
            <a:off x="548640" y="2926080"/>
            <a:ext cx="1106424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Once trained, both models score EVERY customer — including their own counterfactual arm:</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280160" y="3337560"/>
          <a:ext cx="9646920" cy="3017520"/>
        </p:xfrm>
        <a:graphic>
          <a:graphicData uri="http://schemas.openxmlformats.org/drawingml/2006/table">
            <a:tbl>
              <a:tblPr/>
              <a:tblGrid>
                <a:gridCol w="1463040"/>
                <a:gridCol w="1874520"/>
                <a:gridCol w="1463040"/>
                <a:gridCol w="2423160"/>
                <a:gridCol w="2423160"/>
              </a:tblGrid>
              <a:tr h="42976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Customer</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True Arm</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True Y</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μ̂₀(x)</a:t>
                      </a:r>
                      <a:endParaRPr lang="en-US" sz="1250" dirty="0">
                        <a:latin typeface="Calibri" charset="0"/>
                        <a:ea typeface="Calibri" charset="0"/>
                        <a:cs typeface="Calibri" charset="0"/>
                      </a:endParaRPr>
                    </a:p>
                    <a:p>
                      <a:pPr algn="ctr" indent="0" marL="0">
                        <a:buNone/>
                      </a:pPr>
                      <a:r>
                        <a:rPr lang="en-US" sz="1250" b="1" dirty="0">
                          <a:solidFill>
                            <a:srgbClr val="FFFFFF"/>
                          </a:solidFill>
                          <a:latin typeface="Calibri" pitchFamily="34" charset="0"/>
                          <a:ea typeface="Calibri" pitchFamily="34" charset="-122"/>
                          <a:cs typeface="Calibri" pitchFamily="34" charset="-120"/>
                        </a:rPr>
                        <a:t>control prediction</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μ̂₁(x)</a:t>
                      </a:r>
                      <a:endParaRPr lang="en-US" sz="1250" dirty="0">
                        <a:latin typeface="Calibri" charset="0"/>
                        <a:ea typeface="Calibri" charset="0"/>
                        <a:cs typeface="Calibri" charset="0"/>
                      </a:endParaRPr>
                    </a:p>
                    <a:p>
                      <a:pPr algn="ctr" indent="0" marL="0">
                        <a:buNone/>
                      </a:pPr>
                      <a:r>
                        <a:rPr lang="en-US" sz="1250" b="1" dirty="0">
                          <a:solidFill>
                            <a:srgbClr val="FFFFFF"/>
                          </a:solidFill>
                          <a:latin typeface="Calibri" pitchFamily="34" charset="0"/>
                          <a:ea typeface="Calibri" pitchFamily="34" charset="-122"/>
                          <a:cs typeface="Calibri" pitchFamily="34" charset="-120"/>
                        </a:rPr>
                        <a:t>treatment prediction</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761"/>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0.20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0.55</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1E2761"/>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0.60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0.75</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761"/>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0.10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0.30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B8892B"/>
                          </a:solidFill>
                          <a:latin typeface="Calibri" pitchFamily="34" charset="0"/>
                          <a:ea typeface="Calibri" pitchFamily="34" charset="-122"/>
                          <a:cs typeface="Calibri" pitchFamily="34" charset="-120"/>
                        </a:rPr>
                        <a:t>Treatment</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0.35</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0.80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E</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B8892B"/>
                          </a:solidFill>
                          <a:latin typeface="Calibri" pitchFamily="34" charset="0"/>
                          <a:ea typeface="Calibri" pitchFamily="34" charset="-122"/>
                          <a:cs typeface="Calibri" pitchFamily="34" charset="-120"/>
                        </a:rPr>
                        <a:t>Treatment</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0.25</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0.40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429768">
                <a:tc>
                  <a:txBody>
                    <a:bodyPr/>
                    <a:lstStyle/>
                    <a:p>
                      <a:pPr algn="l" indent="0" marL="0">
                        <a:buNone/>
                      </a:pPr>
                      <a:r>
                        <a:rPr lang="en-US" sz="1250" b="1" dirty="0">
                          <a:solidFill>
                            <a:srgbClr val="33344A"/>
                          </a:solidFill>
                          <a:latin typeface="Calibri" pitchFamily="34" charset="0"/>
                          <a:ea typeface="Calibri" pitchFamily="34" charset="-122"/>
                          <a:cs typeface="Calibri" pitchFamily="34" charset="-120"/>
                        </a:rPr>
                        <a:t>F</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B8892B"/>
                          </a:solidFill>
                          <a:latin typeface="Calibri" pitchFamily="34" charset="0"/>
                          <a:ea typeface="Calibri" pitchFamily="34" charset="-122"/>
                          <a:cs typeface="Calibri" pitchFamily="34" charset="-120"/>
                        </a:rPr>
                        <a:t>Treatment</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0.50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250" dirty="0">
                          <a:solidFill>
                            <a:srgbClr val="33344A"/>
                          </a:solidFill>
                          <a:latin typeface="Calibri" pitchFamily="34" charset="0"/>
                          <a:ea typeface="Calibri" pitchFamily="34" charset="-122"/>
                          <a:cs typeface="Calibri" pitchFamily="34" charset="-120"/>
                        </a:rPr>
                        <a:t>0.70</a:t>
                      </a:r>
                      <a:endParaRPr lang="en-US" sz="1250" dirty="0">
                        <a:latin typeface="Calibri" charset="0"/>
                        <a:ea typeface="Calibri" charset="0"/>
                        <a:cs typeface="Calibri" charset="0"/>
                      </a:endParaRPr>
                    </a:p>
                  </a:txBody>
                  <a:tcPr marL="91440" marR="9144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r>
            </a:tbl>
          </a:graphicData>
        </a:graphic>
      </p:graphicFrame>
      <p:sp>
        <p:nvSpPr>
          <p:cNvPr id="9" name="Text 6"/>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10" name="Text 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LAYER 2 OF 4</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Constructing Two Pseudo Effects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ctr"/>
          <a:lstStyle/>
          <a:p>
            <a:pPr indent="0" marL="0">
              <a:lnSpc>
                <a:spcPct val="120000"/>
              </a:lnSpc>
              <a:buNone/>
            </a:pPr>
            <a:r>
              <a:rPr lang="en-US" sz="1300" dirty="0">
                <a:solidFill>
                  <a:srgbClr val="33344A"/>
                </a:solidFill>
                <a:latin typeface="Calibri" pitchFamily="34" charset="0"/>
                <a:ea typeface="Calibri" pitchFamily="34" charset="-122"/>
                <a:cs typeface="Calibri" pitchFamily="34" charset="-120"/>
              </a:rPr>
              <a:t>X-Learner doesn't use μ̂₁ − μ̂₀ directly — it first imputes each unit's likely effect using the OTHER arm's model as counterfactual. (Y = 1 if the customer applied for the card, 0 if not.)</a:t>
            </a:r>
            <a:endParaRPr lang="en-US" sz="1300" dirty="0"/>
          </a:p>
        </p:txBody>
      </p:sp>
      <p:sp>
        <p:nvSpPr>
          <p:cNvPr id="5" name="Shape 3"/>
          <p:cNvSpPr/>
          <p:nvPr/>
        </p:nvSpPr>
        <p:spPr>
          <a:xfrm>
            <a:off x="548640" y="2057400"/>
            <a:ext cx="5349240" cy="548640"/>
          </a:xfrm>
          <a:prstGeom prst="roundRect">
            <a:avLst>
              <a:gd name="adj" fmla="val 13333"/>
            </a:avLst>
          </a:prstGeom>
          <a:solidFill>
            <a:srgbClr val="1B7A5A"/>
          </a:solidFill>
          <a:ln/>
        </p:spPr>
      </p:sp>
      <p:sp>
        <p:nvSpPr>
          <p:cNvPr id="6" name="Text 4"/>
          <p:cNvSpPr txBox="1"/>
          <p:nvPr/>
        </p:nvSpPr>
        <p:spPr>
          <a:xfrm>
            <a:off x="777240" y="2057400"/>
            <a:ext cx="489204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D̃ᵢᶠ = μ̂₁(Xᵢ) − Yᵢ</a:t>
            </a:r>
            <a:endParaRPr lang="en-US" sz="1500" dirty="0"/>
          </a:p>
        </p:txBody>
      </p:sp>
      <p:sp>
        <p:nvSpPr>
          <p:cNvPr id="7" name="Shape 5"/>
          <p:cNvSpPr/>
          <p:nvPr/>
        </p:nvSpPr>
        <p:spPr>
          <a:xfrm>
            <a:off x="6263640" y="2057400"/>
            <a:ext cx="5349240" cy="548640"/>
          </a:xfrm>
          <a:prstGeom prst="roundRect">
            <a:avLst>
              <a:gd name="adj" fmla="val 13333"/>
            </a:avLst>
          </a:prstGeom>
          <a:solidFill>
            <a:srgbClr val="B8892B"/>
          </a:solidFill>
          <a:ln/>
        </p:spPr>
      </p:sp>
      <p:sp>
        <p:nvSpPr>
          <p:cNvPr id="8" name="Text 6"/>
          <p:cNvSpPr txBox="1"/>
          <p:nvPr/>
        </p:nvSpPr>
        <p:spPr>
          <a:xfrm>
            <a:off x="6492240" y="2057400"/>
            <a:ext cx="489204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D̃ᵢᵀ = Yᵢ − μ̂₀(Xᵢ)</a:t>
            </a:r>
            <a:endParaRPr lang="en-US" sz="1500" dirty="0"/>
          </a:p>
        </p:txBody>
      </p:sp>
      <p:sp>
        <p:nvSpPr>
          <p:cNvPr id="9" name="Text 7"/>
          <p:cNvSpPr txBox="1"/>
          <p:nvPr/>
        </p:nvSpPr>
        <p:spPr>
          <a:xfrm>
            <a:off x="548640" y="2679192"/>
            <a:ext cx="5349240" cy="320040"/>
          </a:xfrm>
          <a:prstGeom prst="rect">
            <a:avLst/>
          </a:prstGeom>
          <a:noFill/>
          <a:ln/>
        </p:spPr>
        <p:txBody>
          <a:bodyPr wrap="square" lIns="0" tIns="0" rIns="0" bIns="0" rtlCol="0" anchor="ctr"/>
          <a:lstStyle/>
          <a:p>
            <a:pPr indent="0" marL="0">
              <a:buNone/>
            </a:pPr>
            <a:r>
              <a:rPr lang="en-US" sz="1200" b="1" dirty="0">
                <a:solidFill>
                  <a:srgbClr val="1B7A5A"/>
                </a:solidFill>
                <a:latin typeface="Calibri" pitchFamily="34" charset="0"/>
                <a:ea typeface="Calibri" pitchFamily="34" charset="-122"/>
                <a:cs typeface="Calibri" pitchFamily="34" charset="-120"/>
              </a:rPr>
              <a:t>Control-side pseudo effect  ·  from A, B, C</a:t>
            </a:r>
            <a:endParaRPr lang="en-US" sz="1200" dirty="0"/>
          </a:p>
        </p:txBody>
      </p:sp>
      <p:sp>
        <p:nvSpPr>
          <p:cNvPr id="10" name="Text 8"/>
          <p:cNvSpPr txBox="1"/>
          <p:nvPr/>
        </p:nvSpPr>
        <p:spPr>
          <a:xfrm>
            <a:off x="6263640" y="2679192"/>
            <a:ext cx="5349240" cy="320040"/>
          </a:xfrm>
          <a:prstGeom prst="rect">
            <a:avLst/>
          </a:prstGeom>
          <a:noFill/>
          <a:ln/>
        </p:spPr>
        <p:txBody>
          <a:bodyPr wrap="square" lIns="0" tIns="0" rIns="0" bIns="0" rtlCol="0" anchor="ctr"/>
          <a:lstStyle/>
          <a:p>
            <a:pPr indent="0" marL="0">
              <a:buNone/>
            </a:pPr>
            <a:r>
              <a:rPr lang="en-US" sz="1200" b="1" dirty="0">
                <a:solidFill>
                  <a:srgbClr val="B8892B"/>
                </a:solidFill>
                <a:latin typeface="Calibri" pitchFamily="34" charset="0"/>
                <a:ea typeface="Calibri" pitchFamily="34" charset="-122"/>
                <a:cs typeface="Calibri" pitchFamily="34" charset="-120"/>
              </a:rPr>
              <a:t>Treatment-side pseudo effect  ·  from D, E, F</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5349240" cy="1737360"/>
        </p:xfrm>
        <a:graphic>
          <a:graphicData uri="http://schemas.openxmlformats.org/drawingml/2006/table">
            <a:tbl>
              <a:tblPr/>
              <a:tblGrid>
                <a:gridCol w="1188720"/>
                <a:gridCol w="1371600"/>
                <a:gridCol w="1188720"/>
                <a:gridCol w="1600200"/>
              </a:tblGrid>
              <a:tr h="42062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Cust.</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B7A5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μ̂₁(x)</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B7A5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B7A5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D̃ᶜ = μ̂₁ − Y</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B7A5A"/>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63640" y="3063240"/>
          <a:ext cx="5349240" cy="1737360"/>
        </p:xfrm>
        <a:graphic>
          <a:graphicData uri="http://schemas.openxmlformats.org/drawingml/2006/table">
            <a:tbl>
              <a:tblPr/>
              <a:tblGrid>
                <a:gridCol w="1188720"/>
                <a:gridCol w="1188720"/>
                <a:gridCol w="1371600"/>
                <a:gridCol w="1600200"/>
              </a:tblGrid>
              <a:tr h="42062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Cust.</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μ̂₀(x)</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D̃ᵀ = Y − μ̂₀</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B8892B"/>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AF0FC"/>
                    </a:solidFill>
                  </a:tcPr>
                </a:tc>
              </a:tr>
              <a:tr h="420624">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F</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44A"/>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45720" marR="45720" marT="45720" marB="45720"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FFFFF"/>
                    </a:solidFill>
                  </a:tcPr>
                </a:tc>
              </a:tr>
            </a:tbl>
          </a:graphicData>
        </a:graphic>
      </p:graphicFrame>
      <p:sp>
        <p:nvSpPr>
          <p:cNvPr id="13" name="Shape 9"/>
          <p:cNvSpPr/>
          <p:nvPr/>
        </p:nvSpPr>
        <p:spPr>
          <a:xfrm>
            <a:off x="548640" y="5029200"/>
            <a:ext cx="11064240" cy="777240"/>
          </a:xfrm>
          <a:prstGeom prst="roundRect">
            <a:avLst>
              <a:gd name="adj" fmla="val 7059"/>
            </a:avLst>
          </a:prstGeom>
          <a:solidFill>
            <a:srgbClr val="141B4D"/>
          </a:solidFill>
          <a:ln/>
        </p:spPr>
      </p:sp>
      <p:sp>
        <p:nvSpPr>
          <p:cNvPr id="14" name="Text 10"/>
          <p:cNvSpPr txBox="1"/>
          <p:nvPr/>
        </p:nvSpPr>
        <p:spPr>
          <a:xfrm>
            <a:off x="822960" y="5029200"/>
            <a:ext cx="10515600" cy="77724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These are continuous, signed numbers — not 0/1 labels. Each one is a single unit's best available estimate of its own treatment effect, and each becomes a training label in Layer 3.</a:t>
            </a:r>
            <a:endParaRPr lang="en-US" sz="1250" dirty="0"/>
          </a:p>
        </p:txBody>
      </p:sp>
      <p:sp>
        <p:nvSpPr>
          <p:cNvPr id="15" name="Text 11"/>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16"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A COMMON FOLLOW-UP</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Training ≠ Scoring</a:t>
            </a:r>
            <a:endParaRPr lang="en-US" sz="3000" dirty="0"/>
          </a:p>
        </p:txBody>
      </p:sp>
      <p:sp>
        <p:nvSpPr>
          <p:cNvPr id="4" name="Text 2"/>
          <p:cNvSpPr txBox="1"/>
          <p:nvPr/>
        </p:nvSpPr>
        <p:spPr>
          <a:xfrm>
            <a:off x="548640" y="1417320"/>
            <a:ext cx="11064240" cy="457200"/>
          </a:xfrm>
          <a:prstGeom prst="rect">
            <a:avLst/>
          </a:prstGeom>
          <a:noFill/>
          <a:ln/>
        </p:spPr>
        <p:txBody>
          <a:bodyPr wrap="square" lIns="0" tIns="0" rIns="0" bIns="0" rtlCol="0" anchor="ctr"/>
          <a:lstStyle/>
          <a:p>
            <a:pPr indent="0" marL="0">
              <a:lnSpc>
                <a:spcPct val="120000"/>
              </a:lnSpc>
              <a:buNone/>
            </a:pPr>
            <a:r>
              <a:rPr lang="en-US" sz="1300" dirty="0">
                <a:solidFill>
                  <a:srgbClr val="33344A"/>
                </a:solidFill>
                <a:latin typeface="Calibri" pitchFamily="34" charset="0"/>
                <a:ea typeface="Calibri" pitchFamily="34" charset="-122"/>
                <a:cs typeface="Calibri" pitchFamily="34" charset="-120"/>
              </a:rPr>
              <a:t>A frequent interviewer probe: “if A is a control-group customer, does A ever touch the treatment-side model?” Yes and no — at two different stages.</a:t>
            </a:r>
            <a:endParaRPr lang="en-US" sz="1300" dirty="0"/>
          </a:p>
        </p:txBody>
      </p:sp>
      <p:sp>
        <p:nvSpPr>
          <p:cNvPr id="5" name="Shape 3"/>
          <p:cNvSpPr/>
          <p:nvPr/>
        </p:nvSpPr>
        <p:spPr>
          <a:xfrm>
            <a:off x="548640" y="2057400"/>
            <a:ext cx="5349240" cy="2331720"/>
          </a:xfrm>
          <a:prstGeom prst="roundRect">
            <a:avLst>
              <a:gd name="adj" fmla="val 3922"/>
            </a:avLst>
          </a:prstGeom>
          <a:solidFill>
            <a:srgbClr val="FBEAE8"/>
          </a:solidFill>
          <a:ln w="16510">
            <a:solidFill>
              <a:srgbClr val="B03A2E"/>
            </a:solidFill>
            <a:prstDash val="solid"/>
          </a:ln>
        </p:spPr>
      </p:sp>
      <p:sp>
        <p:nvSpPr>
          <p:cNvPr id="6" name="Text 4"/>
          <p:cNvSpPr txBox="1"/>
          <p:nvPr/>
        </p:nvSpPr>
        <p:spPr>
          <a:xfrm>
            <a:off x="822960" y="2258568"/>
            <a:ext cx="4800600" cy="365760"/>
          </a:xfrm>
          <a:prstGeom prst="rect">
            <a:avLst/>
          </a:prstGeom>
          <a:noFill/>
          <a:ln/>
        </p:spPr>
        <p:txBody>
          <a:bodyPr wrap="square" lIns="0" tIns="0" rIns="0" bIns="0" rtlCol="0" anchor="ctr"/>
          <a:lstStyle/>
          <a:p>
            <a:pPr indent="0" marL="0">
              <a:buNone/>
            </a:pPr>
            <a:r>
              <a:rPr lang="en-US" sz="1600" b="1" dirty="0">
                <a:solidFill>
                  <a:srgbClr val="B03A2E"/>
                </a:solidFill>
                <a:latin typeface="Cambria" pitchFamily="34" charset="0"/>
                <a:ea typeface="Cambria" pitchFamily="34" charset="-122"/>
                <a:cs typeface="Cambria" pitchFamily="34" charset="-120"/>
              </a:rPr>
              <a:t>✗  During TRAINING</a:t>
            </a:r>
            <a:endParaRPr lang="en-US" sz="1600" dirty="0"/>
          </a:p>
        </p:txBody>
      </p:sp>
      <p:sp>
        <p:nvSpPr>
          <p:cNvPr id="7" name="Text 5"/>
          <p:cNvSpPr txBox="1"/>
          <p:nvPr/>
        </p:nvSpPr>
        <p:spPr>
          <a:xfrm>
            <a:off x="822960" y="2743200"/>
            <a:ext cx="4800600" cy="1417320"/>
          </a:xfrm>
          <a:prstGeom prst="rect">
            <a:avLst/>
          </a:prstGeom>
          <a:noFill/>
          <a:ln/>
        </p:spPr>
        <p:txBody>
          <a:bodyPr wrap="square" lIns="0" tIns="0" rIns="0" bIns="0" rtlCol="0" anchor="ctr"/>
          <a:lstStyle/>
          <a:p>
            <a:pPr indent="0" marL="0">
              <a:lnSpc>
                <a:spcPct val="125000"/>
              </a:lnSpc>
              <a:buNone/>
            </a:pPr>
            <a:r>
              <a:rPr lang="en-US" sz="1250" dirty="0">
                <a:solidFill>
                  <a:srgbClr val="33344A"/>
                </a:solidFill>
                <a:latin typeface="Calibri" pitchFamily="34" charset="0"/>
                <a:ea typeface="Calibri" pitchFamily="34" charset="-122"/>
                <a:cs typeface="Calibri" pitchFamily="34" charset="-120"/>
              </a:rPr>
              <a:t>A is control, so A's real Y and its counterfactual μ̂₁(A) build a control-side pseudo effect. That label trains effect model C only. A never contributes a label to effect model T's training set.</a:t>
            </a:r>
            <a:endParaRPr lang="en-US" sz="1250" dirty="0"/>
          </a:p>
        </p:txBody>
      </p:sp>
      <p:sp>
        <p:nvSpPr>
          <p:cNvPr id="8" name="Shape 6"/>
          <p:cNvSpPr/>
          <p:nvPr/>
        </p:nvSpPr>
        <p:spPr>
          <a:xfrm>
            <a:off x="6263640" y="2057400"/>
            <a:ext cx="5349240" cy="2331720"/>
          </a:xfrm>
          <a:prstGeom prst="roundRect">
            <a:avLst>
              <a:gd name="adj" fmla="val 3922"/>
            </a:avLst>
          </a:prstGeom>
          <a:solidFill>
            <a:srgbClr val="E4F3EC"/>
          </a:solidFill>
          <a:ln w="16510">
            <a:solidFill>
              <a:srgbClr val="1B7A5A"/>
            </a:solidFill>
            <a:prstDash val="solid"/>
          </a:ln>
        </p:spPr>
      </p:sp>
      <p:sp>
        <p:nvSpPr>
          <p:cNvPr id="9" name="Text 7"/>
          <p:cNvSpPr txBox="1"/>
          <p:nvPr/>
        </p:nvSpPr>
        <p:spPr>
          <a:xfrm>
            <a:off x="6537960" y="2258568"/>
            <a:ext cx="4800600" cy="365760"/>
          </a:xfrm>
          <a:prstGeom prst="rect">
            <a:avLst/>
          </a:prstGeom>
          <a:noFill/>
          <a:ln/>
        </p:spPr>
        <p:txBody>
          <a:bodyPr wrap="square" lIns="0" tIns="0" rIns="0" bIns="0" rtlCol="0" anchor="ctr"/>
          <a:lstStyle/>
          <a:p>
            <a:pPr indent="0" marL="0">
              <a:buNone/>
            </a:pPr>
            <a:r>
              <a:rPr lang="en-US" sz="1600" b="1" dirty="0">
                <a:solidFill>
                  <a:srgbClr val="1B7A5A"/>
                </a:solidFill>
                <a:latin typeface="Cambria" pitchFamily="34" charset="0"/>
                <a:ea typeface="Cambria" pitchFamily="34" charset="-122"/>
                <a:cs typeface="Cambria" pitchFamily="34" charset="-120"/>
              </a:rPr>
              <a:t>✓  During SCORING</a:t>
            </a:r>
            <a:endParaRPr lang="en-US" sz="1600" dirty="0"/>
          </a:p>
        </p:txBody>
      </p:sp>
      <p:sp>
        <p:nvSpPr>
          <p:cNvPr id="10" name="Text 8"/>
          <p:cNvSpPr txBox="1"/>
          <p:nvPr/>
        </p:nvSpPr>
        <p:spPr>
          <a:xfrm>
            <a:off x="6537960" y="2743200"/>
            <a:ext cx="4800600" cy="1417320"/>
          </a:xfrm>
          <a:prstGeom prst="rect">
            <a:avLst/>
          </a:prstGeom>
          <a:noFill/>
          <a:ln/>
        </p:spPr>
        <p:txBody>
          <a:bodyPr wrap="square" lIns="0" tIns="0" rIns="0" bIns="0" rtlCol="0" anchor="ctr"/>
          <a:lstStyle/>
          <a:p>
            <a:pPr indent="0" marL="0">
              <a:lnSpc>
                <a:spcPct val="125000"/>
              </a:lnSpc>
              <a:buNone/>
            </a:pPr>
            <a:r>
              <a:rPr lang="en-US" sz="1250" dirty="0">
                <a:solidFill>
                  <a:srgbClr val="33344A"/>
                </a:solidFill>
                <a:latin typeface="Calibri" pitchFamily="34" charset="0"/>
                <a:ea typeface="Calibri" pitchFamily="34" charset="-122"/>
                <a:cs typeface="Calibri" pitchFamily="34" charset="-120"/>
              </a:rPr>
              <a:t>Once BOTH effect models are trained, they're just functions of X. Effect model T can score A too — it was never told A's outcome, but it doesn't need to have been. A gets both τC(A) and τT(A), fused like everyone else.</a:t>
            </a:r>
            <a:endParaRPr lang="en-US" sz="1250" dirty="0"/>
          </a:p>
        </p:txBody>
      </p:sp>
      <p:sp>
        <p:nvSpPr>
          <p:cNvPr id="11" name="Shape 9"/>
          <p:cNvSpPr/>
          <p:nvPr/>
        </p:nvSpPr>
        <p:spPr>
          <a:xfrm>
            <a:off x="548640" y="4709160"/>
            <a:ext cx="11064240" cy="868680"/>
          </a:xfrm>
          <a:prstGeom prst="roundRect">
            <a:avLst>
              <a:gd name="adj" fmla="val 6316"/>
            </a:avLst>
          </a:prstGeom>
          <a:solidFill>
            <a:srgbClr val="141B4D"/>
          </a:solidFill>
          <a:ln/>
        </p:spPr>
      </p:sp>
      <p:sp>
        <p:nvSpPr>
          <p:cNvPr id="12" name="Text 10"/>
          <p:cNvSpPr txBox="1"/>
          <p:nvPr/>
        </p:nvSpPr>
        <p:spPr>
          <a:xfrm>
            <a:off x="822960" y="4709160"/>
            <a:ext cx="10515600" cy="868680"/>
          </a:xfrm>
          <a:prstGeom prst="rect">
            <a:avLst/>
          </a:prstGeom>
          <a:noFill/>
          <a:ln/>
        </p:spPr>
        <p:txBody>
          <a:bodyPr wrap="square" lIns="0" tIns="0" rIns="0" bIns="0" rtlCol="0" anchor="ctr"/>
          <a:lstStyle/>
          <a:p>
            <a:pPr indent="0" marL="0">
              <a:lnSpc>
                <a:spcPct val="120000"/>
              </a:lnSpc>
              <a:buNone/>
            </a:pPr>
            <a:r>
              <a:rPr lang="en-US" sz="1250" b="1" dirty="0">
                <a:solidFill>
                  <a:srgbClr val="B8892B"/>
                </a:solidFill>
                <a:latin typeface="Calibri" pitchFamily="34" charset="0"/>
                <a:ea typeface="Calibri" pitchFamily="34" charset="-122"/>
                <a:cs typeface="Calibri" pitchFamily="34" charset="-120"/>
              </a:rPr>
              <a:t>Why this matters:  </a:t>
            </a:r>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it's what makes X-Learner one unified scorer instead of two disconnected ones — every customer, regardless of which arm they were actually in, gets a single fused uplift score at the end.</a:t>
            </a:r>
            <a:endParaRPr lang="en-US" sz="1250" dirty="0"/>
          </a:p>
        </p:txBody>
      </p:sp>
      <p:sp>
        <p:nvSpPr>
          <p:cNvPr id="13" name="Text 11"/>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14"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LAYER 3 OF 4</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Effect Models</a:t>
            </a:r>
            <a:endParaRPr lang="en-US" sz="3000" dirty="0"/>
          </a:p>
        </p:txBody>
      </p:sp>
      <p:sp>
        <p:nvSpPr>
          <p:cNvPr id="4" name="Text 2"/>
          <p:cNvSpPr txBox="1"/>
          <p:nvPr/>
        </p:nvSpPr>
        <p:spPr>
          <a:xfrm>
            <a:off x="548640" y="1417320"/>
            <a:ext cx="11064240" cy="411480"/>
          </a:xfrm>
          <a:prstGeom prst="rect">
            <a:avLst/>
          </a:prstGeom>
          <a:noFill/>
          <a:ln/>
        </p:spPr>
        <p:txBody>
          <a:bodyPr wrap="square" lIns="0" tIns="0" rIns="0" bIns="0" rtlCol="0" anchor="ctr"/>
          <a:lstStyle/>
          <a:p>
            <a:pPr indent="0" marL="0">
              <a:buNone/>
            </a:pPr>
            <a:r>
              <a:rPr lang="en-US" sz="1300" dirty="0">
                <a:solidFill>
                  <a:srgbClr val="33344A"/>
                </a:solidFill>
                <a:latin typeface="Calibri" pitchFamily="34" charset="0"/>
                <a:ea typeface="Calibri" pitchFamily="34" charset="-122"/>
                <a:cs typeface="Calibri" pitchFamily="34" charset="-120"/>
              </a:rPr>
              <a:t>The labels are now continuous effect values, not 0/1 — so both effect models are regressors, not classifiers.</a:t>
            </a:r>
            <a:endParaRPr lang="en-US" sz="1300" dirty="0"/>
          </a:p>
        </p:txBody>
      </p:sp>
      <p:sp>
        <p:nvSpPr>
          <p:cNvPr id="5" name="Shape 3"/>
          <p:cNvSpPr/>
          <p:nvPr/>
        </p:nvSpPr>
        <p:spPr>
          <a:xfrm>
            <a:off x="548640" y="1965960"/>
            <a:ext cx="5349240" cy="1417320"/>
          </a:xfrm>
          <a:prstGeom prst="roundRect">
            <a:avLst>
              <a:gd name="adj" fmla="val 6452"/>
            </a:avLst>
          </a:prstGeom>
          <a:solidFill>
            <a:srgbClr val="E4F3EC"/>
          </a:solidFill>
          <a:ln/>
        </p:spPr>
      </p:sp>
      <p:sp>
        <p:nvSpPr>
          <p:cNvPr id="6" name="Text 4"/>
          <p:cNvSpPr txBox="1"/>
          <p:nvPr/>
        </p:nvSpPr>
        <p:spPr>
          <a:xfrm>
            <a:off x="822960" y="2130552"/>
            <a:ext cx="4800600" cy="365760"/>
          </a:xfrm>
          <a:prstGeom prst="rect">
            <a:avLst/>
          </a:prstGeom>
          <a:noFill/>
          <a:ln/>
        </p:spPr>
        <p:txBody>
          <a:bodyPr wrap="square" lIns="0" tIns="0" rIns="0" bIns="0" rtlCol="0" anchor="ctr"/>
          <a:lstStyle/>
          <a:p>
            <a:pPr indent="0" marL="0">
              <a:buNone/>
            </a:pPr>
            <a:r>
              <a:rPr lang="en-US" sz="1600" b="1" dirty="0">
                <a:solidFill>
                  <a:srgbClr val="1B7A5A"/>
                </a:solidFill>
                <a:latin typeface="Cambria" pitchFamily="34" charset="0"/>
                <a:ea typeface="Cambria" pitchFamily="34" charset="-122"/>
                <a:cs typeface="Cambria" pitchFamily="34" charset="-120"/>
              </a:rPr>
              <a:t>Effect Model C</a:t>
            </a:r>
            <a:endParaRPr lang="en-US" sz="1600" dirty="0"/>
          </a:p>
        </p:txBody>
      </p:sp>
      <p:sp>
        <p:nvSpPr>
          <p:cNvPr id="7" name="Text 5"/>
          <p:cNvSpPr txBox="1"/>
          <p:nvPr/>
        </p:nvSpPr>
        <p:spPr>
          <a:xfrm>
            <a:off x="822960" y="2532888"/>
            <a:ext cx="4800600" cy="731520"/>
          </a:xfrm>
          <a:prstGeom prst="rect">
            <a:avLst/>
          </a:prstGeom>
          <a:noFill/>
          <a:ln/>
        </p:spPr>
        <p:txBody>
          <a:bodyPr wrap="square" lIns="0" tIns="0" rIns="0" bIns="0" rtlCol="0" anchor="ctr"/>
          <a:lstStyle/>
          <a:p>
            <a:pPr indent="0" marL="0">
              <a:lnSpc>
                <a:spcPct val="120000"/>
              </a:lnSpc>
              <a:buNone/>
            </a:pPr>
            <a:r>
              <a:rPr lang="en-US" sz="1250" dirty="0">
                <a:solidFill>
                  <a:srgbClr val="33344A"/>
                </a:solidFill>
                <a:latin typeface="Calibri" pitchFamily="34" charset="0"/>
                <a:ea typeface="Calibri" pitchFamily="34" charset="-122"/>
                <a:cs typeface="Calibri" pitchFamily="34" charset="-120"/>
              </a:rPr>
              <a:t>Input X → predicts τC(x). Learned the pattern in the control-side pseudo effects.</a:t>
            </a:r>
            <a:endParaRPr lang="en-US" sz="1250" dirty="0"/>
          </a:p>
        </p:txBody>
      </p:sp>
      <p:sp>
        <p:nvSpPr>
          <p:cNvPr id="8" name="Shape 6"/>
          <p:cNvSpPr/>
          <p:nvPr/>
        </p:nvSpPr>
        <p:spPr>
          <a:xfrm>
            <a:off x="6263640" y="1965960"/>
            <a:ext cx="5349240" cy="1417320"/>
          </a:xfrm>
          <a:prstGeom prst="roundRect">
            <a:avLst>
              <a:gd name="adj" fmla="val 6452"/>
            </a:avLst>
          </a:prstGeom>
          <a:solidFill>
            <a:srgbClr val="FBF3E1"/>
          </a:solidFill>
          <a:ln/>
        </p:spPr>
      </p:sp>
      <p:sp>
        <p:nvSpPr>
          <p:cNvPr id="9" name="Text 7"/>
          <p:cNvSpPr txBox="1"/>
          <p:nvPr/>
        </p:nvSpPr>
        <p:spPr>
          <a:xfrm>
            <a:off x="6537960" y="2130552"/>
            <a:ext cx="4800600" cy="365760"/>
          </a:xfrm>
          <a:prstGeom prst="rect">
            <a:avLst/>
          </a:prstGeom>
          <a:noFill/>
          <a:ln/>
        </p:spPr>
        <p:txBody>
          <a:bodyPr wrap="square" lIns="0" tIns="0" rIns="0" bIns="0" rtlCol="0" anchor="ctr"/>
          <a:lstStyle/>
          <a:p>
            <a:pPr indent="0" marL="0">
              <a:buNone/>
            </a:pPr>
            <a:r>
              <a:rPr lang="en-US" sz="1600" b="1" dirty="0">
                <a:solidFill>
                  <a:srgbClr val="B8892B"/>
                </a:solidFill>
                <a:latin typeface="Cambria" pitchFamily="34" charset="0"/>
                <a:ea typeface="Cambria" pitchFamily="34" charset="-122"/>
                <a:cs typeface="Cambria" pitchFamily="34" charset="-120"/>
              </a:rPr>
              <a:t>Effect Model T</a:t>
            </a:r>
            <a:endParaRPr lang="en-US" sz="1600" dirty="0"/>
          </a:p>
        </p:txBody>
      </p:sp>
      <p:sp>
        <p:nvSpPr>
          <p:cNvPr id="10" name="Text 8"/>
          <p:cNvSpPr txBox="1"/>
          <p:nvPr/>
        </p:nvSpPr>
        <p:spPr>
          <a:xfrm>
            <a:off x="6537960" y="2532888"/>
            <a:ext cx="4800600" cy="731520"/>
          </a:xfrm>
          <a:prstGeom prst="rect">
            <a:avLst/>
          </a:prstGeom>
          <a:noFill/>
          <a:ln/>
        </p:spPr>
        <p:txBody>
          <a:bodyPr wrap="square" lIns="0" tIns="0" rIns="0" bIns="0" rtlCol="0" anchor="ctr"/>
          <a:lstStyle/>
          <a:p>
            <a:pPr indent="0" marL="0">
              <a:lnSpc>
                <a:spcPct val="120000"/>
              </a:lnSpc>
              <a:buNone/>
            </a:pPr>
            <a:r>
              <a:rPr lang="en-US" sz="1250" dirty="0">
                <a:solidFill>
                  <a:srgbClr val="33344A"/>
                </a:solidFill>
                <a:latin typeface="Calibri" pitchFamily="34" charset="0"/>
                <a:ea typeface="Calibri" pitchFamily="34" charset="-122"/>
                <a:cs typeface="Calibri" pitchFamily="34" charset="-120"/>
              </a:rPr>
              <a:t>Input X → predicts τT(x). Learned the pattern in the treatment-side pseudo effects.</a:t>
            </a:r>
            <a:endParaRPr lang="en-US" sz="1250" dirty="0"/>
          </a:p>
        </p:txBody>
      </p:sp>
      <p:sp>
        <p:nvSpPr>
          <p:cNvPr id="11" name="Shape 9"/>
          <p:cNvSpPr/>
          <p:nvPr/>
        </p:nvSpPr>
        <p:spPr>
          <a:xfrm>
            <a:off x="548640" y="3657600"/>
            <a:ext cx="11064240" cy="502920"/>
          </a:xfrm>
          <a:prstGeom prst="roundRect">
            <a:avLst>
              <a:gd name="adj" fmla="val 10909"/>
            </a:avLst>
          </a:prstGeom>
          <a:solidFill>
            <a:srgbClr val="EAF0FC"/>
          </a:solidFill>
          <a:ln/>
        </p:spPr>
      </p:sp>
      <p:sp>
        <p:nvSpPr>
          <p:cNvPr id="12" name="Text 10"/>
          <p:cNvSpPr txBox="1"/>
          <p:nvPr/>
        </p:nvSpPr>
        <p:spPr>
          <a:xfrm>
            <a:off x="777240" y="3657600"/>
            <a:ext cx="10607040" cy="50292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What they output: “how big is this customer's incremental effect” — not “how likely are they to respond.”</a:t>
            </a:r>
            <a:endParaRPr lang="en-US" sz="1250" dirty="0"/>
          </a:p>
        </p:txBody>
      </p:sp>
      <p:sp>
        <p:nvSpPr>
          <p:cNvPr id="13" name="Text 11"/>
          <p:cNvSpPr txBox="1"/>
          <p:nvPr/>
        </p:nvSpPr>
        <p:spPr>
          <a:xfrm>
            <a:off x="548640" y="4389120"/>
            <a:ext cx="110642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Worked example — a new customer, G, scored by both:</a:t>
            </a:r>
            <a:endParaRPr lang="en-US" sz="1350" dirty="0"/>
          </a:p>
        </p:txBody>
      </p:sp>
      <p:sp>
        <p:nvSpPr>
          <p:cNvPr id="14" name="Shape 12"/>
          <p:cNvSpPr/>
          <p:nvPr/>
        </p:nvSpPr>
        <p:spPr>
          <a:xfrm>
            <a:off x="3352648" y="4892040"/>
            <a:ext cx="2468880" cy="1188720"/>
          </a:xfrm>
          <a:prstGeom prst="roundRect">
            <a:avLst>
              <a:gd name="adj" fmla="val 6154"/>
            </a:avLst>
          </a:prstGeom>
          <a:solidFill>
            <a:srgbClr val="1B7A5A"/>
          </a:solidFill>
          <a:ln/>
        </p:spPr>
      </p:sp>
      <p:sp>
        <p:nvSpPr>
          <p:cNvPr id="15" name="Text 13"/>
          <p:cNvSpPr txBox="1"/>
          <p:nvPr/>
        </p:nvSpPr>
        <p:spPr>
          <a:xfrm>
            <a:off x="3352648" y="5029200"/>
            <a:ext cx="24688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τC(G)</a:t>
            </a:r>
            <a:endParaRPr lang="en-US" sz="1300" dirty="0"/>
          </a:p>
        </p:txBody>
      </p:sp>
      <p:sp>
        <p:nvSpPr>
          <p:cNvPr id="16" name="Text 14"/>
          <p:cNvSpPr txBox="1"/>
          <p:nvPr/>
        </p:nvSpPr>
        <p:spPr>
          <a:xfrm>
            <a:off x="3352648" y="5349240"/>
            <a:ext cx="246888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0.12</a:t>
            </a:r>
            <a:endParaRPr lang="en-US" sz="3200" dirty="0"/>
          </a:p>
        </p:txBody>
      </p:sp>
      <p:sp>
        <p:nvSpPr>
          <p:cNvPr id="17" name="Shape 15"/>
          <p:cNvSpPr/>
          <p:nvPr/>
        </p:nvSpPr>
        <p:spPr>
          <a:xfrm>
            <a:off x="6370168" y="4892040"/>
            <a:ext cx="2468880" cy="1188720"/>
          </a:xfrm>
          <a:prstGeom prst="roundRect">
            <a:avLst>
              <a:gd name="adj" fmla="val 6154"/>
            </a:avLst>
          </a:prstGeom>
          <a:solidFill>
            <a:srgbClr val="B8892B"/>
          </a:solidFill>
          <a:ln/>
        </p:spPr>
      </p:sp>
      <p:sp>
        <p:nvSpPr>
          <p:cNvPr id="18" name="Text 16"/>
          <p:cNvSpPr txBox="1"/>
          <p:nvPr/>
        </p:nvSpPr>
        <p:spPr>
          <a:xfrm>
            <a:off x="6370168" y="5029200"/>
            <a:ext cx="24688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τT(G)</a:t>
            </a:r>
            <a:endParaRPr lang="en-US" sz="1300" dirty="0"/>
          </a:p>
        </p:txBody>
      </p:sp>
      <p:sp>
        <p:nvSpPr>
          <p:cNvPr id="19" name="Text 17"/>
          <p:cNvSpPr txBox="1"/>
          <p:nvPr/>
        </p:nvSpPr>
        <p:spPr>
          <a:xfrm>
            <a:off x="6370168" y="5349240"/>
            <a:ext cx="246888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0.28</a:t>
            </a:r>
            <a:endParaRPr lang="en-US" sz="3200" dirty="0"/>
          </a:p>
        </p:txBody>
      </p:sp>
      <p:sp>
        <p:nvSpPr>
          <p:cNvPr id="20" name="Text 18"/>
          <p:cNvSpPr txBox="1"/>
          <p:nvPr/>
        </p:nvSpPr>
        <p:spPr>
          <a:xfrm>
            <a:off x="548640" y="6217920"/>
            <a:ext cx="1106424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Two different estimates of the same customer's uplift — neither is the final answer yet.</a:t>
            </a:r>
            <a:endParaRPr lang="en-US" sz="1200" dirty="0"/>
          </a:p>
        </p:txBody>
      </p:sp>
      <p:sp>
        <p:nvSpPr>
          <p:cNvPr id="21" name="Text 1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22" name="Text 2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LAYER 4 OF 4</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Weighted Fusion</a:t>
            </a:r>
            <a:endParaRPr lang="en-US" sz="3000" dirty="0"/>
          </a:p>
        </p:txBody>
      </p:sp>
      <p:sp>
        <p:nvSpPr>
          <p:cNvPr id="4" name="Shape 2"/>
          <p:cNvSpPr/>
          <p:nvPr/>
        </p:nvSpPr>
        <p:spPr>
          <a:xfrm>
            <a:off x="548640" y="1463040"/>
            <a:ext cx="11064240" cy="685800"/>
          </a:xfrm>
          <a:prstGeom prst="roundRect">
            <a:avLst>
              <a:gd name="adj" fmla="val 10667"/>
            </a:avLst>
          </a:prstGeom>
          <a:solidFill>
            <a:srgbClr val="1E2761"/>
          </a:solidFill>
          <a:ln/>
        </p:spPr>
      </p:sp>
      <p:sp>
        <p:nvSpPr>
          <p:cNvPr id="5" name="Text 3"/>
          <p:cNvSpPr txBox="1"/>
          <p:nvPr/>
        </p:nvSpPr>
        <p:spPr>
          <a:xfrm>
            <a:off x="777240" y="1463040"/>
            <a:ext cx="1060704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τ(x) = g(x)·τT(x) + (1 − g(x))·τC(x)</a:t>
            </a:r>
            <a:endParaRPr lang="en-US" sz="2000" dirty="0"/>
          </a:p>
        </p:txBody>
      </p:sp>
      <p:sp>
        <p:nvSpPr>
          <p:cNvPr id="6" name="Text 4"/>
          <p:cNvSpPr txBox="1"/>
          <p:nvPr/>
        </p:nvSpPr>
        <p:spPr>
          <a:xfrm>
            <a:off x="548640" y="2286000"/>
            <a:ext cx="11064240" cy="41148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g(x) is the propensity score — how much to trust the treatment-side estimate vs. the control-side one for this customer.</a:t>
            </a:r>
            <a:endParaRPr lang="en-US" sz="1250" dirty="0"/>
          </a:p>
        </p:txBody>
      </p:sp>
      <p:sp>
        <p:nvSpPr>
          <p:cNvPr id="7" name="Text 5"/>
          <p:cNvSpPr txBox="1"/>
          <p:nvPr/>
        </p:nvSpPr>
        <p:spPr>
          <a:xfrm>
            <a:off x="548640" y="2880360"/>
            <a:ext cx="110642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Worked example, continuing with customer G:</a:t>
            </a:r>
            <a:endParaRPr lang="en-US" sz="1350" dirty="0"/>
          </a:p>
        </p:txBody>
      </p:sp>
      <p:sp>
        <p:nvSpPr>
          <p:cNvPr id="8" name="Shape 6"/>
          <p:cNvSpPr/>
          <p:nvPr/>
        </p:nvSpPr>
        <p:spPr>
          <a:xfrm>
            <a:off x="548640" y="3337560"/>
            <a:ext cx="8138160" cy="566928"/>
          </a:xfrm>
          <a:prstGeom prst="roundRect">
            <a:avLst>
              <a:gd name="adj" fmla="val 9677"/>
            </a:avLst>
          </a:prstGeom>
          <a:solidFill>
            <a:srgbClr val="FBF3E1"/>
          </a:solidFill>
          <a:ln/>
        </p:spPr>
      </p:sp>
      <p:sp>
        <p:nvSpPr>
          <p:cNvPr id="9" name="Text 7"/>
          <p:cNvSpPr txBox="1"/>
          <p:nvPr/>
        </p:nvSpPr>
        <p:spPr>
          <a:xfrm>
            <a:off x="777240" y="3337560"/>
            <a:ext cx="1188720" cy="566928"/>
          </a:xfrm>
          <a:prstGeom prst="rect">
            <a:avLst/>
          </a:prstGeom>
          <a:noFill/>
          <a:ln/>
        </p:spPr>
        <p:txBody>
          <a:bodyPr wrap="square" lIns="0" tIns="0" rIns="0" bIns="0" rtlCol="0" anchor="ctr"/>
          <a:lstStyle/>
          <a:p>
            <a:pPr indent="0" marL="0">
              <a:buNone/>
            </a:pPr>
            <a:r>
              <a:rPr lang="en-US" sz="1500" b="1" dirty="0">
                <a:solidFill>
                  <a:srgbClr val="B8892B"/>
                </a:solidFill>
                <a:latin typeface="Courier New" pitchFamily="34" charset="0"/>
                <a:ea typeface="Courier New" pitchFamily="34" charset="-122"/>
                <a:cs typeface="Courier New" pitchFamily="34" charset="-120"/>
              </a:rPr>
              <a:t>τT(G)</a:t>
            </a:r>
            <a:endParaRPr lang="en-US" sz="1500" dirty="0"/>
          </a:p>
        </p:txBody>
      </p:sp>
      <p:sp>
        <p:nvSpPr>
          <p:cNvPr id="10" name="Text 8"/>
          <p:cNvSpPr txBox="1"/>
          <p:nvPr/>
        </p:nvSpPr>
        <p:spPr>
          <a:xfrm>
            <a:off x="1965960" y="3337560"/>
            <a:ext cx="1005840" cy="566928"/>
          </a:xfrm>
          <a:prstGeom prst="rect">
            <a:avLst/>
          </a:prstGeom>
          <a:noFill/>
          <a:ln/>
        </p:spPr>
        <p:txBody>
          <a:bodyPr wrap="square" lIns="0" tIns="0" rIns="0" bIns="0" rtlCol="0" anchor="ctr"/>
          <a:lstStyle/>
          <a:p>
            <a:pPr indent="0" marL="0">
              <a:buNone/>
            </a:pPr>
            <a:r>
              <a:rPr lang="en-US" sz="1500" dirty="0">
                <a:solidFill>
                  <a:srgbClr val="33344A"/>
                </a:solidFill>
                <a:latin typeface="Courier New" pitchFamily="34" charset="0"/>
                <a:ea typeface="Courier New" pitchFamily="34" charset="-122"/>
                <a:cs typeface="Courier New" pitchFamily="34" charset="-120"/>
              </a:rPr>
              <a:t>0.28</a:t>
            </a:r>
            <a:endParaRPr lang="en-US" sz="1500" dirty="0"/>
          </a:p>
        </p:txBody>
      </p:sp>
      <p:sp>
        <p:nvSpPr>
          <p:cNvPr id="11" name="Text 9"/>
          <p:cNvSpPr txBox="1"/>
          <p:nvPr/>
        </p:nvSpPr>
        <p:spPr>
          <a:xfrm>
            <a:off x="2971800" y="3337560"/>
            <a:ext cx="365760" cy="566928"/>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3337560" y="3337560"/>
            <a:ext cx="1737360" cy="566928"/>
          </a:xfrm>
          <a:prstGeom prst="rect">
            <a:avLst/>
          </a:prstGeom>
          <a:noFill/>
          <a:ln/>
        </p:spPr>
        <p:txBody>
          <a:bodyPr wrap="square" lIns="0" tIns="0" rIns="0" bIns="0" rtlCol="0" anchor="ctr"/>
          <a:lstStyle/>
          <a:p>
            <a:pPr indent="0" marL="0">
              <a:buNone/>
            </a:pPr>
            <a:r>
              <a:rPr lang="en-US" sz="1500" b="1" dirty="0">
                <a:solidFill>
                  <a:srgbClr val="33344A"/>
                </a:solidFill>
                <a:latin typeface="Courier New" pitchFamily="34" charset="0"/>
                <a:ea typeface="Courier New" pitchFamily="34" charset="-122"/>
                <a:cs typeface="Courier New" pitchFamily="34" charset="-120"/>
              </a:rPr>
              <a:t>g(G)</a:t>
            </a:r>
            <a:endParaRPr lang="en-US" sz="1500" dirty="0"/>
          </a:p>
        </p:txBody>
      </p:sp>
      <p:sp>
        <p:nvSpPr>
          <p:cNvPr id="13" name="Text 11"/>
          <p:cNvSpPr txBox="1"/>
          <p:nvPr/>
        </p:nvSpPr>
        <p:spPr>
          <a:xfrm>
            <a:off x="5074920" y="3337560"/>
            <a:ext cx="914400" cy="566928"/>
          </a:xfrm>
          <a:prstGeom prst="rect">
            <a:avLst/>
          </a:prstGeom>
          <a:noFill/>
          <a:ln/>
        </p:spPr>
        <p:txBody>
          <a:bodyPr wrap="square" lIns="0" tIns="0" rIns="0" bIns="0" rtlCol="0" anchor="ctr"/>
          <a:lstStyle/>
          <a:p>
            <a:pPr indent="0" marL="0">
              <a:buNone/>
            </a:pPr>
            <a:r>
              <a:rPr lang="en-US" sz="1500" dirty="0">
                <a:solidFill>
                  <a:srgbClr val="33344A"/>
                </a:solidFill>
                <a:latin typeface="Courier New" pitchFamily="34" charset="0"/>
                <a:ea typeface="Courier New" pitchFamily="34" charset="-122"/>
                <a:cs typeface="Courier New" pitchFamily="34" charset="-120"/>
              </a:rPr>
              <a:t>0.7</a:t>
            </a:r>
            <a:endParaRPr lang="en-US" sz="1500" dirty="0"/>
          </a:p>
        </p:txBody>
      </p:sp>
      <p:sp>
        <p:nvSpPr>
          <p:cNvPr id="14" name="Text 12"/>
          <p:cNvSpPr txBox="1"/>
          <p:nvPr/>
        </p:nvSpPr>
        <p:spPr>
          <a:xfrm>
            <a:off x="5989320" y="3337560"/>
            <a:ext cx="365760" cy="566928"/>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6355080" y="3337560"/>
            <a:ext cx="1280160" cy="56692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0.196</a:t>
            </a:r>
            <a:endParaRPr lang="en-US" sz="1500" dirty="0"/>
          </a:p>
        </p:txBody>
      </p:sp>
      <p:sp>
        <p:nvSpPr>
          <p:cNvPr id="16" name="Shape 14"/>
          <p:cNvSpPr/>
          <p:nvPr/>
        </p:nvSpPr>
        <p:spPr>
          <a:xfrm>
            <a:off x="548640" y="4041648"/>
            <a:ext cx="8138160" cy="566928"/>
          </a:xfrm>
          <a:prstGeom prst="roundRect">
            <a:avLst>
              <a:gd name="adj" fmla="val 9677"/>
            </a:avLst>
          </a:prstGeom>
          <a:solidFill>
            <a:srgbClr val="E4F3EC"/>
          </a:solidFill>
          <a:ln/>
        </p:spPr>
      </p:sp>
      <p:sp>
        <p:nvSpPr>
          <p:cNvPr id="17" name="Text 15"/>
          <p:cNvSpPr txBox="1"/>
          <p:nvPr/>
        </p:nvSpPr>
        <p:spPr>
          <a:xfrm>
            <a:off x="777240" y="4041648"/>
            <a:ext cx="1188720" cy="566928"/>
          </a:xfrm>
          <a:prstGeom prst="rect">
            <a:avLst/>
          </a:prstGeom>
          <a:noFill/>
          <a:ln/>
        </p:spPr>
        <p:txBody>
          <a:bodyPr wrap="square" lIns="0" tIns="0" rIns="0" bIns="0" rtlCol="0" anchor="ctr"/>
          <a:lstStyle/>
          <a:p>
            <a:pPr indent="0" marL="0">
              <a:buNone/>
            </a:pPr>
            <a:r>
              <a:rPr lang="en-US" sz="1500" b="1" dirty="0">
                <a:solidFill>
                  <a:srgbClr val="1B7A5A"/>
                </a:solidFill>
                <a:latin typeface="Courier New" pitchFamily="34" charset="0"/>
                <a:ea typeface="Courier New" pitchFamily="34" charset="-122"/>
                <a:cs typeface="Courier New" pitchFamily="34" charset="-120"/>
              </a:rPr>
              <a:t>τC(G)</a:t>
            </a:r>
            <a:endParaRPr lang="en-US" sz="1500" dirty="0"/>
          </a:p>
        </p:txBody>
      </p:sp>
      <p:sp>
        <p:nvSpPr>
          <p:cNvPr id="18" name="Text 16"/>
          <p:cNvSpPr txBox="1"/>
          <p:nvPr/>
        </p:nvSpPr>
        <p:spPr>
          <a:xfrm>
            <a:off x="1965960" y="4041648"/>
            <a:ext cx="1005840" cy="566928"/>
          </a:xfrm>
          <a:prstGeom prst="rect">
            <a:avLst/>
          </a:prstGeom>
          <a:noFill/>
          <a:ln/>
        </p:spPr>
        <p:txBody>
          <a:bodyPr wrap="square" lIns="0" tIns="0" rIns="0" bIns="0" rtlCol="0" anchor="ctr"/>
          <a:lstStyle/>
          <a:p>
            <a:pPr indent="0" marL="0">
              <a:buNone/>
            </a:pPr>
            <a:r>
              <a:rPr lang="en-US" sz="1500" dirty="0">
                <a:solidFill>
                  <a:srgbClr val="33344A"/>
                </a:solidFill>
                <a:latin typeface="Courier New" pitchFamily="34" charset="0"/>
                <a:ea typeface="Courier New" pitchFamily="34" charset="-122"/>
                <a:cs typeface="Courier New" pitchFamily="34" charset="-120"/>
              </a:rPr>
              <a:t>0.12</a:t>
            </a:r>
            <a:endParaRPr lang="en-US" sz="1500" dirty="0"/>
          </a:p>
        </p:txBody>
      </p:sp>
      <p:sp>
        <p:nvSpPr>
          <p:cNvPr id="19" name="Text 17"/>
          <p:cNvSpPr txBox="1"/>
          <p:nvPr/>
        </p:nvSpPr>
        <p:spPr>
          <a:xfrm>
            <a:off x="2971800" y="4041648"/>
            <a:ext cx="365760" cy="566928"/>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3337560" y="4041648"/>
            <a:ext cx="1737360" cy="566928"/>
          </a:xfrm>
          <a:prstGeom prst="rect">
            <a:avLst/>
          </a:prstGeom>
          <a:noFill/>
          <a:ln/>
        </p:spPr>
        <p:txBody>
          <a:bodyPr wrap="square" lIns="0" tIns="0" rIns="0" bIns="0" rtlCol="0" anchor="ctr"/>
          <a:lstStyle/>
          <a:p>
            <a:pPr indent="0" marL="0">
              <a:buNone/>
            </a:pPr>
            <a:r>
              <a:rPr lang="en-US" sz="1500" b="1" dirty="0">
                <a:solidFill>
                  <a:srgbClr val="33344A"/>
                </a:solidFill>
                <a:latin typeface="Courier New" pitchFamily="34" charset="0"/>
                <a:ea typeface="Courier New" pitchFamily="34" charset="-122"/>
                <a:cs typeface="Courier New" pitchFamily="34" charset="-120"/>
              </a:rPr>
              <a:t>1 − g(G)</a:t>
            </a:r>
            <a:endParaRPr lang="en-US" sz="1500" dirty="0"/>
          </a:p>
        </p:txBody>
      </p:sp>
      <p:sp>
        <p:nvSpPr>
          <p:cNvPr id="21" name="Text 19"/>
          <p:cNvSpPr txBox="1"/>
          <p:nvPr/>
        </p:nvSpPr>
        <p:spPr>
          <a:xfrm>
            <a:off x="5074920" y="4041648"/>
            <a:ext cx="914400" cy="566928"/>
          </a:xfrm>
          <a:prstGeom prst="rect">
            <a:avLst/>
          </a:prstGeom>
          <a:noFill/>
          <a:ln/>
        </p:spPr>
        <p:txBody>
          <a:bodyPr wrap="square" lIns="0" tIns="0" rIns="0" bIns="0" rtlCol="0" anchor="ctr"/>
          <a:lstStyle/>
          <a:p>
            <a:pPr indent="0" marL="0">
              <a:buNone/>
            </a:pPr>
            <a:r>
              <a:rPr lang="en-US" sz="1500" dirty="0">
                <a:solidFill>
                  <a:srgbClr val="33344A"/>
                </a:solidFill>
                <a:latin typeface="Courier New" pitchFamily="34" charset="0"/>
                <a:ea typeface="Courier New" pitchFamily="34" charset="-122"/>
                <a:cs typeface="Courier New" pitchFamily="34" charset="-120"/>
              </a:rPr>
              <a:t>0.3</a:t>
            </a:r>
            <a:endParaRPr lang="en-US" sz="1500" dirty="0"/>
          </a:p>
        </p:txBody>
      </p:sp>
      <p:sp>
        <p:nvSpPr>
          <p:cNvPr id="22" name="Text 20"/>
          <p:cNvSpPr txBox="1"/>
          <p:nvPr/>
        </p:nvSpPr>
        <p:spPr>
          <a:xfrm>
            <a:off x="5989320" y="4041648"/>
            <a:ext cx="365760" cy="566928"/>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6355080" y="4041648"/>
            <a:ext cx="1280160" cy="56692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0.036</a:t>
            </a:r>
            <a:endParaRPr lang="en-US" sz="1500" dirty="0"/>
          </a:p>
        </p:txBody>
      </p:sp>
      <p:sp>
        <p:nvSpPr>
          <p:cNvPr id="24" name="Shape 22"/>
          <p:cNvSpPr/>
          <p:nvPr/>
        </p:nvSpPr>
        <p:spPr>
          <a:xfrm>
            <a:off x="9006840" y="3246120"/>
            <a:ext cx="2606040" cy="1453896"/>
          </a:xfrm>
          <a:prstGeom prst="roundRect">
            <a:avLst>
              <a:gd name="adj" fmla="val 6289"/>
            </a:avLst>
          </a:prstGeom>
          <a:solidFill>
            <a:srgbClr val="1E2761"/>
          </a:solidFill>
          <a:ln/>
        </p:spPr>
      </p:sp>
      <p:sp>
        <p:nvSpPr>
          <p:cNvPr id="25" name="Text 23"/>
          <p:cNvSpPr txBox="1"/>
          <p:nvPr/>
        </p:nvSpPr>
        <p:spPr>
          <a:xfrm>
            <a:off x="9006840" y="3383280"/>
            <a:ext cx="2606040" cy="3200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τ(G) =</a:t>
            </a:r>
            <a:endParaRPr lang="en-US" sz="1300" dirty="0"/>
          </a:p>
        </p:txBody>
      </p:sp>
      <p:sp>
        <p:nvSpPr>
          <p:cNvPr id="26" name="Text 24"/>
          <p:cNvSpPr txBox="1"/>
          <p:nvPr/>
        </p:nvSpPr>
        <p:spPr>
          <a:xfrm>
            <a:off x="9006840" y="3657600"/>
            <a:ext cx="2606040" cy="685800"/>
          </a:xfrm>
          <a:prstGeom prst="rect">
            <a:avLst/>
          </a:prstGeom>
          <a:noFill/>
          <a:ln/>
        </p:spPr>
        <p:txBody>
          <a:bodyPr wrap="square" lIns="0" tIns="0" rIns="0" bIns="0" rtlCol="0" anchor="ctr"/>
          <a:lstStyle/>
          <a:p>
            <a:pPr algn="ctr" indent="0" marL="0">
              <a:buNone/>
            </a:pPr>
            <a:r>
              <a:rPr lang="en-US" sz="3600" b="1" dirty="0">
                <a:solidFill>
                  <a:srgbClr val="B8892B"/>
                </a:solidFill>
                <a:latin typeface="Cambria" pitchFamily="34" charset="0"/>
                <a:ea typeface="Cambria" pitchFamily="34" charset="-122"/>
                <a:cs typeface="Cambria" pitchFamily="34" charset="-120"/>
              </a:rPr>
              <a:t>0.232</a:t>
            </a:r>
            <a:endParaRPr lang="en-US" sz="3600" dirty="0"/>
          </a:p>
        </p:txBody>
      </p:sp>
      <p:sp>
        <p:nvSpPr>
          <p:cNvPr id="27" name="Text 25"/>
          <p:cNvSpPr txBox="1"/>
          <p:nvPr/>
        </p:nvSpPr>
        <p:spPr>
          <a:xfrm>
            <a:off x="9006840" y="4379976"/>
            <a:ext cx="2606040" cy="274320"/>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final uplift score</a:t>
            </a:r>
            <a:endParaRPr lang="en-US" sz="1050" dirty="0"/>
          </a:p>
        </p:txBody>
      </p:sp>
      <p:sp>
        <p:nvSpPr>
          <p:cNvPr id="28" name="Shape 26"/>
          <p:cNvSpPr/>
          <p:nvPr/>
        </p:nvSpPr>
        <p:spPr>
          <a:xfrm>
            <a:off x="548640" y="5074920"/>
            <a:ext cx="11064240" cy="777240"/>
          </a:xfrm>
          <a:prstGeom prst="roundRect">
            <a:avLst>
              <a:gd name="adj" fmla="val 7059"/>
            </a:avLst>
          </a:prstGeom>
          <a:solidFill>
            <a:srgbClr val="EAF0FC"/>
          </a:solidFill>
          <a:ln/>
        </p:spPr>
      </p:sp>
      <p:sp>
        <p:nvSpPr>
          <p:cNvPr id="29" name="Text 27"/>
          <p:cNvSpPr txBox="1"/>
          <p:nvPr/>
        </p:nvSpPr>
        <p:spPr>
          <a:xfrm>
            <a:off x="822960" y="5074920"/>
            <a:ext cx="10515600" cy="777240"/>
          </a:xfrm>
          <a:prstGeom prst="rect">
            <a:avLst/>
          </a:prstGeom>
          <a:noFill/>
          <a:ln/>
        </p:spPr>
        <p:txBody>
          <a:bodyPr wrap="square" lIns="0" tIns="0" rIns="0" bIns="0" rtlCol="0" anchor="ctr"/>
          <a:lstStyle/>
          <a:p>
            <a:pPr indent="0" marL="0">
              <a:lnSpc>
                <a:spcPct val="120000"/>
              </a:lnSpc>
              <a:buNone/>
            </a:pPr>
            <a:r>
              <a:rPr lang="en-US" sz="1300" dirty="0">
                <a:solidFill>
                  <a:srgbClr val="1E2761"/>
                </a:solidFill>
                <a:latin typeface="Calibri" pitchFamily="34" charset="0"/>
                <a:ea typeface="Calibri" pitchFamily="34" charset="-122"/>
                <a:cs typeface="Calibri" pitchFamily="34" charset="-120"/>
              </a:rPr>
              <a:t>0.196 + 0.036 = 0.232 — this single number is what gets ranked, thresholded, and acted on. Everything before this slide exists to produce it responsibly.</a:t>
            </a:r>
            <a:endParaRPr lang="en-US" sz="1300" dirty="0"/>
          </a:p>
        </p:txBody>
      </p:sp>
      <p:sp>
        <p:nvSpPr>
          <p:cNvPr id="30" name="Text 28"/>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31" name="Text 2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DOES IT ACTUALLY WORK?</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Validation, Two Ways</a:t>
            </a:r>
            <a:endParaRPr lang="en-US" sz="3000" dirty="0"/>
          </a:p>
        </p:txBody>
      </p:sp>
      <p:sp>
        <p:nvSpPr>
          <p:cNvPr id="4" name="Text 2"/>
          <p:cNvSpPr txBox="1"/>
          <p:nvPr/>
        </p:nvSpPr>
        <p:spPr>
          <a:xfrm>
            <a:off x="548640" y="1371600"/>
            <a:ext cx="11064240" cy="594360"/>
          </a:xfrm>
          <a:prstGeom prst="rect">
            <a:avLst/>
          </a:prstGeom>
          <a:noFill/>
          <a:ln/>
        </p:spPr>
        <p:txBody>
          <a:bodyPr wrap="square" lIns="0" tIns="0" rIns="0" bIns="0" rtlCol="0" anchor="ctr"/>
          <a:lstStyle/>
          <a:p>
            <a:pPr indent="0" marL="0">
              <a:lnSpc>
                <a:spcPct val="120000"/>
              </a:lnSpc>
              <a:buNone/>
            </a:pPr>
            <a:r>
              <a:rPr lang="en-US" sz="1250" dirty="0">
                <a:solidFill>
                  <a:srgbClr val="33344A"/>
                </a:solidFill>
                <a:latin typeface="Calibri" pitchFamily="34" charset="0"/>
                <a:ea typeface="Calibri" pitchFamily="34" charset="-122"/>
                <a:cs typeface="Calibri" pitchFamily="34" charset="-120"/>
              </a:rPr>
              <a:t>You never observe both outcomes for the same person, so uplift can't be checked row-by-row like a classifier. The standard tool is a Qini curve — rank by score, then compare treated vs. control response as you move down the ranking.</a:t>
            </a:r>
            <a:endParaRPr lang="en-US" sz="1250" dirty="0"/>
          </a:p>
        </p:txBody>
      </p:sp>
      <p:pic>
        <p:nvPicPr>
          <p:cNvPr id="5" name="Image 0" descr="qini_curve.png">    </p:cNvPr>
          <p:cNvPicPr>
            <a:picLocks noChangeAspect="1"/>
          </p:cNvPicPr>
          <p:nvPr/>
        </p:nvPicPr>
        <p:blipFill>
          <a:blip r:embed="rId1"/>
          <a:stretch>
            <a:fillRect/>
          </a:stretch>
        </p:blipFill>
        <p:spPr>
          <a:xfrm>
            <a:off x="548640" y="2057400"/>
            <a:ext cx="5943600" cy="4160520"/>
          </a:xfrm>
          <a:prstGeom prst="rect">
            <a:avLst/>
          </a:prstGeom>
        </p:spPr>
      </p:pic>
      <p:sp>
        <p:nvSpPr>
          <p:cNvPr id="6" name="Shape 3"/>
          <p:cNvSpPr/>
          <p:nvPr/>
        </p:nvSpPr>
        <p:spPr>
          <a:xfrm>
            <a:off x="548640" y="2057400"/>
            <a:ext cx="5943600" cy="4160520"/>
          </a:xfrm>
          <a:prstGeom prst="rect">
            <a:avLst/>
          </a:prstGeom>
          <a:ln w="12700">
            <a:solidFill>
              <a:srgbClr val="E4E7F0"/>
            </a:solidFill>
            <a:prstDash val="solid"/>
          </a:ln>
        </p:spPr>
      </p:sp>
      <p:sp>
        <p:nvSpPr>
          <p:cNvPr id="7" name="Shape 4"/>
          <p:cNvSpPr/>
          <p:nvPr/>
        </p:nvSpPr>
        <p:spPr>
          <a:xfrm>
            <a:off x="6858000" y="2057400"/>
            <a:ext cx="4754880" cy="1298448"/>
          </a:xfrm>
          <a:prstGeom prst="roundRect">
            <a:avLst>
              <a:gd name="adj" fmla="val 5634"/>
            </a:avLst>
          </a:prstGeom>
          <a:solidFill>
            <a:srgbClr val="EAF0FC"/>
          </a:solidFill>
          <a:ln/>
        </p:spPr>
      </p:sp>
      <p:sp>
        <p:nvSpPr>
          <p:cNvPr id="8" name="Text 5"/>
          <p:cNvSpPr txBox="1"/>
          <p:nvPr/>
        </p:nvSpPr>
        <p:spPr>
          <a:xfrm>
            <a:off x="7086600" y="2167128"/>
            <a:ext cx="1828800" cy="1078992"/>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0.93</a:t>
            </a:r>
            <a:endParaRPr lang="en-US" sz="3000" dirty="0"/>
          </a:p>
        </p:txBody>
      </p:sp>
      <p:sp>
        <p:nvSpPr>
          <p:cNvPr id="9" name="Text 6"/>
          <p:cNvSpPr txBox="1"/>
          <p:nvPr/>
        </p:nvSpPr>
        <p:spPr>
          <a:xfrm>
            <a:off x="8732520" y="2185416"/>
            <a:ext cx="2651760" cy="1042416"/>
          </a:xfrm>
          <a:prstGeom prst="rect">
            <a:avLst/>
          </a:prstGeom>
          <a:noFill/>
          <a:ln/>
        </p:spPr>
        <p:txBody>
          <a:bodyPr wrap="square" lIns="0" tIns="0" rIns="0" bIns="0" rtlCol="0" anchor="ctr"/>
          <a:lstStyle/>
          <a:p>
            <a:pPr indent="0" marL="0">
              <a:lnSpc>
                <a:spcPct val="115000"/>
              </a:lnSpc>
              <a:buNone/>
            </a:pPr>
            <a:r>
              <a:rPr lang="en-US" sz="1050" dirty="0">
                <a:solidFill>
                  <a:srgbClr val="33344A"/>
                </a:solidFill>
                <a:latin typeface="Calibri" pitchFamily="34" charset="0"/>
                <a:ea typeface="Calibri" pitchFamily="34" charset="-122"/>
                <a:cs typeface="Calibri" pitchFamily="34" charset="-120"/>
              </a:rPr>
              <a:t>Spearman correlation between estimated and true uplift — only checkable because this demo uses synthetic data with known ground truth.</a:t>
            </a:r>
            <a:endParaRPr lang="en-US" sz="1050" dirty="0"/>
          </a:p>
        </p:txBody>
      </p:sp>
      <p:sp>
        <p:nvSpPr>
          <p:cNvPr id="10" name="Shape 7"/>
          <p:cNvSpPr/>
          <p:nvPr/>
        </p:nvSpPr>
        <p:spPr>
          <a:xfrm>
            <a:off x="6858000" y="3557016"/>
            <a:ext cx="4754880" cy="1298448"/>
          </a:xfrm>
          <a:prstGeom prst="roundRect">
            <a:avLst>
              <a:gd name="adj" fmla="val 5634"/>
            </a:avLst>
          </a:prstGeom>
          <a:solidFill>
            <a:srgbClr val="EAF0FC"/>
          </a:solidFill>
          <a:ln/>
        </p:spPr>
      </p:sp>
      <p:sp>
        <p:nvSpPr>
          <p:cNvPr id="11" name="Text 8"/>
          <p:cNvSpPr txBox="1"/>
          <p:nvPr/>
        </p:nvSpPr>
        <p:spPr>
          <a:xfrm>
            <a:off x="7086600" y="3666744"/>
            <a:ext cx="1828800" cy="1078992"/>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96%</a:t>
            </a:r>
            <a:endParaRPr lang="en-US" sz="3000" dirty="0"/>
          </a:p>
        </p:txBody>
      </p:sp>
      <p:sp>
        <p:nvSpPr>
          <p:cNvPr id="12" name="Text 9"/>
          <p:cNvSpPr txBox="1"/>
          <p:nvPr/>
        </p:nvSpPr>
        <p:spPr>
          <a:xfrm>
            <a:off x="8732520" y="3685032"/>
            <a:ext cx="2651760" cy="1042416"/>
          </a:xfrm>
          <a:prstGeom prst="rect">
            <a:avLst/>
          </a:prstGeom>
          <a:noFill/>
          <a:ln/>
        </p:spPr>
        <p:txBody>
          <a:bodyPr wrap="square" lIns="0" tIns="0" rIns="0" bIns="0" rtlCol="0" anchor="ctr"/>
          <a:lstStyle/>
          <a:p>
            <a:pPr indent="0" marL="0">
              <a:lnSpc>
                <a:spcPct val="115000"/>
              </a:lnSpc>
              <a:buNone/>
            </a:pPr>
            <a:r>
              <a:rPr lang="en-US" sz="1050" dirty="0">
                <a:solidFill>
                  <a:srgbClr val="33344A"/>
                </a:solidFill>
                <a:latin typeface="Calibri" pitchFamily="34" charset="0"/>
                <a:ea typeface="Calibri" pitchFamily="34" charset="-122"/>
                <a:cs typeface="Calibri" pitchFamily="34" charset="-120"/>
              </a:rPr>
              <a:t>of the oracle's achievable Qini gain captured by the X-learner — how close the model gets to the best possible ranking.</a:t>
            </a:r>
            <a:endParaRPr lang="en-US" sz="1050" dirty="0"/>
          </a:p>
        </p:txBody>
      </p:sp>
      <p:sp>
        <p:nvSpPr>
          <p:cNvPr id="13" name="Shape 10"/>
          <p:cNvSpPr/>
          <p:nvPr/>
        </p:nvSpPr>
        <p:spPr>
          <a:xfrm>
            <a:off x="6858000" y="5056632"/>
            <a:ext cx="4754880" cy="1298448"/>
          </a:xfrm>
          <a:prstGeom prst="roundRect">
            <a:avLst>
              <a:gd name="adj" fmla="val 5634"/>
            </a:avLst>
          </a:prstGeom>
          <a:solidFill>
            <a:srgbClr val="EAF0FC"/>
          </a:solidFill>
          <a:ln/>
        </p:spPr>
      </p:sp>
      <p:sp>
        <p:nvSpPr>
          <p:cNvPr id="14" name="Text 11"/>
          <p:cNvSpPr txBox="1"/>
          <p:nvPr/>
        </p:nvSpPr>
        <p:spPr>
          <a:xfrm>
            <a:off x="7086600" y="5166360"/>
            <a:ext cx="1828800" cy="1078992"/>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+8.5%</a:t>
            </a:r>
            <a:endParaRPr lang="en-US" sz="3000" dirty="0"/>
          </a:p>
        </p:txBody>
      </p:sp>
      <p:sp>
        <p:nvSpPr>
          <p:cNvPr id="15" name="Text 12"/>
          <p:cNvSpPr txBox="1"/>
          <p:nvPr/>
        </p:nvSpPr>
        <p:spPr>
          <a:xfrm>
            <a:off x="8732520" y="5184648"/>
            <a:ext cx="2651760" cy="1042416"/>
          </a:xfrm>
          <a:prstGeom prst="rect">
            <a:avLst/>
          </a:prstGeom>
          <a:noFill/>
          <a:ln/>
        </p:spPr>
        <p:txBody>
          <a:bodyPr wrap="square" lIns="0" tIns="0" rIns="0" bIns="0" rtlCol="0" anchor="ctr"/>
          <a:lstStyle/>
          <a:p>
            <a:pPr indent="0" marL="0">
              <a:lnSpc>
                <a:spcPct val="115000"/>
              </a:lnSpc>
              <a:buNone/>
            </a:pPr>
            <a:r>
              <a:rPr lang="en-US" sz="1050" dirty="0">
                <a:solidFill>
                  <a:srgbClr val="33344A"/>
                </a:solidFill>
                <a:latin typeface="Calibri" pitchFamily="34" charset="0"/>
                <a:ea typeface="Calibri" pitchFamily="34" charset="-122"/>
                <a:cs typeface="Calibri" pitchFamily="34" charset="-120"/>
              </a:rPr>
              <a:t>incremental response in the top uplift decile — vs. a population-wide average lift near zero.</a:t>
            </a:r>
            <a:endParaRPr lang="en-US" sz="1050" dirty="0"/>
          </a:p>
        </p:txBody>
      </p:sp>
      <p:sp>
        <p:nvSpPr>
          <p:cNvPr id="16" name="Text 13"/>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17" name="Text 1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B8892B"/>
                </a:solidFill>
                <a:latin typeface="Calibri" pitchFamily="34" charset="0"/>
                <a:ea typeface="Calibri" pitchFamily="34" charset="-122"/>
                <a:cs typeface="Calibri" pitchFamily="34" charset="-120"/>
              </a:rPr>
              <a:t>PUTTING IT TO WORK</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From Score to Decision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2377440"/>
        </p:xfrm>
        <a:graphic>
          <a:graphicData uri="http://schemas.openxmlformats.org/drawingml/2006/table">
            <a:tbl>
              <a:tblPr/>
              <a:tblGrid>
                <a:gridCol w="1280160"/>
                <a:gridCol w="1828800"/>
                <a:gridCol w="2377440"/>
              </a:tblGrid>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Final uplift τ(x)</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1E2761"/>
                    </a:solidFill>
                  </a:tcPr>
                </a:tc>
              </a:tr>
              <a:tr h="59436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4F3EC"/>
                    </a:solidFill>
                  </a:tcPr>
                </a:tc>
                <a:tc>
                  <a:txBody>
                    <a:bodyPr/>
                    <a:lstStyle/>
                    <a:p>
                      <a:pPr algn="ctr" indent="0" marL="0">
                        <a:buNone/>
                      </a:pPr>
                      <a:r>
                        <a:rPr lang="en-US" sz="1200" b="1" dirty="0">
                          <a:solidFill>
                            <a:srgbClr val="1B7A5A"/>
                          </a:solidFill>
                          <a:latin typeface="Calibri" pitchFamily="34" charset="0"/>
                          <a:ea typeface="Calibri" pitchFamily="34" charset="-122"/>
                          <a:cs typeface="Calibri" pitchFamily="34" charset="-120"/>
                        </a:rPr>
                        <a:t>0.232</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4F3EC"/>
                    </a:solidFill>
                  </a:tcPr>
                </a:tc>
                <a:tc>
                  <a:txBody>
                    <a:bodyPr/>
                    <a:lstStyle/>
                    <a:p>
                      <a:pPr algn="ctr" indent="0" marL="0">
                        <a:buNone/>
                      </a:pPr>
                      <a:r>
                        <a:rPr lang="en-US" sz="1200" dirty="0">
                          <a:solidFill>
                            <a:srgbClr val="1B7A5A"/>
                          </a:solidFill>
                          <a:latin typeface="Calibri" pitchFamily="34" charset="0"/>
                          <a:ea typeface="Calibri" pitchFamily="34" charset="-122"/>
                          <a:cs typeface="Calibri" pitchFamily="34" charset="-120"/>
                        </a:rPr>
                        <a:t>Mail — send first</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E4F3EC"/>
                    </a:solidFill>
                  </a:tcPr>
                </a:tc>
              </a:tr>
              <a:tr h="59436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c>
                  <a:txBody>
                    <a:bodyPr/>
                    <a:lstStyle/>
                    <a:p>
                      <a:pPr algn="ctr" indent="0" marL="0">
                        <a:buNone/>
                      </a:pPr>
                      <a:r>
                        <a:rPr lang="en-US" sz="1200" b="1" dirty="0">
                          <a:solidFill>
                            <a:srgbClr val="B8892B"/>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c>
                  <a:txBody>
                    <a:bodyPr/>
                    <a:lstStyle/>
                    <a:p>
                      <a:pPr algn="ctr" indent="0" marL="0">
                        <a:buNone/>
                      </a:pPr>
                      <a:r>
                        <a:rPr lang="en-US" sz="1200" dirty="0">
                          <a:solidFill>
                            <a:srgbClr val="B8892B"/>
                          </a:solidFill>
                          <a:latin typeface="Calibri" pitchFamily="34" charset="0"/>
                          <a:ea typeface="Calibri" pitchFamily="34" charset="-122"/>
                          <a:cs typeface="Calibri" pitchFamily="34" charset="-120"/>
                        </a:rPr>
                        <a:t>Borderline — only if budget allows</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F3E1"/>
                    </a:solidFill>
                  </a:tcPr>
                </a:tc>
              </a:tr>
              <a:tr h="59436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EAE8"/>
                    </a:solidFill>
                  </a:tcPr>
                </a:tc>
                <a:tc>
                  <a:txBody>
                    <a:bodyPr/>
                    <a:lstStyle/>
                    <a:p>
                      <a:pPr algn="ctr" indent="0" marL="0">
                        <a:buNone/>
                      </a:pPr>
                      <a:r>
                        <a:rPr lang="en-US" sz="1200" b="1" dirty="0">
                          <a:solidFill>
                            <a:srgbClr val="B03A2E"/>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EAE8"/>
                    </a:solidFill>
                  </a:tcPr>
                </a:tc>
                <a:tc>
                  <a:txBody>
                    <a:bodyPr/>
                    <a:lstStyle/>
                    <a:p>
                      <a:pPr algn="ctr" indent="0" marL="0">
                        <a:buNone/>
                      </a:pPr>
                      <a:r>
                        <a:rPr lang="en-US" sz="1200" dirty="0">
                          <a:solidFill>
                            <a:srgbClr val="B03A2E"/>
                          </a:solidFill>
                          <a:latin typeface="Calibri" pitchFamily="34" charset="0"/>
                          <a:ea typeface="Calibri" pitchFamily="34" charset="-122"/>
                          <a:cs typeface="Calibri" pitchFamily="34" charset="-120"/>
                        </a:rPr>
                        <a:t>Don't mail — offer likely backfires</a:t>
                      </a:r>
                      <a:endParaRPr lang="en-US" sz="1200" dirty="0">
                        <a:latin typeface="Calibri" charset="0"/>
                        <a:ea typeface="Calibri" charset="0"/>
                        <a:cs typeface="Calibri" charset="0"/>
                      </a:endParaRPr>
                    </a:p>
                  </a:txBody>
                  <a:tcPr marL="73152" marR="73152" marT="54864" marB="54864" anchor="ctr">
                    <a:lnL w="12700" cap="flat" cmpd="sng" algn="ctr">
                      <a:solidFill>
                        <a:srgbClr val="E4E7F0"/>
                      </a:solidFill>
                      <a:prstDash val="solid"/>
                      <a:round/>
                      <a:headEnd type="none" w="med" len="med"/>
                      <a:tailEnd type="none" w="med" len="med"/>
                    </a:lnL>
                    <a:lnR w="12700" cap="flat" cmpd="sng" algn="ctr">
                      <a:solidFill>
                        <a:srgbClr val="E4E7F0"/>
                      </a:solidFill>
                      <a:prstDash val="solid"/>
                      <a:round/>
                      <a:headEnd type="none" w="med" len="med"/>
                      <a:tailEnd type="none" w="med" len="med"/>
                    </a:lnR>
                    <a:lnT w="12700" cap="flat" cmpd="sng" algn="ctr">
                      <a:solidFill>
                        <a:srgbClr val="E4E7F0"/>
                      </a:solidFill>
                      <a:prstDash val="solid"/>
                      <a:round/>
                      <a:headEnd type="none" w="med" len="med"/>
                      <a:tailEnd type="none" w="med" len="med"/>
                    </a:lnT>
                    <a:lnB w="12700" cap="flat" cmpd="sng" algn="ctr">
                      <a:solidFill>
                        <a:srgbClr val="E4E7F0"/>
                      </a:solidFill>
                      <a:prstDash val="solid"/>
                      <a:round/>
                      <a:headEnd type="none" w="med" len="med"/>
                      <a:tailEnd type="none" w="med" len="med"/>
                    </a:lnB>
                    <a:solidFill>
                      <a:srgbClr val="FBEAE8"/>
                    </a:solidFill>
                  </a:tcPr>
                </a:tc>
              </a:tr>
            </a:tbl>
          </a:graphicData>
        </a:graphic>
      </p:graphicFrame>
      <p:sp>
        <p:nvSpPr>
          <p:cNvPr id="5" name="Text 2"/>
          <p:cNvSpPr txBox="1"/>
          <p:nvPr/>
        </p:nvSpPr>
        <p:spPr>
          <a:xfrm>
            <a:off x="548640" y="4023360"/>
            <a:ext cx="5486400" cy="1280160"/>
          </a:xfrm>
          <a:prstGeom prst="rect">
            <a:avLst/>
          </a:prstGeom>
          <a:noFill/>
          <a:ln/>
        </p:spPr>
        <p:txBody>
          <a:bodyPr wrap="square" lIns="0" tIns="0" rIns="0" bIns="0" rtlCol="0" anchor="ctr"/>
          <a:lstStyle/>
          <a:p>
            <a:pPr indent="0" marL="0">
              <a:lnSpc>
                <a:spcPct val="125000"/>
              </a:lnSpc>
              <a:buNone/>
            </a:pPr>
            <a:r>
              <a:rPr lang="en-US" sz="1200" dirty="0">
                <a:solidFill>
                  <a:srgbClr val="33344A"/>
                </a:solidFill>
                <a:latin typeface="Calibri" pitchFamily="34" charset="0"/>
                <a:ea typeface="Calibri" pitchFamily="34" charset="-122"/>
                <a:cs typeface="Calibri" pitchFamily="34" charset="-120"/>
              </a:rPr>
              <a:t>The final score drives three things: rank the file high-to-low, mail down to a budget cutoff, and treat a low or negative score as a decision NOT to spend — not just a low priority.</a:t>
            </a:r>
            <a:endParaRPr lang="en-US" sz="1200" dirty="0"/>
          </a:p>
        </p:txBody>
      </p:sp>
      <p:sp>
        <p:nvSpPr>
          <p:cNvPr id="6" name="Shape 3"/>
          <p:cNvSpPr/>
          <p:nvPr/>
        </p:nvSpPr>
        <p:spPr>
          <a:xfrm>
            <a:off x="6400800" y="1463040"/>
            <a:ext cx="5212080" cy="4480560"/>
          </a:xfrm>
          <a:prstGeom prst="roundRect">
            <a:avLst>
              <a:gd name="adj" fmla="val 2041"/>
            </a:avLst>
          </a:prstGeom>
          <a:solidFill>
            <a:srgbClr val="1E2761"/>
          </a:solidFill>
          <a:ln/>
        </p:spPr>
      </p:sp>
      <p:sp>
        <p:nvSpPr>
          <p:cNvPr id="7" name="Text 4"/>
          <p:cNvSpPr txBox="1"/>
          <p:nvPr/>
        </p:nvSpPr>
        <p:spPr>
          <a:xfrm>
            <a:off x="6720840" y="1737360"/>
            <a:ext cx="4572000" cy="320040"/>
          </a:xfrm>
          <a:prstGeom prst="rect">
            <a:avLst/>
          </a:prstGeom>
          <a:noFill/>
          <a:ln/>
        </p:spPr>
        <p:txBody>
          <a:bodyPr wrap="square" lIns="0" tIns="0" rIns="0" bIns="0" rtlCol="0" anchor="ctr"/>
          <a:lstStyle/>
          <a:p>
            <a:pPr indent="0" marL="0">
              <a:buNone/>
            </a:pPr>
            <a:r>
              <a:rPr lang="en-US" sz="1150" b="1" spc="150" kern="0" dirty="0">
                <a:solidFill>
                  <a:srgbClr val="B8892B"/>
                </a:solidFill>
                <a:latin typeface="Calibri" pitchFamily="34" charset="0"/>
                <a:ea typeface="Calibri" pitchFamily="34" charset="-122"/>
                <a:cs typeface="Calibri" pitchFamily="34" charset="-120"/>
              </a:rPr>
              <a:t>THE ARGUMENT FOR UPLIFT MODELING</a:t>
            </a:r>
            <a:endParaRPr lang="en-US" sz="1150" dirty="0"/>
          </a:p>
        </p:txBody>
      </p:sp>
      <p:sp>
        <p:nvSpPr>
          <p:cNvPr id="8" name="Text 5"/>
          <p:cNvSpPr txBox="1"/>
          <p:nvPr/>
        </p:nvSpPr>
        <p:spPr>
          <a:xfrm>
            <a:off x="6720840" y="2148840"/>
            <a:ext cx="4572000" cy="100584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In the full simulation, mailing everyone nets an overall incremental lift close to zero — persuadable gains are offset by sleeping-dog losses.</a:t>
            </a:r>
            <a:endParaRPr lang="en-US" sz="1300" dirty="0"/>
          </a:p>
        </p:txBody>
      </p:sp>
      <p:sp>
        <p:nvSpPr>
          <p:cNvPr id="9" name="Text 6"/>
          <p:cNvSpPr txBox="1"/>
          <p:nvPr/>
        </p:nvSpPr>
        <p:spPr>
          <a:xfrm>
            <a:off x="6720840" y="3200400"/>
            <a:ext cx="4572000" cy="914400"/>
          </a:xfrm>
          <a:prstGeom prst="rect">
            <a:avLst/>
          </a:prstGeom>
          <a:noFill/>
          <a:ln/>
        </p:spPr>
        <p:txBody>
          <a:bodyPr wrap="square" lIns="0" tIns="0" rIns="0" bIns="0" rtlCol="0" anchor="ctr"/>
          <a:lstStyle/>
          <a:p>
            <a:pPr indent="0" marL="0">
              <a:lnSpc>
                <a:spcPct val="125000"/>
              </a:lnSpc>
              <a:buNone/>
            </a:pPr>
            <a:r>
              <a:rPr lang="en-US" sz="1300" i="1" dirty="0">
                <a:solidFill>
                  <a:srgbClr val="C9D2F0"/>
                </a:solidFill>
                <a:latin typeface="Calibri" pitchFamily="34" charset="0"/>
                <a:ea typeface="Calibri" pitchFamily="34" charset="-122"/>
                <a:cs typeface="Calibri" pitchFamily="34" charset="-120"/>
              </a:rPr>
              <a:t>A plain response model — or a simple before/after read — would look at that flat average and conclude the campaign doesn't work.</a:t>
            </a:r>
            <a:endParaRPr lang="en-US" sz="1300" dirty="0"/>
          </a:p>
        </p:txBody>
      </p:sp>
      <p:sp>
        <p:nvSpPr>
          <p:cNvPr id="10" name="Shape 7"/>
          <p:cNvSpPr/>
          <p:nvPr/>
        </p:nvSpPr>
        <p:spPr>
          <a:xfrm>
            <a:off x="6720840" y="4206240"/>
            <a:ext cx="4251960" cy="0"/>
          </a:xfrm>
          <a:prstGeom prst="line">
            <a:avLst/>
          </a:prstGeom>
          <a:noFill/>
          <a:ln w="12700">
            <a:solidFill>
              <a:srgbClr val="3A459A"/>
            </a:solidFill>
            <a:prstDash val="solid"/>
          </a:ln>
        </p:spPr>
      </p:sp>
      <p:sp>
        <p:nvSpPr>
          <p:cNvPr id="11" name="Text 8"/>
          <p:cNvSpPr txBox="1"/>
          <p:nvPr/>
        </p:nvSpPr>
        <p:spPr>
          <a:xfrm>
            <a:off x="6720840" y="4389120"/>
            <a:ext cx="4572000" cy="914400"/>
          </a:xfrm>
          <a:prstGeom prst="rect">
            <a:avLst/>
          </a:prstGeom>
          <a:noFill/>
          <a:ln/>
        </p:spPr>
        <p:txBody>
          <a:bodyPr wrap="square" lIns="0" tIns="0" rIns="0" bIns="0" rtlCol="0" anchor="ctr"/>
          <a:lstStyle/>
          <a:p>
            <a:pPr indent="0" marL="0">
              <a:lnSpc>
                <a:spcPct val="130000"/>
              </a:lnSpc>
              <a:buNone/>
            </a:pPr>
            <a:r>
              <a:rPr lang="en-US" sz="1550" b="1" dirty="0">
                <a:solidFill>
                  <a:srgbClr val="FFFFFF"/>
                </a:solidFill>
                <a:latin typeface="Cambria" pitchFamily="34" charset="0"/>
                <a:ea typeface="Cambria" pitchFamily="34" charset="-122"/>
                <a:cs typeface="Cambria" pitchFamily="34" charset="-120"/>
              </a:rPr>
              <a:t>Uplift modeling reveals the real, exploitable heterogeneity hiding underneath that flat average.</a:t>
            </a:r>
            <a:endParaRPr lang="en-US" sz="1550" dirty="0"/>
          </a:p>
        </p:txBody>
      </p:sp>
      <p:sp>
        <p:nvSpPr>
          <p:cNvPr id="12" name="Text 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13" name="Text 1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65760"/>
          </a:xfrm>
          <a:prstGeom prst="rect">
            <a:avLst/>
          </a:prstGeom>
          <a:noFill/>
          <a:ln/>
        </p:spPr>
        <p:txBody>
          <a:bodyPr wrap="square" lIns="0" tIns="0" rIns="0" bIns="0" rtlCol="0" anchor="ctr"/>
          <a:lstStyle/>
          <a:p>
            <a:pPr indent="0" marL="0">
              <a:buNone/>
            </a:pPr>
            <a:r>
              <a:rPr lang="en-US" sz="1300" b="1" spc="200" kern="0" dirty="0">
                <a:solidFill>
                  <a:srgbClr val="B8892B"/>
                </a:solidFill>
                <a:latin typeface="Calibri" pitchFamily="34" charset="0"/>
                <a:ea typeface="Calibri" pitchFamily="34" charset="-122"/>
                <a:cs typeface="Calibri" pitchFamily="34" charset="-120"/>
              </a:rPr>
              <a:t>THE ONE-MINUTE ANSWER</a:t>
            </a:r>
            <a:endParaRPr lang="en-US" sz="1300" dirty="0"/>
          </a:p>
        </p:txBody>
      </p:sp>
      <p:sp>
        <p:nvSpPr>
          <p:cNvPr id="3" name="Text 1"/>
          <p:cNvSpPr txBox="1"/>
          <p:nvPr/>
        </p:nvSpPr>
        <p:spPr>
          <a:xfrm>
            <a:off x="640080" y="868680"/>
            <a:ext cx="105156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If I only get one minute to explain X-Learner</a:t>
            </a:r>
            <a:endParaRPr lang="en-US" sz="2600" dirty="0"/>
          </a:p>
        </p:txBody>
      </p:sp>
      <p:sp>
        <p:nvSpPr>
          <p:cNvPr id="4" name="Shape 2"/>
          <p:cNvSpPr/>
          <p:nvPr/>
        </p:nvSpPr>
        <p:spPr>
          <a:xfrm>
            <a:off x="640080" y="1600200"/>
            <a:ext cx="475488" cy="475488"/>
          </a:xfrm>
          <a:prstGeom prst="ellipse">
            <a:avLst/>
          </a:prstGeom>
          <a:solidFill>
            <a:srgbClr val="B8892B"/>
          </a:solidFill>
          <a:ln/>
        </p:spPr>
      </p:sp>
      <p:sp>
        <p:nvSpPr>
          <p:cNvPr id="5" name="Text 3"/>
          <p:cNvSpPr txBox="1"/>
          <p:nvPr/>
        </p:nvSpPr>
        <p:spPr>
          <a:xfrm>
            <a:off x="640080" y="1600200"/>
            <a:ext cx="475488" cy="475488"/>
          </a:xfrm>
          <a:prstGeom prst="rect">
            <a:avLst/>
          </a:prstGeom>
          <a:noFill/>
          <a:ln/>
        </p:spPr>
        <p:txBody>
          <a:bodyPr wrap="square" lIns="0" tIns="0" rIns="0" bIns="0" rtlCol="0" anchor="ctr"/>
          <a:lstStyle/>
          <a:p>
            <a:pPr algn="ctr" indent="0" marL="0">
              <a:buNone/>
            </a:pPr>
            <a:r>
              <a:rPr lang="en-US" sz="1700" b="1" dirty="0">
                <a:solidFill>
                  <a:srgbClr val="141B4D"/>
                </a:solidFill>
                <a:latin typeface="Cambria" pitchFamily="34" charset="0"/>
                <a:ea typeface="Cambria" pitchFamily="34" charset="-122"/>
                <a:cs typeface="Cambria" pitchFamily="34" charset="-120"/>
              </a:rPr>
              <a:t>1</a:t>
            </a:r>
            <a:endParaRPr lang="en-US" sz="1700" dirty="0"/>
          </a:p>
        </p:txBody>
      </p:sp>
      <p:sp>
        <p:nvSpPr>
          <p:cNvPr id="6" name="Text 4"/>
          <p:cNvSpPr txBox="1"/>
          <p:nvPr/>
        </p:nvSpPr>
        <p:spPr>
          <a:xfrm>
            <a:off x="1371600" y="1508760"/>
            <a:ext cx="2743200" cy="8046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Split &amp; train</a:t>
            </a:r>
            <a:endParaRPr lang="en-US" sz="1550" dirty="0"/>
          </a:p>
        </p:txBody>
      </p:sp>
      <p:sp>
        <p:nvSpPr>
          <p:cNvPr id="7" name="Text 5"/>
          <p:cNvSpPr txBox="1"/>
          <p:nvPr/>
        </p:nvSpPr>
        <p:spPr>
          <a:xfrm>
            <a:off x="4160520" y="1508760"/>
            <a:ext cx="7406640" cy="804672"/>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Split historical data into treatment / control, train one outcome model per arm.</a:t>
            </a:r>
            <a:endParaRPr lang="en-US" sz="1250" dirty="0"/>
          </a:p>
        </p:txBody>
      </p:sp>
      <p:sp>
        <p:nvSpPr>
          <p:cNvPr id="8" name="Shape 6"/>
          <p:cNvSpPr/>
          <p:nvPr/>
        </p:nvSpPr>
        <p:spPr>
          <a:xfrm>
            <a:off x="640080" y="2532888"/>
            <a:ext cx="475488" cy="475488"/>
          </a:xfrm>
          <a:prstGeom prst="ellipse">
            <a:avLst/>
          </a:prstGeom>
          <a:solidFill>
            <a:srgbClr val="B8892B"/>
          </a:solidFill>
          <a:ln/>
        </p:spPr>
      </p:sp>
      <p:sp>
        <p:nvSpPr>
          <p:cNvPr id="9" name="Text 7"/>
          <p:cNvSpPr txBox="1"/>
          <p:nvPr/>
        </p:nvSpPr>
        <p:spPr>
          <a:xfrm>
            <a:off x="640080" y="2532888"/>
            <a:ext cx="475488" cy="475488"/>
          </a:xfrm>
          <a:prstGeom prst="rect">
            <a:avLst/>
          </a:prstGeom>
          <a:noFill/>
          <a:ln/>
        </p:spPr>
        <p:txBody>
          <a:bodyPr wrap="square" lIns="0" tIns="0" rIns="0" bIns="0" rtlCol="0" anchor="ctr"/>
          <a:lstStyle/>
          <a:p>
            <a:pPr algn="ctr" indent="0" marL="0">
              <a:buNone/>
            </a:pPr>
            <a:r>
              <a:rPr lang="en-US" sz="1700" b="1" dirty="0">
                <a:solidFill>
                  <a:srgbClr val="141B4D"/>
                </a:solidFill>
                <a:latin typeface="Cambria" pitchFamily="34" charset="0"/>
                <a:ea typeface="Cambria" pitchFamily="34" charset="-122"/>
                <a:cs typeface="Cambria" pitchFamily="34" charset="-120"/>
              </a:rPr>
              <a:t>2</a:t>
            </a:r>
            <a:endParaRPr lang="en-US" sz="1700" dirty="0"/>
          </a:p>
        </p:txBody>
      </p:sp>
      <p:sp>
        <p:nvSpPr>
          <p:cNvPr id="10" name="Text 8"/>
          <p:cNvSpPr txBox="1"/>
          <p:nvPr/>
        </p:nvSpPr>
        <p:spPr>
          <a:xfrm>
            <a:off x="1371600" y="2441448"/>
            <a:ext cx="2743200" cy="8046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Impute effects</a:t>
            </a:r>
            <a:endParaRPr lang="en-US" sz="1550" dirty="0"/>
          </a:p>
        </p:txBody>
      </p:sp>
      <p:sp>
        <p:nvSpPr>
          <p:cNvPr id="11" name="Text 9"/>
          <p:cNvSpPr txBox="1"/>
          <p:nvPr/>
        </p:nvSpPr>
        <p:spPr>
          <a:xfrm>
            <a:off x="4160520" y="2441448"/>
            <a:ext cx="7406640" cy="804672"/>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For each unit, use the OTHER arm's model as its counterfactual to build a pseudo effect.</a:t>
            </a:r>
            <a:endParaRPr lang="en-US" sz="1250" dirty="0"/>
          </a:p>
        </p:txBody>
      </p:sp>
      <p:sp>
        <p:nvSpPr>
          <p:cNvPr id="12" name="Shape 10"/>
          <p:cNvSpPr/>
          <p:nvPr/>
        </p:nvSpPr>
        <p:spPr>
          <a:xfrm>
            <a:off x="640080" y="3465576"/>
            <a:ext cx="475488" cy="475488"/>
          </a:xfrm>
          <a:prstGeom prst="ellipse">
            <a:avLst/>
          </a:prstGeom>
          <a:solidFill>
            <a:srgbClr val="B8892B"/>
          </a:solidFill>
          <a:ln/>
        </p:spPr>
      </p:sp>
      <p:sp>
        <p:nvSpPr>
          <p:cNvPr id="13" name="Text 11"/>
          <p:cNvSpPr txBox="1"/>
          <p:nvPr/>
        </p:nvSpPr>
        <p:spPr>
          <a:xfrm>
            <a:off x="640080" y="3465576"/>
            <a:ext cx="475488" cy="475488"/>
          </a:xfrm>
          <a:prstGeom prst="rect">
            <a:avLst/>
          </a:prstGeom>
          <a:noFill/>
          <a:ln/>
        </p:spPr>
        <p:txBody>
          <a:bodyPr wrap="square" lIns="0" tIns="0" rIns="0" bIns="0" rtlCol="0" anchor="ctr"/>
          <a:lstStyle/>
          <a:p>
            <a:pPr algn="ctr" indent="0" marL="0">
              <a:buNone/>
            </a:pPr>
            <a:r>
              <a:rPr lang="en-US" sz="1700" b="1" dirty="0">
                <a:solidFill>
                  <a:srgbClr val="141B4D"/>
                </a:solidFill>
                <a:latin typeface="Cambria" pitchFamily="34" charset="0"/>
                <a:ea typeface="Cambria" pitchFamily="34" charset="-122"/>
                <a:cs typeface="Cambria" pitchFamily="34" charset="-120"/>
              </a:rPr>
              <a:t>3</a:t>
            </a:r>
            <a:endParaRPr lang="en-US" sz="1700" dirty="0"/>
          </a:p>
        </p:txBody>
      </p:sp>
      <p:sp>
        <p:nvSpPr>
          <p:cNvPr id="14" name="Text 12"/>
          <p:cNvSpPr txBox="1"/>
          <p:nvPr/>
        </p:nvSpPr>
        <p:spPr>
          <a:xfrm>
            <a:off x="1371600" y="3374136"/>
            <a:ext cx="2743200" cy="8046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Learn the effect</a:t>
            </a:r>
            <a:endParaRPr lang="en-US" sz="1550" dirty="0"/>
          </a:p>
        </p:txBody>
      </p:sp>
      <p:sp>
        <p:nvSpPr>
          <p:cNvPr id="15" name="Text 13"/>
          <p:cNvSpPr txBox="1"/>
          <p:nvPr/>
        </p:nvSpPr>
        <p:spPr>
          <a:xfrm>
            <a:off x="4160520" y="3374136"/>
            <a:ext cx="7406640" cy="804672"/>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Train two regressors directly on those pseudo effects — output is uplift, not a response probability.</a:t>
            </a:r>
            <a:endParaRPr lang="en-US" sz="1250" dirty="0"/>
          </a:p>
        </p:txBody>
      </p:sp>
      <p:sp>
        <p:nvSpPr>
          <p:cNvPr id="16" name="Shape 14"/>
          <p:cNvSpPr/>
          <p:nvPr/>
        </p:nvSpPr>
        <p:spPr>
          <a:xfrm>
            <a:off x="640080" y="4398264"/>
            <a:ext cx="475488" cy="475488"/>
          </a:xfrm>
          <a:prstGeom prst="ellipse">
            <a:avLst/>
          </a:prstGeom>
          <a:solidFill>
            <a:srgbClr val="B8892B"/>
          </a:solidFill>
          <a:ln/>
        </p:spPr>
      </p:sp>
      <p:sp>
        <p:nvSpPr>
          <p:cNvPr id="17" name="Text 15"/>
          <p:cNvSpPr txBox="1"/>
          <p:nvPr/>
        </p:nvSpPr>
        <p:spPr>
          <a:xfrm>
            <a:off x="640080" y="4398264"/>
            <a:ext cx="475488" cy="475488"/>
          </a:xfrm>
          <a:prstGeom prst="rect">
            <a:avLst/>
          </a:prstGeom>
          <a:noFill/>
          <a:ln/>
        </p:spPr>
        <p:txBody>
          <a:bodyPr wrap="square" lIns="0" tIns="0" rIns="0" bIns="0" rtlCol="0" anchor="ctr"/>
          <a:lstStyle/>
          <a:p>
            <a:pPr algn="ctr" indent="0" marL="0">
              <a:buNone/>
            </a:pPr>
            <a:r>
              <a:rPr lang="en-US" sz="1700" b="1" dirty="0">
                <a:solidFill>
                  <a:srgbClr val="141B4D"/>
                </a:solidFill>
                <a:latin typeface="Cambria" pitchFamily="34" charset="0"/>
                <a:ea typeface="Cambria" pitchFamily="34" charset="-122"/>
                <a:cs typeface="Cambria" pitchFamily="34" charset="-120"/>
              </a:rPr>
              <a:t>4</a:t>
            </a:r>
            <a:endParaRPr lang="en-US" sz="1700" dirty="0"/>
          </a:p>
        </p:txBody>
      </p:sp>
      <p:sp>
        <p:nvSpPr>
          <p:cNvPr id="18" name="Text 16"/>
          <p:cNvSpPr txBox="1"/>
          <p:nvPr/>
        </p:nvSpPr>
        <p:spPr>
          <a:xfrm>
            <a:off x="1371600" y="4306824"/>
            <a:ext cx="2743200" cy="8046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Fuse &amp; rank</a:t>
            </a:r>
            <a:endParaRPr lang="en-US" sz="1550" dirty="0"/>
          </a:p>
        </p:txBody>
      </p:sp>
      <p:sp>
        <p:nvSpPr>
          <p:cNvPr id="19" name="Text 17"/>
          <p:cNvSpPr txBox="1"/>
          <p:nvPr/>
        </p:nvSpPr>
        <p:spPr>
          <a:xfrm>
            <a:off x="4160520" y="4306824"/>
            <a:ext cx="7406640" cy="804672"/>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Blend both effect models with propensity weight g(x) into one score; rank and target on it.</a:t>
            </a:r>
            <a:endParaRPr lang="en-US" sz="1250" dirty="0"/>
          </a:p>
        </p:txBody>
      </p:sp>
      <p:sp>
        <p:nvSpPr>
          <p:cNvPr id="20" name="Shape 18"/>
          <p:cNvSpPr/>
          <p:nvPr/>
        </p:nvSpPr>
        <p:spPr>
          <a:xfrm>
            <a:off x="640080" y="5349240"/>
            <a:ext cx="10881360" cy="0"/>
          </a:xfrm>
          <a:prstGeom prst="line">
            <a:avLst/>
          </a:prstGeom>
          <a:noFill/>
          <a:ln w="12700">
            <a:solidFill>
              <a:srgbClr val="3A459A"/>
            </a:solidFill>
            <a:prstDash val="solid"/>
          </a:ln>
        </p:spPr>
      </p:sp>
      <p:sp>
        <p:nvSpPr>
          <p:cNvPr id="21" name="Text 19"/>
          <p:cNvSpPr txBox="1"/>
          <p:nvPr/>
        </p:nvSpPr>
        <p:spPr>
          <a:xfrm>
            <a:off x="640080" y="5513832"/>
            <a:ext cx="10881360" cy="548640"/>
          </a:xfrm>
          <a:prstGeom prst="rect">
            <a:avLst/>
          </a:prstGeom>
          <a:noFill/>
          <a:ln/>
        </p:spPr>
        <p:txBody>
          <a:bodyPr wrap="square" lIns="0" tIns="0" rIns="0" bIns="0" rtlCol="0" anchor="ctr"/>
          <a:lstStyle/>
          <a:p>
            <a:pPr indent="0" marL="0">
              <a:lnSpc>
                <a:spcPct val="120000"/>
              </a:lnSpc>
              <a:buNone/>
            </a:pPr>
            <a:r>
              <a:rPr lang="en-US" sz="1150" i="1" dirty="0">
                <a:solidFill>
                  <a:srgbClr val="9FB4E8"/>
                </a:solidFill>
                <a:latin typeface="Calibri" pitchFamily="34" charset="0"/>
                <a:ea typeface="Calibri" pitchFamily="34" charset="-122"/>
                <a:cs typeface="Calibri" pitchFamily="34" charset="-120"/>
              </a:rPr>
              <a:t>This is the estimator family behind a live prescreen campaign that lifted response 20% and cut acquisition cost 16% — this deck and notebook reproduce the method on synthetic data.</a:t>
            </a:r>
            <a:endParaRPr lang="en-US" sz="1150" dirty="0"/>
          </a:p>
        </p:txBody>
      </p:sp>
      <p:sp>
        <p:nvSpPr>
          <p:cNvPr id="23" name="Text 20"/>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24" name="Text 2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Uplift Modeling — X-Learner Deep Dive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2026-08-27T04:01:46Z</dcterms:created>
  <dcterms:modified xsi:type="dcterms:W3CDTF">2026-08-27T04:01:46Z</dcterms:modified>
</cp:coreProperties>
</file>