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 和 control 两组，分别训练两个 outcome model，一个学有 offer 时的结果，一个学没 offer 时的结果。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 offer 会产生最大的增量响应。
English equivalent:
1. Split historical experiment data into treatment and control, train two outcome models — one for what happens with the offer, one without.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because of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say yes with no offer at all. An uplift model predicts the incremental effect of the offer itself, so targeting can focus on the one segment where the offer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Shape 4"/>
          <p:cNvSpPr/>
          <p:nvPr/>
        </p:nvSpPr>
        <p:spPr>
          <a:xfrm>
            <a:off x="548640" y="3657600"/>
            <a:ext cx="5212080" cy="777240"/>
          </a:xfrm>
          <a:prstGeom prst="roundRect">
            <a:avLst>
              <a:gd name="adj" fmla="val 7059"/>
            </a:avLst>
          </a:prstGeom>
          <a:solidFill>
            <a:srgbClr val="EAF0FC"/>
          </a:solidFill>
          <a:ln/>
        </p:spPr>
      </p:sp>
      <p:sp>
        <p:nvSpPr>
          <p:cNvPr id="7" name="Text 5"/>
          <p:cNvSpPr txBox="1"/>
          <p:nvPr/>
        </p:nvSpPr>
        <p:spPr>
          <a:xfrm>
            <a:off x="777240" y="3657600"/>
            <a:ext cx="4892040" cy="777240"/>
          </a:xfrm>
          <a:prstGeom prst="rect">
            <a:avLst/>
          </a:prstGeom>
          <a:noFill/>
          <a:ln/>
        </p:spPr>
        <p:txBody>
          <a:bodyPr wrap="square" lIns="0" tIns="0" rIns="0" bIns="0" rtlCol="0" anchor="ctr"/>
          <a:lstStyle/>
          <a:p>
            <a:pPr indent="0" marL="0">
              <a:lnSpc>
                <a:spcPct val="120000"/>
              </a:lnSpc>
              <a:buNone/>
            </a:pPr>
            <a:r>
              <a:rPr lang="en-US" sz="1150" b="1" dirty="0">
                <a:solidFill>
                  <a:srgbClr val="1E2761"/>
                </a:solidFill>
                <a:latin typeface="Calibri" pitchFamily="34" charset="0"/>
                <a:ea typeface="Calibri" pitchFamily="34" charset="-122"/>
                <a:cs typeface="Calibri" pitchFamily="34" charset="-120"/>
              </a:rPr>
              <a:t>In our prescreen example:  </a:t>
            </a:r>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Y = 1 if the customer applies for the credit card, 0 if not.  T = 1 if they received the prescreen mail offer (treatment), 0 if they were held out (control).</a:t>
            </a:r>
            <a:endParaRPr lang="en-US" sz="1150" dirty="0"/>
          </a:p>
        </p:txBody>
      </p:sp>
      <p:sp>
        <p:nvSpPr>
          <p:cNvPr id="8" name="Text 6"/>
          <p:cNvSpPr txBox="1"/>
          <p:nvPr/>
        </p:nvSpPr>
        <p:spPr>
          <a:xfrm>
            <a:off x="548640" y="4526280"/>
            <a:ext cx="5212080" cy="4114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treatment effect — not the response probability — is the thing we're trying to score.</a:t>
            </a:r>
            <a:endParaRPr lang="en-US" sz="1100" dirty="0"/>
          </a:p>
        </p:txBody>
      </p:sp>
      <p:sp>
        <p:nvSpPr>
          <p:cNvPr id="9" name="Shape 7"/>
          <p:cNvSpPr/>
          <p:nvPr/>
        </p:nvSpPr>
        <p:spPr>
          <a:xfrm>
            <a:off x="6126480" y="1371600"/>
            <a:ext cx="2587752" cy="2336292"/>
          </a:xfrm>
          <a:prstGeom prst="roundRect">
            <a:avLst>
              <a:gd name="adj" fmla="val 3131"/>
            </a:avLst>
          </a:prstGeom>
          <a:solidFill>
            <a:srgbClr val="E4F3EC"/>
          </a:solidFill>
          <a:ln/>
        </p:spPr>
      </p:sp>
      <p:sp>
        <p:nvSpPr>
          <p:cNvPr id="10" name="Text 8"/>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11" name="Text 9"/>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only if they get the offer (Y=1 under T=1, Y=0 under T=0) — the offer changes their decision. This is the target segment.</a:t>
            </a:r>
            <a:endParaRPr lang="en-US" sz="1100" dirty="0"/>
          </a:p>
        </p:txBody>
      </p:sp>
      <p:sp>
        <p:nvSpPr>
          <p:cNvPr id="12" name="Shape 10"/>
          <p:cNvSpPr/>
          <p:nvPr/>
        </p:nvSpPr>
        <p:spPr>
          <a:xfrm>
            <a:off x="8933688" y="1371600"/>
            <a:ext cx="2587752" cy="2336292"/>
          </a:xfrm>
          <a:prstGeom prst="roundRect">
            <a:avLst>
              <a:gd name="adj" fmla="val 3131"/>
            </a:avLst>
          </a:prstGeom>
          <a:solidFill>
            <a:srgbClr val="EAF0FC"/>
          </a:solidFill>
          <a:ln/>
        </p:spPr>
      </p:sp>
      <p:sp>
        <p:nvSpPr>
          <p:cNvPr id="13" name="Text 11"/>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4" name="Text 12"/>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either way (Y=1 regardless of T). Mailing them is wasted budget.</a:t>
            </a:r>
            <a:endParaRPr lang="en-US" sz="1100" dirty="0"/>
          </a:p>
        </p:txBody>
      </p:sp>
      <p:sp>
        <p:nvSpPr>
          <p:cNvPr id="15" name="Shape 13"/>
          <p:cNvSpPr/>
          <p:nvPr/>
        </p:nvSpPr>
        <p:spPr>
          <a:xfrm>
            <a:off x="6126480" y="3927348"/>
            <a:ext cx="2587752" cy="2336292"/>
          </a:xfrm>
          <a:prstGeom prst="roundRect">
            <a:avLst>
              <a:gd name="adj" fmla="val 3131"/>
            </a:avLst>
          </a:prstGeom>
          <a:solidFill>
            <a:srgbClr val="F2F2F5"/>
          </a:solidFill>
          <a:ln/>
        </p:spPr>
      </p:sp>
      <p:sp>
        <p:nvSpPr>
          <p:cNvPr id="16" name="Text 14"/>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7" name="Text 15"/>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apply, offer or not (Y=0 regardless of T). Nothing to gain.</a:t>
            </a:r>
            <a:endParaRPr lang="en-US" sz="1100" dirty="0"/>
          </a:p>
        </p:txBody>
      </p:sp>
      <p:sp>
        <p:nvSpPr>
          <p:cNvPr id="18" name="Shape 16"/>
          <p:cNvSpPr/>
          <p:nvPr/>
        </p:nvSpPr>
        <p:spPr>
          <a:xfrm>
            <a:off x="8933688" y="3927348"/>
            <a:ext cx="2587752" cy="2336292"/>
          </a:xfrm>
          <a:prstGeom prst="roundRect">
            <a:avLst>
              <a:gd name="adj" fmla="val 3131"/>
            </a:avLst>
          </a:prstGeom>
          <a:solidFill>
            <a:srgbClr val="FBEAE8"/>
          </a:solidFill>
          <a:ln/>
        </p:spPr>
      </p:sp>
      <p:sp>
        <p:nvSpPr>
          <p:cNvPr id="19" name="Text 17"/>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20" name="Text 18"/>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LESS often if they get the offer — the mailing backfires.</a:t>
            </a:r>
            <a:endParaRPr lang="en-US" sz="11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is_treated (got the offer, 1/0) as just another input feature. τ(x) = f(x,1) − f(x,0), where 1/0 flips whether the offer was sent.</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models, one per arm. τ(x) = μ₁(x) − μ₀(x), where μ₁ is the offer-group model and μ₀ is the no-offer (control) model.</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 Same Y (applied?) and is_treated (got the offer?) as above.</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sp>
        <p:nvSpPr>
          <p:cNvPr id="6" name="Text 4"/>
          <p:cNvSpPr txBox="1"/>
          <p:nvPr/>
        </p:nvSpPr>
        <p:spPr>
          <a:xfrm>
            <a:off x="777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is_treated: 1 = got the prescreen offer, 0 = control  ·  Y: 1 = applied for the card, 0 = didn't</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993392"/>
          <a:ext cx="4892040" cy="1344168"/>
        </p:xfrm>
        <a:graphic>
          <a:graphicData uri="http://schemas.openxmlformats.org/drawingml/2006/table">
            <a:tbl>
              <a:tblPr/>
              <a:tblGrid>
                <a:gridCol w="1858975"/>
                <a:gridCol w="1565453"/>
                <a:gridCol w="1467612"/>
              </a:tblGrid>
              <a:tr h="192024">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is_treated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8" name="Shape 5"/>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9" name="Text 6"/>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one model, run for BOTH mailing scenarios on customer G</a:t>
            </a:r>
            <a:endParaRPr lang="en-US" sz="1100" dirty="0"/>
          </a:p>
        </p:txBody>
      </p:sp>
      <p:sp>
        <p:nvSpPr>
          <p:cNvPr id="10" name="Text 7"/>
          <p:cNvSpPr txBox="1"/>
          <p:nvPr/>
        </p:nvSpPr>
        <p:spPr>
          <a:xfrm>
            <a:off x="6492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Two separate scoring calls — each with its own input table and output table</a:t>
            </a:r>
            <a:endParaRPr lang="en-US" sz="9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993392"/>
          <a:ext cx="2286000" cy="384048"/>
        </p:xfrm>
        <a:graphic>
          <a:graphicData uri="http://schemas.openxmlformats.org/drawingml/2006/table">
            <a:tbl>
              <a:tblPr/>
              <a:tblGrid>
                <a:gridCol w="1028700"/>
                <a:gridCol w="125730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receive_offer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192024">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889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8778240" y="1993392"/>
            <a:ext cx="365760" cy="384048"/>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9144000" y="1993392"/>
          <a:ext cx="1554480" cy="384048"/>
        </p:xfrm>
        <a:graphic>
          <a:graphicData uri="http://schemas.openxmlformats.org/drawingml/2006/table">
            <a:tbl>
              <a:tblPr/>
              <a:tblGrid>
                <a:gridCol w="155448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92024">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0.42</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6492240" y="2487168"/>
          <a:ext cx="2286000" cy="384048"/>
        </p:xfrm>
        <a:graphic>
          <a:graphicData uri="http://schemas.openxmlformats.org/drawingml/2006/table">
            <a:tbl>
              <a:tblPr/>
              <a:tblGrid>
                <a:gridCol w="1028700"/>
                <a:gridCol w="125730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receive_offer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192024">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5" name="Text 9"/>
          <p:cNvSpPr txBox="1"/>
          <p:nvPr/>
        </p:nvSpPr>
        <p:spPr>
          <a:xfrm>
            <a:off x="8778240" y="2487168"/>
            <a:ext cx="365760" cy="384048"/>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9144000" y="2487168"/>
          <a:ext cx="1554480" cy="384048"/>
        </p:xfrm>
        <a:graphic>
          <a:graphicData uri="http://schemas.openxmlformats.org/drawingml/2006/table">
            <a:tbl>
              <a:tblPr/>
              <a:tblGrid>
                <a:gridCol w="155448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92024">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0.31</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7" name="Shape 10"/>
          <p:cNvSpPr/>
          <p:nvPr/>
        </p:nvSpPr>
        <p:spPr>
          <a:xfrm>
            <a:off x="6492240" y="2962656"/>
            <a:ext cx="4892040" cy="374904"/>
          </a:xfrm>
          <a:prstGeom prst="roundRect">
            <a:avLst>
              <a:gd name="adj" fmla="val 14634"/>
            </a:avLst>
          </a:prstGeom>
          <a:solidFill>
            <a:srgbClr val="141B4D"/>
          </a:solidFill>
          <a:ln/>
        </p:spPr>
      </p:sp>
      <p:sp>
        <p:nvSpPr>
          <p:cNvPr id="18" name="Text 11"/>
          <p:cNvSpPr txBox="1"/>
          <p:nvPr/>
        </p:nvSpPr>
        <p:spPr>
          <a:xfrm>
            <a:off x="6675120" y="2962656"/>
            <a:ext cx="4526280" cy="37490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f(G,1) − f(G,0) = 0.42 − 0.31 = </a:t>
            </a:r>
            <a:pPr indent="0" marL="0">
              <a:buNone/>
            </a:pPr>
            <a:r>
              <a:rPr lang="en-US" sz="1400" b="1" dirty="0">
                <a:solidFill>
                  <a:srgbClr val="B8892B"/>
                </a:solidFill>
                <a:latin typeface="Calibri" pitchFamily="34" charset="0"/>
                <a:ea typeface="Calibri" pitchFamily="34" charset="-122"/>
                <a:cs typeface="Calibri" pitchFamily="34" charset="-120"/>
              </a:rPr>
              <a:t>0.11</a:t>
            </a:r>
            <a:endParaRPr lang="en-US" sz="1150" dirty="0"/>
          </a:p>
        </p:txBody>
      </p:sp>
      <p:sp>
        <p:nvSpPr>
          <p:cNvPr id="19" name="Shape 12"/>
          <p:cNvSpPr/>
          <p:nvPr/>
        </p:nvSpPr>
        <p:spPr>
          <a:xfrm>
            <a:off x="548640" y="3611880"/>
            <a:ext cx="5349240" cy="1234440"/>
          </a:xfrm>
          <a:prstGeom prst="roundRect">
            <a:avLst>
              <a:gd name="adj" fmla="val 7407"/>
            </a:avLst>
          </a:prstGeom>
          <a:solidFill>
            <a:srgbClr val="E4F3EC"/>
          </a:solidFill>
          <a:ln/>
        </p:spPr>
      </p:sp>
      <p:sp>
        <p:nvSpPr>
          <p:cNvPr id="20" name="Text 13"/>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1" name="Text 14"/>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when the control holdout is small.</a:t>
            </a:r>
            <a:endParaRPr lang="en-US" sz="1150" dirty="0"/>
          </a:p>
        </p:txBody>
      </p:sp>
      <p:sp>
        <p:nvSpPr>
          <p:cNvPr id="22" name="Shape 15"/>
          <p:cNvSpPr/>
          <p:nvPr/>
        </p:nvSpPr>
        <p:spPr>
          <a:xfrm>
            <a:off x="6263640" y="3611880"/>
            <a:ext cx="5349240" cy="1234440"/>
          </a:xfrm>
          <a:prstGeom prst="roundRect">
            <a:avLst>
              <a:gd name="adj" fmla="val 7407"/>
            </a:avLst>
          </a:prstGeom>
          <a:solidFill>
            <a:srgbClr val="FBEAE8"/>
          </a:solidFill>
          <a:ln/>
        </p:spPr>
      </p:sp>
      <p:sp>
        <p:nvSpPr>
          <p:cNvPr id="23" name="Text 16"/>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4" name="Text 17"/>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is_treated feature over dozens of stronger predictors — treatment can get nearly ignored.</a:t>
            </a:r>
            <a:endParaRPr lang="en-US" sz="1150" dirty="0"/>
          </a:p>
        </p:txBody>
      </p:sp>
      <p:sp>
        <p:nvSpPr>
          <p:cNvPr id="25" name="Shape 18"/>
          <p:cNvSpPr/>
          <p:nvPr/>
        </p:nvSpPr>
        <p:spPr>
          <a:xfrm>
            <a:off x="548640" y="4983480"/>
            <a:ext cx="11064240" cy="1051560"/>
          </a:xfrm>
          <a:prstGeom prst="roundRect">
            <a:avLst>
              <a:gd name="adj" fmla="val 6957"/>
            </a:avLst>
          </a:prstGeom>
          <a:solidFill>
            <a:srgbClr val="141B4D"/>
          </a:solidFill>
          <a:ln/>
        </p:spPr>
      </p:sp>
      <p:sp>
        <p:nvSpPr>
          <p:cNvPr id="26" name="Text 19"/>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the offer itself. A pooled model leans on those and treats is_treated as noise, exactly the risk we can't take when isolating the offer's effect is the whole point.</a:t>
            </a:r>
            <a:endParaRPr lang="en-US" sz="1250" dirty="0"/>
          </a:p>
        </p:txBody>
      </p:sp>
      <p:sp>
        <p:nvSpPr>
          <p:cNvPr id="27"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28"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Control = A, B, C — did NOT get the offer/coupon.  Treatment = D, E, F — DID get the offer/coupon. Y: 1 = applied, 0 = didn't.</a:t>
            </a:r>
            <a:endParaRPr lang="en-US" sz="900" dirty="0"/>
          </a:p>
        </p:txBody>
      </p:sp>
      <p:sp>
        <p:nvSpPr>
          <p:cNvPr id="7" name="Text 5"/>
          <p:cNvSpPr txBox="1"/>
          <p:nvPr/>
        </p:nvSpPr>
        <p:spPr>
          <a:xfrm>
            <a:off x="777240" y="2011680"/>
            <a:ext cx="2354580" cy="219456"/>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Control (A,B,C)  →  μ̂₀</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231136"/>
          <a:ext cx="2354580" cy="1106424"/>
        </p:xfrm>
        <a:graphic>
          <a:graphicData uri="http://schemas.openxmlformats.org/drawingml/2006/table">
            <a:tbl>
              <a:tblPr/>
              <a:tblGrid>
                <a:gridCol w="1295019"/>
                <a:gridCol w="1059561"/>
              </a:tblGrid>
              <a:tr h="27660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3314700" y="2011680"/>
            <a:ext cx="2354580" cy="219456"/>
          </a:xfrm>
          <a:prstGeom prst="rect">
            <a:avLst/>
          </a:prstGeom>
          <a:noFill/>
          <a:ln/>
        </p:spPr>
        <p:txBody>
          <a:bodyPr wrap="square" lIns="0" tIns="0" rIns="0" bIns="0" rtlCol="0" anchor="ctr"/>
          <a:lstStyle/>
          <a:p>
            <a:pPr indent="0" marL="0">
              <a:buNone/>
            </a:pPr>
            <a:r>
              <a:rPr lang="en-US" sz="1000" b="1" dirty="0">
                <a:solidFill>
                  <a:srgbClr val="B8892B"/>
                </a:solidFill>
                <a:latin typeface="Calibri" pitchFamily="34" charset="0"/>
                <a:ea typeface="Calibri" pitchFamily="34" charset="-122"/>
                <a:cs typeface="Calibri" pitchFamily="34" charset="-120"/>
              </a:rPr>
              <a:t>Treatment (D,E,F)  →  μ̂₁</a:t>
            </a:r>
            <a:endParaRPr lang="en-US" sz="1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231136"/>
          <a:ext cx="2354580" cy="1106424"/>
        </p:xfrm>
        <a:graphic>
          <a:graphicData uri="http://schemas.openxmlformats.org/drawingml/2006/table">
            <a:tbl>
              <a:tblPr/>
              <a:tblGrid>
                <a:gridCol w="1295019"/>
                <a:gridCol w="1059561"/>
              </a:tblGrid>
              <a:tr h="27660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1" name="Shape 7"/>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12" name="Text 8"/>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scores customer G under ITS OWN scenario</a:t>
            </a:r>
            <a:endParaRPr lang="en-US" sz="1100" dirty="0"/>
          </a:p>
        </p:txBody>
      </p:sp>
      <p:sp>
        <p:nvSpPr>
          <p:cNvPr id="13" name="Text 9"/>
          <p:cNvSpPr txBox="1"/>
          <p:nvPr/>
        </p:nvSpPr>
        <p:spPr>
          <a:xfrm>
            <a:off x="6492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Two separate scoring calls — each with its own input table and output table</a:t>
            </a:r>
            <a:endParaRPr lang="en-US" sz="9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993392"/>
          <a:ext cx="2468880" cy="384048"/>
        </p:xfrm>
        <a:graphic>
          <a:graphicData uri="http://schemas.openxmlformats.org/drawingml/2006/table">
            <a:tbl>
              <a:tblPr/>
              <a:tblGrid>
                <a:gridCol w="839419"/>
                <a:gridCol w="1629461"/>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192024">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μ̂₀</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5" name="Text 10"/>
          <p:cNvSpPr txBox="1"/>
          <p:nvPr/>
        </p:nvSpPr>
        <p:spPr>
          <a:xfrm>
            <a:off x="8961120" y="1993392"/>
            <a:ext cx="365760" cy="384048"/>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5" name="Table 3"/>
          <p:cNvGraphicFramePr>
            <a:graphicFrameLocks noGrp="1"/>
          </p:cNvGraphicFramePr>
          <p:nvPr>
            <p:extLst>
              <p:ext uri="{D42A27DB-BD31-4B8C-83A1-F6EECF244321}">
                <p14:modId xmlns:p14="http://schemas.microsoft.com/office/powerpoint/2010/main" val="1579011935"/>
              </p:ext>
            </p:extLst>
          </p:nvPr>
        </p:nvGraphicFramePr>
        <p:xfrm>
          <a:off x="9326880" y="1993392"/>
          <a:ext cx="1554480" cy="384048"/>
        </p:xfrm>
        <a:graphic>
          <a:graphicData uri="http://schemas.openxmlformats.org/drawingml/2006/table">
            <a:tbl>
              <a:tblPr/>
              <a:tblGrid>
                <a:gridCol w="155448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92024">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0.19</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31" name="Table 4"/>
          <p:cNvGraphicFramePr>
            <a:graphicFrameLocks noGrp="1"/>
          </p:cNvGraphicFramePr>
          <p:nvPr>
            <p:extLst>
              <p:ext uri="{D42A27DB-BD31-4B8C-83A1-F6EECF244321}">
                <p14:modId xmlns:p14="http://schemas.microsoft.com/office/powerpoint/2010/main" val="1579011935"/>
              </p:ext>
            </p:extLst>
          </p:nvPr>
        </p:nvGraphicFramePr>
        <p:xfrm>
          <a:off x="6492240" y="2487168"/>
          <a:ext cx="2468880" cy="384048"/>
        </p:xfrm>
        <a:graphic>
          <a:graphicData uri="http://schemas.openxmlformats.org/drawingml/2006/table">
            <a:tbl>
              <a:tblPr/>
              <a:tblGrid>
                <a:gridCol w="839419"/>
                <a:gridCol w="1629461"/>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192024">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b="1" dirty="0">
                          <a:solidFill>
                            <a:srgbClr val="B8892B"/>
                          </a:solidFill>
                          <a:latin typeface="Calibri" pitchFamily="34" charset="0"/>
                          <a:ea typeface="Calibri" pitchFamily="34" charset="-122"/>
                          <a:cs typeface="Calibri" pitchFamily="34" charset="-120"/>
                        </a:rPr>
                        <a:t>μ̂₁</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8" name="Text 11"/>
          <p:cNvSpPr txBox="1"/>
          <p:nvPr/>
        </p:nvSpPr>
        <p:spPr>
          <a:xfrm>
            <a:off x="8961120" y="2487168"/>
            <a:ext cx="365760" cy="384048"/>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37" name="Table 5"/>
          <p:cNvGraphicFramePr>
            <a:graphicFrameLocks noGrp="1"/>
          </p:cNvGraphicFramePr>
          <p:nvPr>
            <p:extLst>
              <p:ext uri="{D42A27DB-BD31-4B8C-83A1-F6EECF244321}">
                <p14:modId xmlns:p14="http://schemas.microsoft.com/office/powerpoint/2010/main" val="1579011935"/>
              </p:ext>
            </p:extLst>
          </p:nvPr>
        </p:nvGraphicFramePr>
        <p:xfrm>
          <a:off x="9326880" y="2487168"/>
          <a:ext cx="1554480" cy="384048"/>
        </p:xfrm>
        <a:graphic>
          <a:graphicData uri="http://schemas.openxmlformats.org/drawingml/2006/table">
            <a:tbl>
              <a:tblPr/>
              <a:tblGrid>
                <a:gridCol w="155448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92024">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20" name="Shape 12"/>
          <p:cNvSpPr/>
          <p:nvPr/>
        </p:nvSpPr>
        <p:spPr>
          <a:xfrm>
            <a:off x="6492240" y="2962656"/>
            <a:ext cx="4892040" cy="374904"/>
          </a:xfrm>
          <a:prstGeom prst="roundRect">
            <a:avLst>
              <a:gd name="adj" fmla="val 14634"/>
            </a:avLst>
          </a:prstGeom>
          <a:solidFill>
            <a:srgbClr val="141B4D"/>
          </a:solidFill>
          <a:ln/>
        </p:spPr>
      </p:sp>
      <p:sp>
        <p:nvSpPr>
          <p:cNvPr id="21" name="Text 13"/>
          <p:cNvSpPr txBox="1"/>
          <p:nvPr/>
        </p:nvSpPr>
        <p:spPr>
          <a:xfrm>
            <a:off x="6675120" y="2962656"/>
            <a:ext cx="4526280" cy="37490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μ̂₁(G) − μ̂₀(G) = 0.35 − 0.19 = </a:t>
            </a:r>
            <a:pPr indent="0" marL="0">
              <a:buNone/>
            </a:pPr>
            <a:r>
              <a:rPr lang="en-US" sz="1400" b="1" dirty="0">
                <a:solidFill>
                  <a:srgbClr val="B8892B"/>
                </a:solidFill>
                <a:latin typeface="Calibri" pitchFamily="34" charset="0"/>
                <a:ea typeface="Calibri" pitchFamily="34" charset="-122"/>
                <a:cs typeface="Calibri" pitchFamily="34" charset="-120"/>
              </a:rPr>
              <a:t>0.16</a:t>
            </a:r>
            <a:endParaRPr lang="en-US" sz="1150" dirty="0"/>
          </a:p>
        </p:txBody>
      </p:sp>
      <p:sp>
        <p:nvSpPr>
          <p:cNvPr id="22" name="Shape 14"/>
          <p:cNvSpPr/>
          <p:nvPr/>
        </p:nvSpPr>
        <p:spPr>
          <a:xfrm>
            <a:off x="548640" y="3611880"/>
            <a:ext cx="5349240" cy="1234440"/>
          </a:xfrm>
          <a:prstGeom prst="roundRect">
            <a:avLst>
              <a:gd name="adj" fmla="val 7407"/>
            </a:avLst>
          </a:prstGeom>
          <a:solidFill>
            <a:srgbClr val="E4F3EC"/>
          </a:solidFill>
          <a:ln/>
        </p:spPr>
      </p:sp>
      <p:sp>
        <p:nvSpPr>
          <p:cNvPr id="23" name="Text 15"/>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4" name="Text 16"/>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25" name="Shape 17"/>
          <p:cNvSpPr/>
          <p:nvPr/>
        </p:nvSpPr>
        <p:spPr>
          <a:xfrm>
            <a:off x="6263640" y="3611880"/>
            <a:ext cx="5349240" cy="1234440"/>
          </a:xfrm>
          <a:prstGeom prst="roundRect">
            <a:avLst>
              <a:gd name="adj" fmla="val 7407"/>
            </a:avLst>
          </a:prstGeom>
          <a:solidFill>
            <a:srgbClr val="FBEAE8"/>
          </a:solidFill>
          <a:ln/>
        </p:spPr>
      </p:sp>
      <p:sp>
        <p:nvSpPr>
          <p:cNvPr id="26" name="Text 18"/>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7" name="Text 19"/>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28" name="Shape 20"/>
          <p:cNvSpPr/>
          <p:nvPr/>
        </p:nvSpPr>
        <p:spPr>
          <a:xfrm>
            <a:off x="548640" y="4983480"/>
            <a:ext cx="11064240" cy="1188720"/>
          </a:xfrm>
          <a:prstGeom prst="roundRect">
            <a:avLst>
              <a:gd name="adj" fmla="val 6154"/>
            </a:avLst>
          </a:prstGeom>
          <a:solidFill>
            <a:srgbClr val="141B4D"/>
          </a:solidFill>
          <a:ln/>
        </p:spPr>
      </p:sp>
      <p:sp>
        <p:nvSpPr>
          <p:cNvPr id="29" name="Text 21"/>
          <p:cNvSpPr txBox="1"/>
          <p:nvPr/>
        </p:nvSpPr>
        <p:spPr>
          <a:xfrm>
            <a:off x="868680" y="4983480"/>
            <a:ext cx="10424160" cy="1188720"/>
          </a:xfrm>
          <a:prstGeom prst="rect">
            <a:avLst/>
          </a:prstGeom>
          <a:noFill/>
          <a:ln/>
        </p:spPr>
        <p:txBody>
          <a:bodyPr wrap="square" lIns="0" tIns="0" rIns="0" bIns="0" rtlCol="0" anchor="ctr"/>
          <a:lstStyle/>
          <a:p>
            <a:pPr indent="0" marL="0">
              <a:lnSpc>
                <a:spcPct val="122000"/>
              </a:lnSpc>
              <a:buNone/>
            </a:pPr>
            <a:r>
              <a:rPr lang="en-US" sz="1200" b="1" dirty="0">
                <a:solidFill>
                  <a:srgbClr val="B8892B"/>
                </a:solidFill>
                <a:latin typeface="Calibri" pitchFamily="34" charset="0"/>
                <a:ea typeface="Calibri" pitchFamily="34" charset="-122"/>
                <a:cs typeface="Calibri" pitchFamily="34" charset="-120"/>
              </a:rPr>
              <a:t>Why not chosen: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T-Learner isn't broken by design — if control and treatment were roughly balanced (50/50), both models would have plenty of data and this would likely work fine. </a:t>
            </a:r>
            <a:pPr indent="0" marL="0">
              <a:lnSpc>
                <a:spcPct val="122000"/>
              </a:lnSpc>
              <a:buNone/>
            </a:pPr>
            <a:r>
              <a:rPr lang="en-US" sz="1200" b="1" dirty="0">
                <a:solidFill>
                  <a:srgbClr val="C9D2F0"/>
                </a:solidFill>
                <a:latin typeface="Calibri" pitchFamily="34" charset="0"/>
                <a:ea typeface="Calibri" pitchFamily="34" charset="-122"/>
                <a:cs typeface="Calibri" pitchFamily="34" charset="-120"/>
              </a:rPr>
              <a:t>The problem is our specific setup: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 imbalance starves the control model exactly where T-Learner needs it most, and its noise lands straight in every uplift score. Closing that imbalance gap is the reason X-Learner exists.</a:t>
            </a:r>
            <a:endParaRPr lang="en-US" sz="1200" dirty="0"/>
          </a:p>
        </p:txBody>
      </p:sp>
      <p:sp>
        <p:nvSpPr>
          <p:cNvPr id="30"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31"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treatment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control holdout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That's exactly T-Learner's weak point. X-Learner's imputation step lets the small arm's effect model borrow strength from the large arm's well-estimated outcome model.</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Y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417320"/>
            <a:ext cx="11064240" cy="777240"/>
          </a:xfrm>
          <a:prstGeom prst="rect">
            <a:avLst/>
          </a:prstGeom>
          <a:noFill/>
          <a:ln/>
        </p:spPr>
        <p:txBody>
          <a:bodyPr wrap="square" lIns="0" tIns="0" rIns="0" bIns="0" rtlCol="0" anchor="ctr"/>
          <a:lstStyle/>
          <a:p>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Control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μ̂₀(x) = E[Y(0) | X=x] — trained only on customers who did NOT get the offer.
</a:t>
            </a:r>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Treatment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μ̂₁(x) = E[Y(1) | X=x] — trained only on customers who DID get the offer. (Y = 1 if they applied for the card, 0 if not.)</a:t>
            </a:r>
            <a:endParaRPr lang="en-US" sz="1300" dirty="0"/>
          </a:p>
        </p:txBody>
      </p:sp>
      <p:sp>
        <p:nvSpPr>
          <p:cNvPr id="5" name="Shape 3"/>
          <p:cNvSpPr/>
          <p:nvPr/>
        </p:nvSpPr>
        <p:spPr>
          <a:xfrm>
            <a:off x="548640" y="2240280"/>
            <a:ext cx="11064240" cy="502920"/>
          </a:xfrm>
          <a:prstGeom prst="roundRect">
            <a:avLst>
              <a:gd name="adj" fmla="val 10909"/>
            </a:avLst>
          </a:prstGeom>
          <a:solidFill>
            <a:srgbClr val="EAF0FC"/>
          </a:solidFill>
          <a:ln/>
        </p:spPr>
      </p:sp>
      <p:sp>
        <p:nvSpPr>
          <p:cNvPr id="6" name="Text 4"/>
          <p:cNvSpPr txBox="1"/>
          <p:nvPr/>
        </p:nvSpPr>
        <p:spPr>
          <a:xfrm>
            <a:off x="777240" y="2240280"/>
            <a:ext cx="10607040" cy="50292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and an overly optimistic effect estimate later.</a:t>
            </a:r>
            <a:endParaRPr lang="en-US" sz="1150" dirty="0"/>
          </a:p>
        </p:txBody>
      </p:sp>
      <p:sp>
        <p:nvSpPr>
          <p:cNvPr id="7" name="Text 5"/>
          <p:cNvSpPr txBox="1"/>
          <p:nvPr/>
        </p:nvSpPr>
        <p:spPr>
          <a:xfrm>
            <a:off x="548640" y="2926080"/>
            <a:ext cx="11064240" cy="3200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Once trained, both models score EVERY customer — including their own counterfactual arm: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80160" y="3337560"/>
          <a:ext cx="9646920" cy="3017520"/>
        </p:xfrm>
        <a:graphic>
          <a:graphicData uri="http://schemas.openxmlformats.org/drawingml/2006/table">
            <a:tbl>
              <a:tblPr/>
              <a:tblGrid>
                <a:gridCol w="1463040"/>
                <a:gridCol w="1874520"/>
                <a:gridCol w="1463040"/>
                <a:gridCol w="2423160"/>
                <a:gridCol w="2423160"/>
              </a:tblGrid>
              <a:tr h="42976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Arm</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Y</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μ̂₀(x)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control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μ̂₁(x)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treatment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0.60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0.10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F</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bl>
          </a:graphicData>
        </a:graphic>
      </p:graphicFrame>
      <p:sp>
        <p:nvSpPr>
          <p:cNvPr id="9" name="Text 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10" name="Text 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 it first imputes each unit's likely effect using the OTHER arm's model as counterfactual. (Y = 1 if the customer applied for the card, 0 if not.)</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D̃ᵢᶠ = μ̂₁(Xᵢ) − Yᵢ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Yᵢ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 = μ̂₁ − 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 = Y − μ̂₀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5029200"/>
            <a:ext cx="11064240" cy="777240"/>
          </a:xfrm>
          <a:prstGeom prst="roundRect">
            <a:avLst>
              <a:gd name="adj" fmla="val 7059"/>
            </a:avLst>
          </a:prstGeom>
          <a:solidFill>
            <a:srgbClr val="141B4D"/>
          </a:solidFill>
          <a:ln/>
        </p:spPr>
      </p:sp>
      <p:sp>
        <p:nvSpPr>
          <p:cNvPr id="14" name="Text 10"/>
          <p:cNvSpPr txBox="1"/>
          <p:nvPr/>
        </p:nvSpPr>
        <p:spPr>
          <a:xfrm>
            <a:off x="822960" y="5029200"/>
            <a:ext cx="10515600" cy="77724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These are continuous, signed numbers — not 0/1 labels. Each one is a single unit's best available estimate of its own treatment effect, and each becomes a training label in Layer 3.</a:t>
            </a:r>
            <a:endParaRPr lang="en-US" sz="12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Y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657600"/>
            <a:ext cx="11064240" cy="502920"/>
          </a:xfrm>
          <a:prstGeom prst="roundRect">
            <a:avLst>
              <a:gd name="adj" fmla="val 10909"/>
            </a:avLst>
          </a:prstGeom>
          <a:solidFill>
            <a:srgbClr val="EAF0FC"/>
          </a:solidFill>
          <a:ln/>
        </p:spPr>
      </p:sp>
      <p:sp>
        <p:nvSpPr>
          <p:cNvPr id="12" name="Text 10"/>
          <p:cNvSpPr txBox="1"/>
          <p:nvPr/>
        </p:nvSpPr>
        <p:spPr>
          <a:xfrm>
            <a:off x="777240" y="3657600"/>
            <a:ext cx="10607040" cy="502920"/>
          </a:xfrm>
          <a:prstGeom prst="rect">
            <a:avLst/>
          </a:prstGeom>
          <a:noFill/>
          <a:ln/>
        </p:spPr>
        <p:txBody>
          <a:bodyPr wrap="square" lIns="0" tIns="0" rIns="0" bIns="0"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What they output: “how big is this customer's incremental effect” — not “how likely are they to respond.”</a:t>
            </a:r>
            <a:endParaRPr lang="en-US" sz="1250" dirty="0"/>
          </a:p>
        </p:txBody>
      </p:sp>
      <p:sp>
        <p:nvSpPr>
          <p:cNvPr id="13" name="Text 11"/>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 a new customer, G, scored by both:</a:t>
            </a:r>
            <a:endParaRPr lang="en-US" sz="1350" dirty="0"/>
          </a:p>
        </p:txBody>
      </p:sp>
      <p:sp>
        <p:nvSpPr>
          <p:cNvPr id="14" name="Shape 12"/>
          <p:cNvSpPr/>
          <p:nvPr/>
        </p:nvSpPr>
        <p:spPr>
          <a:xfrm>
            <a:off x="3352648" y="4892040"/>
            <a:ext cx="2468880" cy="1188720"/>
          </a:xfrm>
          <a:prstGeom prst="roundRect">
            <a:avLst>
              <a:gd name="adj" fmla="val 6154"/>
            </a:avLst>
          </a:prstGeom>
          <a:solidFill>
            <a:srgbClr val="1B7A5A"/>
          </a:solidFill>
          <a:ln/>
        </p:spPr>
      </p:sp>
      <p:sp>
        <p:nvSpPr>
          <p:cNvPr id="15" name="Text 13"/>
          <p:cNvSpPr txBox="1"/>
          <p:nvPr/>
        </p:nvSpPr>
        <p:spPr>
          <a:xfrm>
            <a:off x="335264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τC(G)</a:t>
            </a:r>
            <a:endParaRPr lang="en-US" sz="1300" dirty="0"/>
          </a:p>
        </p:txBody>
      </p:sp>
      <p:sp>
        <p:nvSpPr>
          <p:cNvPr id="16" name="Text 14"/>
          <p:cNvSpPr txBox="1"/>
          <p:nvPr/>
        </p:nvSpPr>
        <p:spPr>
          <a:xfrm>
            <a:off x="335264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0.12</a:t>
            </a:r>
            <a:endParaRPr lang="en-US" sz="3200" dirty="0"/>
          </a:p>
        </p:txBody>
      </p:sp>
      <p:sp>
        <p:nvSpPr>
          <p:cNvPr id="17" name="Shape 15"/>
          <p:cNvSpPr/>
          <p:nvPr/>
        </p:nvSpPr>
        <p:spPr>
          <a:xfrm>
            <a:off x="6370168" y="4892040"/>
            <a:ext cx="2468880" cy="1188720"/>
          </a:xfrm>
          <a:prstGeom prst="roundRect">
            <a:avLst>
              <a:gd name="adj" fmla="val 6154"/>
            </a:avLst>
          </a:prstGeom>
          <a:solidFill>
            <a:srgbClr val="B8892B"/>
          </a:solidFill>
          <a:ln/>
        </p:spPr>
      </p:sp>
      <p:sp>
        <p:nvSpPr>
          <p:cNvPr id="18" name="Text 16"/>
          <p:cNvSpPr txBox="1"/>
          <p:nvPr/>
        </p:nvSpPr>
        <p:spPr>
          <a:xfrm>
            <a:off x="637016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τT(G)</a:t>
            </a:r>
            <a:endParaRPr lang="en-US" sz="1300" dirty="0"/>
          </a:p>
        </p:txBody>
      </p:sp>
      <p:sp>
        <p:nvSpPr>
          <p:cNvPr id="19" name="Text 17"/>
          <p:cNvSpPr txBox="1"/>
          <p:nvPr/>
        </p:nvSpPr>
        <p:spPr>
          <a:xfrm>
            <a:off x="637016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0.28</a:t>
            </a:r>
            <a:endParaRPr lang="en-US" sz="3200" dirty="0"/>
          </a:p>
        </p:txBody>
      </p:sp>
      <p:sp>
        <p:nvSpPr>
          <p:cNvPr id="20" name="Text 18"/>
          <p:cNvSpPr txBox="1"/>
          <p:nvPr/>
        </p:nvSpPr>
        <p:spPr>
          <a:xfrm>
            <a:off x="548640" y="6217920"/>
            <a:ext cx="11064240" cy="36576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2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86000"/>
            <a:ext cx="11064240" cy="41148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g(x) is the propensity score — how much to trust the treatment-side estimate vs. the control-side one for this customer.</a:t>
            </a:r>
            <a:endParaRPr lang="en-US" sz="1250" dirty="0"/>
          </a:p>
        </p:txBody>
      </p:sp>
      <p:sp>
        <p:nvSpPr>
          <p:cNvPr id="7" name="Text 5"/>
          <p:cNvSpPr txBox="1"/>
          <p:nvPr/>
        </p:nvSpPr>
        <p:spPr>
          <a:xfrm>
            <a:off x="548640" y="288036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continuing with customer G:</a:t>
            </a:r>
            <a:endParaRPr lang="en-US" sz="1350" dirty="0"/>
          </a:p>
        </p:txBody>
      </p:sp>
      <p:sp>
        <p:nvSpPr>
          <p:cNvPr id="8" name="Shape 6"/>
          <p:cNvSpPr/>
          <p:nvPr/>
        </p:nvSpPr>
        <p:spPr>
          <a:xfrm>
            <a:off x="548640" y="3337560"/>
            <a:ext cx="8138160" cy="566928"/>
          </a:xfrm>
          <a:prstGeom prst="roundRect">
            <a:avLst>
              <a:gd name="adj" fmla="val 9677"/>
            </a:avLst>
          </a:prstGeom>
          <a:solidFill>
            <a:srgbClr val="FBF3E1"/>
          </a:solidFill>
          <a:ln/>
        </p:spPr>
      </p:sp>
      <p:sp>
        <p:nvSpPr>
          <p:cNvPr id="9" name="Text 7"/>
          <p:cNvSpPr txBox="1"/>
          <p:nvPr/>
        </p:nvSpPr>
        <p:spPr>
          <a:xfrm>
            <a:off x="777240" y="3337560"/>
            <a:ext cx="1188720" cy="566928"/>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337560"/>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337560"/>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337560"/>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337560"/>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041648"/>
            <a:ext cx="8138160" cy="566928"/>
          </a:xfrm>
          <a:prstGeom prst="roundRect">
            <a:avLst>
              <a:gd name="adj" fmla="val 9677"/>
            </a:avLst>
          </a:prstGeom>
          <a:solidFill>
            <a:srgbClr val="E4F3EC"/>
          </a:solidFill>
          <a:ln/>
        </p:spPr>
      </p:sp>
      <p:sp>
        <p:nvSpPr>
          <p:cNvPr id="17" name="Text 15"/>
          <p:cNvSpPr txBox="1"/>
          <p:nvPr/>
        </p:nvSpPr>
        <p:spPr>
          <a:xfrm>
            <a:off x="777240" y="4041648"/>
            <a:ext cx="1188720" cy="566928"/>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041648"/>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041648"/>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041648"/>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041648"/>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246120"/>
            <a:ext cx="2606040" cy="1453896"/>
          </a:xfrm>
          <a:prstGeom prst="roundRect">
            <a:avLst>
              <a:gd name="adj" fmla="val 6289"/>
            </a:avLst>
          </a:prstGeom>
          <a:solidFill>
            <a:srgbClr val="1E2761"/>
          </a:solidFill>
          <a:ln/>
        </p:spPr>
      </p:sp>
      <p:sp>
        <p:nvSpPr>
          <p:cNvPr id="25" name="Text 23"/>
          <p:cNvSpPr txBox="1"/>
          <p:nvPr/>
        </p:nvSpPr>
        <p:spPr>
          <a:xfrm>
            <a:off x="9006840" y="338328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65760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379976"/>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Mail — send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Don't mail — offer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mail down to a budget cutoff, and treat a low or negative score as a decision NOT to spend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mailing everyone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2026-08-27T04:12:22Z</dcterms:created>
  <dcterms:modified xsi:type="dcterms:W3CDTF">2026-08-27T04:12:22Z</dcterms:modified>
</cp:coreProperties>
</file>