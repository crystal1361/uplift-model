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1-minute Chinese answer (verbatim, for rehearsal):
X-learner 的流程是这样的：
1. 先把历史实验数据分成 treatment（新 offer）和 control（旧 offer）两组，分别训练两个 outcome model，一个学新 offer 下的结果，一个学旧 offer 下的结果。
2. 然后对每个样本做反事实预测，构造 pseudo effect：对 control 组样本，用 treatment model 预测值减真实结果；对 treatment 组样本，用真实结果减 control model 预测值。构造两类 pseudo effect（control-side pseudo effect, treatment-side pseudo effect）。
3. 接着用这些 pseudo effect 分别训练两个 effect model，effect model C 和 effect model T。它们输出的是连续的 uplift 分数，而不是回复概率。
4. 最后再用一个权重 g(x) 把两个 effect model 的结果融合，得到最终 uplift，用来排序和选人。这样做的好处是，它不只是看谁最可能回复，而是看谁因为换成新 offer 会产生最大的增量响应。
English equivalent:
1. Split historical experiment data into treatment (new offer) and control (old offer), train two outcome models — one for what happens with the new offer, one for the existing offer.
2. For each unit, do a counterfactual prediction to build a pseudo effect: for control units, treatment-model prediction minus actual outcome; for treatment units, actual outcome minus control-model prediction. Two kinds of pseudo effect result.
3. Train two effect models on these pseudo effects. Their output is a continuous uplift score, not a response probability.
4. Finally, blend the two effect models with a weight g(x) into the final uplift score, used for ranking and targeting. The benefit: you're not just looking at who's most likely to respond, but who will produce the biggest incremental response from switching to the new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2761"/>
          </a:solidFill>
          <a:ln/>
        </p:spPr>
      </p:sp>
      <p:sp>
        <p:nvSpPr>
          <p:cNvPr id="3" name="Shape 1"/>
          <p:cNvSpPr/>
          <p:nvPr/>
        </p:nvSpPr>
        <p:spPr>
          <a:xfrm>
            <a:off x="8778240" y="3291840"/>
            <a:ext cx="5486400" cy="5486400"/>
          </a:xfrm>
          <a:prstGeom prst="ellipse">
            <a:avLst/>
          </a:prstGeom>
          <a:ln w="19050">
            <a:solidFill>
              <a:srgbClr val="34408A"/>
            </a:solidFill>
            <a:prstDash val="solid"/>
          </a:ln>
        </p:spPr>
      </p:sp>
      <p:sp>
        <p:nvSpPr>
          <p:cNvPr id="4" name="Shape 2"/>
          <p:cNvSpPr/>
          <p:nvPr/>
        </p:nvSpPr>
        <p:spPr>
          <a:xfrm>
            <a:off x="9418320" y="3931920"/>
            <a:ext cx="4206240" cy="4206240"/>
          </a:xfrm>
          <a:prstGeom prst="ellipse">
            <a:avLst/>
          </a:prstGeom>
          <a:ln w="19050">
            <a:solidFill>
              <a:srgbClr val="34408A"/>
            </a:solidFill>
            <a:prstDash val="solid"/>
          </a:ln>
        </p:spPr>
      </p:sp>
      <p:sp>
        <p:nvSpPr>
          <p:cNvPr id="5" name="Shape 3"/>
          <p:cNvSpPr/>
          <p:nvPr/>
        </p:nvSpPr>
        <p:spPr>
          <a:xfrm>
            <a:off x="10058400" y="4572000"/>
            <a:ext cx="2926080" cy="2926080"/>
          </a:xfrm>
          <a:prstGeom prst="ellipse">
            <a:avLst/>
          </a:prstGeom>
          <a:solidFill>
            <a:srgbClr val="B8892B"/>
          </a:solidFill>
          <a:ln/>
        </p:spPr>
      </p:sp>
      <p:sp>
        <p:nvSpPr>
          <p:cNvPr id="6" name="Text 4"/>
          <p:cNvSpPr txBox="1"/>
          <p:nvPr/>
        </p:nvSpPr>
        <p:spPr>
          <a:xfrm>
            <a:off x="822960" y="1965960"/>
            <a:ext cx="9144000" cy="365760"/>
          </a:xfrm>
          <a:prstGeom prst="rect">
            <a:avLst/>
          </a:prstGeom>
          <a:noFill/>
          <a:ln/>
        </p:spPr>
        <p:txBody>
          <a:bodyPr wrap="square" lIns="0" tIns="0" rIns="0" bIns="0" rtlCol="0" anchor="ctr"/>
          <a:lstStyle/>
          <a:p>
            <a:pPr indent="0" marL="0">
              <a:buNone/>
            </a:pPr>
            <a:r>
              <a:rPr lang="en-US" sz="1400" b="1" spc="300" kern="0" dirty="0">
                <a:solidFill>
                  <a:srgbClr val="CADCFC"/>
                </a:solidFill>
                <a:latin typeface="Calibri" pitchFamily="34" charset="0"/>
                <a:ea typeface="Calibri" pitchFamily="34" charset="-122"/>
                <a:cs typeface="Calibri" pitchFamily="34" charset="-120"/>
              </a:rPr>
              <a:t>UPLIFT MODELING</a:t>
            </a:r>
            <a:endParaRPr lang="en-US" sz="1400" dirty="0"/>
          </a:p>
        </p:txBody>
      </p:sp>
      <p:sp>
        <p:nvSpPr>
          <p:cNvPr id="7" name="Text 5"/>
          <p:cNvSpPr txBox="1"/>
          <p:nvPr/>
        </p:nvSpPr>
        <p:spPr>
          <a:xfrm>
            <a:off x="777240" y="2331720"/>
            <a:ext cx="877824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Targeting the Persuadables:</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The X-Learner Approach</a:t>
            </a:r>
            <a:endParaRPr lang="en-US" sz="4400" dirty="0"/>
          </a:p>
        </p:txBody>
      </p:sp>
      <p:sp>
        <p:nvSpPr>
          <p:cNvPr id="8" name="Text 6"/>
          <p:cNvSpPr txBox="1"/>
          <p:nvPr/>
        </p:nvSpPr>
        <p:spPr>
          <a:xfrm>
            <a:off x="822960" y="4251960"/>
            <a:ext cx="8046720"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From two outcome models to a single ranked uplift score — how it's built, why X-Learner over S/T-Learner, and how it's validated.</a:t>
            </a:r>
            <a:endParaRPr lang="en-US" sz="1500" dirty="0"/>
          </a:p>
        </p:txBody>
      </p:sp>
      <p:sp>
        <p:nvSpPr>
          <p:cNvPr id="9" name="Text 7"/>
          <p:cNvSpPr txBox="1"/>
          <p:nvPr/>
        </p:nvSpPr>
        <p:spPr>
          <a:xfrm>
            <a:off x="822960" y="6126480"/>
            <a:ext cx="8229600" cy="365760"/>
          </a:xfrm>
          <a:prstGeom prst="rect">
            <a:avLst/>
          </a:prstGeom>
          <a:noFill/>
          <a:ln/>
        </p:spPr>
        <p:txBody>
          <a:bodyPr wrap="square" lIns="0" tIns="0" rIns="0" bIns="0" rtlCol="0" anchor="ctr"/>
          <a:lstStyle/>
          <a:p>
            <a:pPr indent="0" marL="0">
              <a:buNone/>
            </a:pPr>
            <a:r>
              <a:rPr lang="en-US" sz="1150" dirty="0">
                <a:solidFill>
                  <a:srgbClr val="8E9BD6"/>
                </a:solidFill>
                <a:latin typeface="Calibri" pitchFamily="34" charset="0"/>
                <a:ea typeface="Calibri" pitchFamily="34" charset="-122"/>
                <a:cs typeface="Calibri" pitchFamily="34" charset="-120"/>
              </a:rPr>
              <a:t>Credit Card Prescreen Targeting  ·  Methodology Walkthrough  ·  Synthetic-Data Demo</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What We'll Walk Through</a:t>
            </a:r>
            <a:endParaRPr lang="en-US" sz="3000" dirty="0"/>
          </a:p>
        </p:txBody>
      </p:sp>
      <p:sp>
        <p:nvSpPr>
          <p:cNvPr id="4" name="Shape 2"/>
          <p:cNvSpPr/>
          <p:nvPr/>
        </p:nvSpPr>
        <p:spPr>
          <a:xfrm>
            <a:off x="548640" y="1600200"/>
            <a:ext cx="11064240" cy="1115568"/>
          </a:xfrm>
          <a:prstGeom prst="roundRect">
            <a:avLst>
              <a:gd name="adj" fmla="val 7377"/>
            </a:avLst>
          </a:prstGeom>
          <a:solidFill>
            <a:srgbClr val="EAF0FC"/>
          </a:solidFill>
          <a:ln w="12700">
            <a:solidFill>
              <a:srgbClr val="CADCFC"/>
            </a:solidFill>
            <a:prstDash val="solid"/>
          </a:ln>
        </p:spPr>
      </p:sp>
      <p:sp>
        <p:nvSpPr>
          <p:cNvPr id="5" name="Text 3"/>
          <p:cNvSpPr txBox="1"/>
          <p:nvPr/>
        </p:nvSpPr>
        <p:spPr>
          <a:xfrm>
            <a:off x="822960" y="160020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965960" y="172821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Why an uplift model</a:t>
            </a:r>
            <a:endParaRPr lang="en-US" sz="1700" dirty="0"/>
          </a:p>
        </p:txBody>
      </p:sp>
      <p:sp>
        <p:nvSpPr>
          <p:cNvPr id="7" name="Text 5"/>
          <p:cNvSpPr txBox="1"/>
          <p:nvPr/>
        </p:nvSpPr>
        <p:spPr>
          <a:xfrm>
            <a:off x="1965960" y="213055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Response models waste budget on people who'd act anyway — uplift targets who the offer actually changes.</a:t>
            </a:r>
            <a:endParaRPr lang="en-US" sz="1250" dirty="0"/>
          </a:p>
        </p:txBody>
      </p:sp>
      <p:sp>
        <p:nvSpPr>
          <p:cNvPr id="8" name="Shape 6"/>
          <p:cNvSpPr/>
          <p:nvPr/>
        </p:nvSpPr>
        <p:spPr>
          <a:xfrm>
            <a:off x="548640" y="2880360"/>
            <a:ext cx="11064240" cy="1115568"/>
          </a:xfrm>
          <a:prstGeom prst="roundRect">
            <a:avLst>
              <a:gd name="adj" fmla="val 7377"/>
            </a:avLst>
          </a:prstGeom>
          <a:solidFill>
            <a:srgbClr val="FFFFFF"/>
          </a:solidFill>
          <a:ln w="12700">
            <a:solidFill>
              <a:srgbClr val="CADCFC"/>
            </a:solidFill>
            <a:prstDash val="solid"/>
          </a:ln>
        </p:spPr>
      </p:sp>
      <p:sp>
        <p:nvSpPr>
          <p:cNvPr id="9" name="Text 7"/>
          <p:cNvSpPr txBox="1"/>
          <p:nvPr/>
        </p:nvSpPr>
        <p:spPr>
          <a:xfrm>
            <a:off x="822960" y="288036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965960" y="300837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Three ways to estimate it</a:t>
            </a:r>
            <a:endParaRPr lang="en-US" sz="1700" dirty="0"/>
          </a:p>
        </p:txBody>
      </p:sp>
      <p:sp>
        <p:nvSpPr>
          <p:cNvPr id="11" name="Text 9"/>
          <p:cNvSpPr txBox="1"/>
          <p:nvPr/>
        </p:nvSpPr>
        <p:spPr>
          <a:xfrm>
            <a:off x="1965960" y="341071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S-Learner, T-Learner, X-Learner — what each one does, and why X-Learner wins here.</a:t>
            </a:r>
            <a:endParaRPr lang="en-US" sz="1250" dirty="0"/>
          </a:p>
        </p:txBody>
      </p:sp>
      <p:sp>
        <p:nvSpPr>
          <p:cNvPr id="12" name="Shape 10"/>
          <p:cNvSpPr/>
          <p:nvPr/>
        </p:nvSpPr>
        <p:spPr>
          <a:xfrm>
            <a:off x="548640" y="4160520"/>
            <a:ext cx="11064240" cy="1115568"/>
          </a:xfrm>
          <a:prstGeom prst="roundRect">
            <a:avLst>
              <a:gd name="adj" fmla="val 7377"/>
            </a:avLst>
          </a:prstGeom>
          <a:solidFill>
            <a:srgbClr val="EAF0FC"/>
          </a:solidFill>
          <a:ln w="12700">
            <a:solidFill>
              <a:srgbClr val="CADCFC"/>
            </a:solidFill>
            <a:prstDash val="solid"/>
          </a:ln>
        </p:spPr>
      </p:sp>
      <p:sp>
        <p:nvSpPr>
          <p:cNvPr id="13" name="Text 11"/>
          <p:cNvSpPr txBox="1"/>
          <p:nvPr/>
        </p:nvSpPr>
        <p:spPr>
          <a:xfrm>
            <a:off x="822960" y="416052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965960" y="428853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X-Learner, layer by layer</a:t>
            </a:r>
            <a:endParaRPr lang="en-US" sz="1700" dirty="0"/>
          </a:p>
        </p:txBody>
      </p:sp>
      <p:sp>
        <p:nvSpPr>
          <p:cNvPr id="15" name="Text 13"/>
          <p:cNvSpPr txBox="1"/>
          <p:nvPr/>
        </p:nvSpPr>
        <p:spPr>
          <a:xfrm>
            <a:off x="1965960" y="469087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Two outcome models → pseudo effects → two effect models → weighted fusion, with a worked numeric example.</a:t>
            </a:r>
            <a:endParaRPr lang="en-US" sz="1250" dirty="0"/>
          </a:p>
        </p:txBody>
      </p:sp>
      <p:sp>
        <p:nvSpPr>
          <p:cNvPr id="16" name="Shape 14"/>
          <p:cNvSpPr/>
          <p:nvPr/>
        </p:nvSpPr>
        <p:spPr>
          <a:xfrm>
            <a:off x="548640" y="5440680"/>
            <a:ext cx="11064240" cy="1115568"/>
          </a:xfrm>
          <a:prstGeom prst="roundRect">
            <a:avLst>
              <a:gd name="adj" fmla="val 7377"/>
            </a:avLst>
          </a:prstGeom>
          <a:solidFill>
            <a:srgbClr val="FFFFFF"/>
          </a:solidFill>
          <a:ln w="12700">
            <a:solidFill>
              <a:srgbClr val="CADCFC"/>
            </a:solidFill>
            <a:prstDash val="solid"/>
          </a:ln>
        </p:spPr>
      </p:sp>
      <p:sp>
        <p:nvSpPr>
          <p:cNvPr id="17" name="Text 15"/>
          <p:cNvSpPr txBox="1"/>
          <p:nvPr/>
        </p:nvSpPr>
        <p:spPr>
          <a:xfrm>
            <a:off x="822960" y="544068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1965960" y="556869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Validation &amp; business impact</a:t>
            </a:r>
            <a:endParaRPr lang="en-US" sz="1700" dirty="0"/>
          </a:p>
        </p:txBody>
      </p:sp>
      <p:sp>
        <p:nvSpPr>
          <p:cNvPr id="19" name="Text 17"/>
          <p:cNvSpPr txBox="1"/>
          <p:nvPr/>
        </p:nvSpPr>
        <p:spPr>
          <a:xfrm>
            <a:off x="1965960" y="597103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Qini curve, a ground-truth check only synthetic data allows, and what it means for targeting decisions.</a:t>
            </a:r>
            <a:endParaRPr lang="en-US" sz="125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21"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CORE IDEA</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Not “Who Responds” — “Who Responds Because of Us”</a:t>
            </a:r>
            <a:endParaRPr lang="en-US" sz="3000" dirty="0"/>
          </a:p>
        </p:txBody>
      </p:sp>
      <p:sp>
        <p:nvSpPr>
          <p:cNvPr id="4" name="Text 2"/>
          <p:cNvSpPr txBox="1"/>
          <p:nvPr/>
        </p:nvSpPr>
        <p:spPr>
          <a:xfrm>
            <a:off x="548640" y="1371600"/>
            <a:ext cx="5212080" cy="1554480"/>
          </a:xfrm>
          <a:prstGeom prst="rect">
            <a:avLst/>
          </a:prstGeom>
          <a:noFill/>
          <a:ln/>
        </p:spPr>
        <p:txBody>
          <a:bodyPr wrap="square" lIns="0" tIns="0" rIns="0" bIns="0" rtlCol="0" anchor="ctr"/>
          <a:lstStyle/>
          <a:p>
            <a:pPr indent="0" marL="0">
              <a:lnSpc>
                <a:spcPct val="125000"/>
              </a:lnSpc>
              <a:buNone/>
            </a:pPr>
            <a:r>
              <a:rPr lang="en-US" sz="1350" dirty="0">
                <a:solidFill>
                  <a:srgbClr val="33344A"/>
                </a:solidFill>
                <a:latin typeface="Calibri" pitchFamily="34" charset="0"/>
                <a:ea typeface="Calibri" pitchFamily="34" charset="-122"/>
                <a:cs typeface="Calibri" pitchFamily="34" charset="-120"/>
              </a:rPr>
              <a:t>A response model predicts who's likely to respond — but that includes people who'd apply on the existing offer anyway. An uplift model predicts the incremental effect of switching someone to the new offer, so targeting can focus on the one segment where the new offer actually changes the outcome.</a:t>
            </a:r>
            <a:endParaRPr lang="en-US" sz="1350" dirty="0"/>
          </a:p>
        </p:txBody>
      </p:sp>
      <p:sp>
        <p:nvSpPr>
          <p:cNvPr id="5" name="Text 3"/>
          <p:cNvSpPr txBox="1"/>
          <p:nvPr/>
        </p:nvSpPr>
        <p:spPr>
          <a:xfrm>
            <a:off x="548640" y="3063240"/>
            <a:ext cx="5212080" cy="54864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τ(x) = P(Y=1 | X=x, T=1) − P(Y=1 | X=x, T=0)</a:t>
            </a:r>
            <a:endParaRPr lang="en-US" sz="1400" dirty="0"/>
          </a:p>
        </p:txBody>
      </p:sp>
      <p:sp>
        <p:nvSpPr>
          <p:cNvPr id="6" name="Shape 4"/>
          <p:cNvSpPr/>
          <p:nvPr/>
        </p:nvSpPr>
        <p:spPr>
          <a:xfrm>
            <a:off x="548640" y="3657600"/>
            <a:ext cx="5212080" cy="777240"/>
          </a:xfrm>
          <a:prstGeom prst="roundRect">
            <a:avLst>
              <a:gd name="adj" fmla="val 7059"/>
            </a:avLst>
          </a:prstGeom>
          <a:solidFill>
            <a:srgbClr val="EAF0FC"/>
          </a:solidFill>
          <a:ln/>
        </p:spPr>
      </p:sp>
      <p:sp>
        <p:nvSpPr>
          <p:cNvPr id="7" name="Text 5"/>
          <p:cNvSpPr txBox="1"/>
          <p:nvPr/>
        </p:nvSpPr>
        <p:spPr>
          <a:xfrm>
            <a:off x="777240" y="3657600"/>
            <a:ext cx="4892040" cy="777240"/>
          </a:xfrm>
          <a:prstGeom prst="rect">
            <a:avLst/>
          </a:prstGeom>
          <a:noFill/>
          <a:ln/>
        </p:spPr>
        <p:txBody>
          <a:bodyPr wrap="square" lIns="0" tIns="0" rIns="0" bIns="0" rtlCol="0" anchor="ctr"/>
          <a:lstStyle/>
          <a:p>
            <a:pPr indent="0" marL="0">
              <a:lnSpc>
                <a:spcPct val="120000"/>
              </a:lnSpc>
              <a:buNone/>
            </a:pPr>
            <a:r>
              <a:rPr lang="en-US" sz="1100" b="1" dirty="0">
                <a:solidFill>
                  <a:srgbClr val="1E2761"/>
                </a:solidFill>
                <a:latin typeface="Calibri" pitchFamily="34" charset="0"/>
                <a:ea typeface="Calibri" pitchFamily="34" charset="-122"/>
                <a:cs typeface="Calibri" pitchFamily="34" charset="-120"/>
              </a:rPr>
              <a:t>In our prescreen example:  </a:t>
            </a:r>
            <a:pPr indent="0" marL="0">
              <a:lnSpc>
                <a:spcPct val="120000"/>
              </a:lnSpc>
              <a:buNone/>
            </a:pPr>
            <a:r>
              <a:rPr lang="en-US" sz="1100" dirty="0">
                <a:solidFill>
                  <a:srgbClr val="33344A"/>
                </a:solidFill>
                <a:latin typeface="Calibri" pitchFamily="34" charset="0"/>
                <a:ea typeface="Calibri" pitchFamily="34" charset="-122"/>
                <a:cs typeface="Calibri" pitchFamily="34" charset="-120"/>
              </a:rPr>
              <a:t>Y (our Applied column) = 1 if the customer applies for the credit card, 0 if not.  T (our new_offer column) = 1 if they received the new offer variant (treatment), 0 if they received the existing offer (control) — everyone gets an offer, this is old vs. new.</a:t>
            </a:r>
            <a:endParaRPr lang="en-US" sz="1100" dirty="0"/>
          </a:p>
        </p:txBody>
      </p:sp>
      <p:sp>
        <p:nvSpPr>
          <p:cNvPr id="8" name="Text 6"/>
          <p:cNvSpPr txBox="1"/>
          <p:nvPr/>
        </p:nvSpPr>
        <p:spPr>
          <a:xfrm>
            <a:off x="548640" y="4526280"/>
            <a:ext cx="5212080" cy="41148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τ(x) — our uplift score — is the treatment effect we're trying to estimate, not the raw response probability.</a:t>
            </a:r>
            <a:endParaRPr lang="en-US" sz="1100" dirty="0"/>
          </a:p>
        </p:txBody>
      </p:sp>
      <p:sp>
        <p:nvSpPr>
          <p:cNvPr id="9" name="Shape 7"/>
          <p:cNvSpPr/>
          <p:nvPr/>
        </p:nvSpPr>
        <p:spPr>
          <a:xfrm>
            <a:off x="6126480" y="1371600"/>
            <a:ext cx="2587752" cy="2336292"/>
          </a:xfrm>
          <a:prstGeom prst="roundRect">
            <a:avLst>
              <a:gd name="adj" fmla="val 3131"/>
            </a:avLst>
          </a:prstGeom>
          <a:solidFill>
            <a:srgbClr val="E4F3EC"/>
          </a:solidFill>
          <a:ln/>
        </p:spPr>
      </p:sp>
      <p:sp>
        <p:nvSpPr>
          <p:cNvPr id="10" name="Text 8"/>
          <p:cNvSpPr txBox="1"/>
          <p:nvPr/>
        </p:nvSpPr>
        <p:spPr>
          <a:xfrm>
            <a:off x="6327648" y="1536192"/>
            <a:ext cx="2221992"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Persuadables</a:t>
            </a:r>
            <a:endParaRPr lang="en-US" sz="1550" dirty="0"/>
          </a:p>
        </p:txBody>
      </p:sp>
      <p:sp>
        <p:nvSpPr>
          <p:cNvPr id="11" name="Text 9"/>
          <p:cNvSpPr txBox="1"/>
          <p:nvPr/>
        </p:nvSpPr>
        <p:spPr>
          <a:xfrm>
            <a:off x="6327648"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only with the new offer (Y=1 under T=1, Y=0 under T=0) — switching the offer changes their decision. This is the target segment.</a:t>
            </a:r>
            <a:endParaRPr lang="en-US" sz="1100" dirty="0"/>
          </a:p>
        </p:txBody>
      </p:sp>
      <p:sp>
        <p:nvSpPr>
          <p:cNvPr id="12" name="Shape 10"/>
          <p:cNvSpPr/>
          <p:nvPr/>
        </p:nvSpPr>
        <p:spPr>
          <a:xfrm>
            <a:off x="8933688" y="1371600"/>
            <a:ext cx="2587752" cy="2336292"/>
          </a:xfrm>
          <a:prstGeom prst="roundRect">
            <a:avLst>
              <a:gd name="adj" fmla="val 3131"/>
            </a:avLst>
          </a:prstGeom>
          <a:solidFill>
            <a:srgbClr val="EAF0FC"/>
          </a:solidFill>
          <a:ln/>
        </p:spPr>
      </p:sp>
      <p:sp>
        <p:nvSpPr>
          <p:cNvPr id="13" name="Text 11"/>
          <p:cNvSpPr txBox="1"/>
          <p:nvPr/>
        </p:nvSpPr>
        <p:spPr>
          <a:xfrm>
            <a:off x="9134856" y="1536192"/>
            <a:ext cx="2221992"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Sure Things</a:t>
            </a:r>
            <a:endParaRPr lang="en-US" sz="1550" dirty="0"/>
          </a:p>
        </p:txBody>
      </p:sp>
      <p:sp>
        <p:nvSpPr>
          <p:cNvPr id="14" name="Text 12"/>
          <p:cNvSpPr txBox="1"/>
          <p:nvPr/>
        </p:nvSpPr>
        <p:spPr>
          <a:xfrm>
            <a:off x="9134856"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on either offer (Y=1 regardless of T). Giving them the new offer is wasted — the old one would've worked too.</a:t>
            </a:r>
            <a:endParaRPr lang="en-US" sz="1100" dirty="0"/>
          </a:p>
        </p:txBody>
      </p:sp>
      <p:sp>
        <p:nvSpPr>
          <p:cNvPr id="15" name="Shape 13"/>
          <p:cNvSpPr/>
          <p:nvPr/>
        </p:nvSpPr>
        <p:spPr>
          <a:xfrm>
            <a:off x="6126480" y="3927348"/>
            <a:ext cx="2587752" cy="2336292"/>
          </a:xfrm>
          <a:prstGeom prst="roundRect">
            <a:avLst>
              <a:gd name="adj" fmla="val 3131"/>
            </a:avLst>
          </a:prstGeom>
          <a:solidFill>
            <a:srgbClr val="F2F2F5"/>
          </a:solidFill>
          <a:ln/>
        </p:spPr>
      </p:sp>
      <p:sp>
        <p:nvSpPr>
          <p:cNvPr id="16" name="Text 14"/>
          <p:cNvSpPr txBox="1"/>
          <p:nvPr/>
        </p:nvSpPr>
        <p:spPr>
          <a:xfrm>
            <a:off x="6327648" y="4091940"/>
            <a:ext cx="2221992" cy="365760"/>
          </a:xfrm>
          <a:prstGeom prst="rect">
            <a:avLst/>
          </a:prstGeom>
          <a:noFill/>
          <a:ln/>
        </p:spPr>
        <p:txBody>
          <a:bodyPr wrap="square" lIns="0" tIns="0" rIns="0" bIns="0" rtlCol="0" anchor="ctr"/>
          <a:lstStyle/>
          <a:p>
            <a:pPr indent="0" marL="0">
              <a:buNone/>
            </a:pPr>
            <a:r>
              <a:rPr lang="en-US" sz="1550" b="1" dirty="0">
                <a:solidFill>
                  <a:srgbClr val="6B7280"/>
                </a:solidFill>
                <a:latin typeface="Cambria" pitchFamily="34" charset="0"/>
                <a:ea typeface="Cambria" pitchFamily="34" charset="-122"/>
                <a:cs typeface="Cambria" pitchFamily="34" charset="-120"/>
              </a:rPr>
              <a:t>Lost Causes</a:t>
            </a:r>
            <a:endParaRPr lang="en-US" sz="1550" dirty="0"/>
          </a:p>
        </p:txBody>
      </p:sp>
      <p:sp>
        <p:nvSpPr>
          <p:cNvPr id="17" name="Text 15"/>
          <p:cNvSpPr txBox="1"/>
          <p:nvPr/>
        </p:nvSpPr>
        <p:spPr>
          <a:xfrm>
            <a:off x="6327648"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Never apply, old or new offer (Y=0 regardless of T). Nothing to gain.</a:t>
            </a:r>
            <a:endParaRPr lang="en-US" sz="1100" dirty="0"/>
          </a:p>
        </p:txBody>
      </p:sp>
      <p:sp>
        <p:nvSpPr>
          <p:cNvPr id="18" name="Shape 16"/>
          <p:cNvSpPr/>
          <p:nvPr/>
        </p:nvSpPr>
        <p:spPr>
          <a:xfrm>
            <a:off x="8933688" y="3927348"/>
            <a:ext cx="2587752" cy="2336292"/>
          </a:xfrm>
          <a:prstGeom prst="roundRect">
            <a:avLst>
              <a:gd name="adj" fmla="val 3131"/>
            </a:avLst>
          </a:prstGeom>
          <a:solidFill>
            <a:srgbClr val="FBEAE8"/>
          </a:solidFill>
          <a:ln/>
        </p:spPr>
      </p:sp>
      <p:sp>
        <p:nvSpPr>
          <p:cNvPr id="19" name="Text 17"/>
          <p:cNvSpPr txBox="1"/>
          <p:nvPr/>
        </p:nvSpPr>
        <p:spPr>
          <a:xfrm>
            <a:off x="9134856" y="4091940"/>
            <a:ext cx="2221992" cy="365760"/>
          </a:xfrm>
          <a:prstGeom prst="rect">
            <a:avLst/>
          </a:prstGeom>
          <a:noFill/>
          <a:ln/>
        </p:spPr>
        <p:txBody>
          <a:bodyPr wrap="square" lIns="0" tIns="0" rIns="0" bIns="0" rtlCol="0" anchor="ctr"/>
          <a:lstStyle/>
          <a:p>
            <a:pPr indent="0" marL="0">
              <a:buNone/>
            </a:pPr>
            <a:r>
              <a:rPr lang="en-US" sz="1550" b="1" dirty="0">
                <a:solidFill>
                  <a:srgbClr val="B03A2E"/>
                </a:solidFill>
                <a:latin typeface="Cambria" pitchFamily="34" charset="0"/>
                <a:ea typeface="Cambria" pitchFamily="34" charset="-122"/>
                <a:cs typeface="Cambria" pitchFamily="34" charset="-120"/>
              </a:rPr>
              <a:t>Sleeping Dogs</a:t>
            </a:r>
            <a:endParaRPr lang="en-US" sz="1550" dirty="0"/>
          </a:p>
        </p:txBody>
      </p:sp>
      <p:sp>
        <p:nvSpPr>
          <p:cNvPr id="20" name="Text 18"/>
          <p:cNvSpPr txBox="1"/>
          <p:nvPr/>
        </p:nvSpPr>
        <p:spPr>
          <a:xfrm>
            <a:off x="9134856"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LESS often with the new offer than they would have with the old one — the new offer backfires.</a:t>
            </a:r>
            <a:endParaRPr lang="en-US" sz="11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ESTIMATION STRATEGIES</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Ways to Estimate an Uplift Score</a:t>
            </a:r>
            <a:endParaRPr lang="en-US" sz="3000" dirty="0"/>
          </a:p>
        </p:txBody>
      </p:sp>
      <p:sp>
        <p:nvSpPr>
          <p:cNvPr id="4" name="Shape 2"/>
          <p:cNvSpPr/>
          <p:nvPr/>
        </p:nvSpPr>
        <p:spPr>
          <a:xfrm>
            <a:off x="540868" y="1691640"/>
            <a:ext cx="3520440" cy="4480560"/>
          </a:xfrm>
          <a:prstGeom prst="roundRect">
            <a:avLst>
              <a:gd name="adj" fmla="val 2597"/>
            </a:avLst>
          </a:prstGeom>
          <a:solidFill>
            <a:srgbClr val="EAF0FC"/>
          </a:solidFill>
          <a:ln w="12700">
            <a:solidFill>
              <a:srgbClr val="CADCFC"/>
            </a:solidFill>
            <a:prstDash val="solid"/>
          </a:ln>
        </p:spPr>
      </p:sp>
      <p:sp>
        <p:nvSpPr>
          <p:cNvPr id="5" name="Text 3"/>
          <p:cNvSpPr txBox="1"/>
          <p:nvPr/>
        </p:nvSpPr>
        <p:spPr>
          <a:xfrm>
            <a:off x="81518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1</a:t>
            </a:r>
            <a:endParaRPr lang="en-US" sz="2600" dirty="0"/>
          </a:p>
        </p:txBody>
      </p:sp>
      <p:sp>
        <p:nvSpPr>
          <p:cNvPr id="6" name="Text 4"/>
          <p:cNvSpPr txBox="1"/>
          <p:nvPr/>
        </p:nvSpPr>
        <p:spPr>
          <a:xfrm>
            <a:off x="81518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S-Learner</a:t>
            </a:r>
            <a:endParaRPr lang="en-US" sz="2100" dirty="0"/>
          </a:p>
        </p:txBody>
      </p:sp>
      <p:sp>
        <p:nvSpPr>
          <p:cNvPr id="7" name="Text 5"/>
          <p:cNvSpPr txBox="1"/>
          <p:nvPr/>
        </p:nvSpPr>
        <p:spPr>
          <a:xfrm>
            <a:off x="81518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SINGLE MODEL</a:t>
            </a:r>
            <a:endParaRPr lang="en-US" sz="1050" dirty="0"/>
          </a:p>
        </p:txBody>
      </p:sp>
      <p:sp>
        <p:nvSpPr>
          <p:cNvPr id="8" name="Shape 6"/>
          <p:cNvSpPr/>
          <p:nvPr/>
        </p:nvSpPr>
        <p:spPr>
          <a:xfrm>
            <a:off x="815188" y="3383280"/>
            <a:ext cx="2971800" cy="0"/>
          </a:xfrm>
          <a:prstGeom prst="line">
            <a:avLst/>
          </a:prstGeom>
          <a:noFill/>
          <a:ln w="12700">
            <a:solidFill>
              <a:srgbClr val="CADCFC"/>
            </a:solidFill>
            <a:prstDash val="solid"/>
          </a:ln>
        </p:spPr>
      </p:sp>
      <p:sp>
        <p:nvSpPr>
          <p:cNvPr id="9" name="Text 7"/>
          <p:cNvSpPr txBox="1"/>
          <p:nvPr/>
        </p:nvSpPr>
        <p:spPr>
          <a:xfrm>
            <a:off x="81518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One model, new_offer (old vs. new offer, 1/0) as just another input feature. τ(x) = f(x,1) − f(x,0) — our uplift score — where 1/0 flips which offer they got.</a:t>
            </a:r>
            <a:endParaRPr lang="en-US" sz="1300" dirty="0"/>
          </a:p>
        </p:txBody>
      </p:sp>
      <p:sp>
        <p:nvSpPr>
          <p:cNvPr id="10" name="Shape 8"/>
          <p:cNvSpPr/>
          <p:nvPr/>
        </p:nvSpPr>
        <p:spPr>
          <a:xfrm>
            <a:off x="4335628" y="1691640"/>
            <a:ext cx="3520440" cy="4480560"/>
          </a:xfrm>
          <a:prstGeom prst="roundRect">
            <a:avLst>
              <a:gd name="adj" fmla="val 2597"/>
            </a:avLst>
          </a:prstGeom>
          <a:solidFill>
            <a:srgbClr val="EAF0FC"/>
          </a:solidFill>
          <a:ln w="12700">
            <a:solidFill>
              <a:srgbClr val="CADCFC"/>
            </a:solidFill>
            <a:prstDash val="solid"/>
          </a:ln>
        </p:spPr>
      </p:sp>
      <p:sp>
        <p:nvSpPr>
          <p:cNvPr id="11" name="Text 9"/>
          <p:cNvSpPr txBox="1"/>
          <p:nvPr/>
        </p:nvSpPr>
        <p:spPr>
          <a:xfrm>
            <a:off x="460994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2</a:t>
            </a:r>
            <a:endParaRPr lang="en-US" sz="2600" dirty="0"/>
          </a:p>
        </p:txBody>
      </p:sp>
      <p:sp>
        <p:nvSpPr>
          <p:cNvPr id="12" name="Text 10"/>
          <p:cNvSpPr txBox="1"/>
          <p:nvPr/>
        </p:nvSpPr>
        <p:spPr>
          <a:xfrm>
            <a:off x="460994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T-Learner</a:t>
            </a:r>
            <a:endParaRPr lang="en-US" sz="2100" dirty="0"/>
          </a:p>
        </p:txBody>
      </p:sp>
      <p:sp>
        <p:nvSpPr>
          <p:cNvPr id="13" name="Text 11"/>
          <p:cNvSpPr txBox="1"/>
          <p:nvPr/>
        </p:nvSpPr>
        <p:spPr>
          <a:xfrm>
            <a:off x="460994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TWO MODELS</a:t>
            </a:r>
            <a:endParaRPr lang="en-US" sz="1050" dirty="0"/>
          </a:p>
        </p:txBody>
      </p:sp>
      <p:sp>
        <p:nvSpPr>
          <p:cNvPr id="14" name="Shape 12"/>
          <p:cNvSpPr/>
          <p:nvPr/>
        </p:nvSpPr>
        <p:spPr>
          <a:xfrm>
            <a:off x="4609948" y="3383280"/>
            <a:ext cx="2971800" cy="0"/>
          </a:xfrm>
          <a:prstGeom prst="line">
            <a:avLst/>
          </a:prstGeom>
          <a:noFill/>
          <a:ln w="12700">
            <a:solidFill>
              <a:srgbClr val="CADCFC"/>
            </a:solidFill>
            <a:prstDash val="solid"/>
          </a:ln>
        </p:spPr>
      </p:sp>
      <p:sp>
        <p:nvSpPr>
          <p:cNvPr id="15" name="Text 13"/>
          <p:cNvSpPr txBox="1"/>
          <p:nvPr/>
        </p:nvSpPr>
        <p:spPr>
          <a:xfrm>
            <a:off x="460994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fully separate outcome models, one per arm. τ(x) = μ̂₁(x) − μ̂₀(x), where μ̂₁ is the new-offer outcome model and μ̂₀ is the old-offer (control) outcome model.</a:t>
            </a:r>
            <a:endParaRPr lang="en-US" sz="1300" dirty="0"/>
          </a:p>
        </p:txBody>
      </p:sp>
      <p:sp>
        <p:nvSpPr>
          <p:cNvPr id="16" name="Shape 14"/>
          <p:cNvSpPr/>
          <p:nvPr/>
        </p:nvSpPr>
        <p:spPr>
          <a:xfrm>
            <a:off x="8130388" y="1691640"/>
            <a:ext cx="3520440" cy="4480560"/>
          </a:xfrm>
          <a:prstGeom prst="roundRect">
            <a:avLst>
              <a:gd name="adj" fmla="val 2597"/>
            </a:avLst>
          </a:prstGeom>
          <a:solidFill>
            <a:srgbClr val="FBF3E1"/>
          </a:solidFill>
          <a:ln w="19050">
            <a:solidFill>
              <a:srgbClr val="B8892B"/>
            </a:solidFill>
            <a:prstDash val="solid"/>
          </a:ln>
        </p:spPr>
      </p:sp>
      <p:sp>
        <p:nvSpPr>
          <p:cNvPr id="17" name="Shape 15"/>
          <p:cNvSpPr/>
          <p:nvPr/>
        </p:nvSpPr>
        <p:spPr>
          <a:xfrm>
            <a:off x="10096348" y="1892808"/>
            <a:ext cx="1325880" cy="310896"/>
          </a:xfrm>
          <a:prstGeom prst="roundRect">
            <a:avLst>
              <a:gd name="adj" fmla="val 50000"/>
            </a:avLst>
          </a:prstGeom>
          <a:solidFill>
            <a:srgbClr val="B8892B"/>
          </a:solidFill>
          <a:ln/>
        </p:spPr>
      </p:sp>
      <p:sp>
        <p:nvSpPr>
          <p:cNvPr id="18" name="Text 16"/>
          <p:cNvSpPr txBox="1"/>
          <p:nvPr/>
        </p:nvSpPr>
        <p:spPr>
          <a:xfrm>
            <a:off x="10096348" y="1892808"/>
            <a:ext cx="13258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Used here</a:t>
            </a:r>
            <a:endParaRPr lang="en-US" sz="1200" dirty="0"/>
          </a:p>
        </p:txBody>
      </p:sp>
      <p:sp>
        <p:nvSpPr>
          <p:cNvPr id="19" name="Text 17"/>
          <p:cNvSpPr txBox="1"/>
          <p:nvPr/>
        </p:nvSpPr>
        <p:spPr>
          <a:xfrm>
            <a:off x="840470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3</a:t>
            </a:r>
            <a:endParaRPr lang="en-US" sz="2600" dirty="0"/>
          </a:p>
        </p:txBody>
      </p:sp>
      <p:sp>
        <p:nvSpPr>
          <p:cNvPr id="20" name="Text 18"/>
          <p:cNvSpPr txBox="1"/>
          <p:nvPr/>
        </p:nvSpPr>
        <p:spPr>
          <a:xfrm>
            <a:off x="840470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X-Learner</a:t>
            </a:r>
            <a:endParaRPr lang="en-US" sz="2100" dirty="0"/>
          </a:p>
        </p:txBody>
      </p:sp>
      <p:sp>
        <p:nvSpPr>
          <p:cNvPr id="21" name="Text 19"/>
          <p:cNvSpPr txBox="1"/>
          <p:nvPr/>
        </p:nvSpPr>
        <p:spPr>
          <a:xfrm>
            <a:off x="840470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CROSS-LEARNING</a:t>
            </a:r>
            <a:endParaRPr lang="en-US" sz="1050" dirty="0"/>
          </a:p>
        </p:txBody>
      </p:sp>
      <p:sp>
        <p:nvSpPr>
          <p:cNvPr id="22" name="Shape 20"/>
          <p:cNvSpPr/>
          <p:nvPr/>
        </p:nvSpPr>
        <p:spPr>
          <a:xfrm>
            <a:off x="8404708" y="3383280"/>
            <a:ext cx="2971800" cy="0"/>
          </a:xfrm>
          <a:prstGeom prst="line">
            <a:avLst/>
          </a:prstGeom>
          <a:noFill/>
          <a:ln w="12700">
            <a:solidFill>
              <a:srgbClr val="B8892B"/>
            </a:solidFill>
            <a:prstDash val="solid"/>
          </a:ln>
        </p:spPr>
      </p:sp>
      <p:sp>
        <p:nvSpPr>
          <p:cNvPr id="23" name="Text 21"/>
          <p:cNvSpPr txBox="1"/>
          <p:nvPr/>
        </p:nvSpPr>
        <p:spPr>
          <a:xfrm>
            <a:off x="840470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outcome models feed two effect models, combined by a weight g(x). Same Applied and new_offer columns as above.</a:t>
            </a:r>
            <a:endParaRPr lang="en-US" sz="1300" dirty="0"/>
          </a:p>
        </p:txBody>
      </p:sp>
      <p:sp>
        <p:nvSpPr>
          <p:cNvPr id="24" name="Text 22"/>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25" name="Text 23"/>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1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pooled — ONE model, ONE fit() call</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828800"/>
          <a:ext cx="4892040" cy="1508760"/>
        </p:xfrm>
        <a:graphic>
          <a:graphicData uri="http://schemas.openxmlformats.org/drawingml/2006/table">
            <a:tbl>
              <a:tblPr/>
              <a:tblGrid>
                <a:gridCol w="1663294"/>
                <a:gridCol w="1663294"/>
                <a:gridCol w="1565453"/>
              </a:tblGrid>
              <a:tr h="215537">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new_offer</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bl>
          </a:graphicData>
        </a:graphic>
      </p:graphicFrame>
      <p:sp>
        <p:nvSpPr>
          <p:cNvPr id="7" name="Shape 4"/>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8" name="Text 5"/>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one model, run for BOTH offer scenarios on customer G</a:t>
            </a:r>
            <a:endParaRPr lang="en-US" sz="11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492240" y="1828800"/>
          <a:ext cx="2286000" cy="420624"/>
        </p:xfrm>
        <a:graphic>
          <a:graphicData uri="http://schemas.openxmlformats.org/drawingml/2006/table">
            <a:tbl>
              <a:tblPr/>
              <a:tblGrid>
                <a:gridCol w="1028700"/>
                <a:gridCol w="125730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new_offer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8892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8778240" y="1828800"/>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9144000" y="1828800"/>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0.42</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graphicFrame>
        <p:nvGraphicFramePr>
          <p:cNvPr id="21" name="Table 3"/>
          <p:cNvGraphicFramePr>
            <a:graphicFrameLocks noGrp="1"/>
          </p:cNvGraphicFramePr>
          <p:nvPr>
            <p:extLst>
              <p:ext uri="{D42A27DB-BD31-4B8C-83A1-F6EECF244321}">
                <p14:modId xmlns:p14="http://schemas.microsoft.com/office/powerpoint/2010/main" val="1579011935"/>
              </p:ext>
            </p:extLst>
          </p:nvPr>
        </p:nvGraphicFramePr>
        <p:xfrm>
          <a:off x="6492240" y="2368296"/>
          <a:ext cx="2286000" cy="420624"/>
        </p:xfrm>
        <a:graphic>
          <a:graphicData uri="http://schemas.openxmlformats.org/drawingml/2006/table">
            <a:tbl>
              <a:tblPr/>
              <a:tblGrid>
                <a:gridCol w="1028700"/>
                <a:gridCol w="125730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new_offer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3" name="Text 7"/>
          <p:cNvSpPr txBox="1"/>
          <p:nvPr/>
        </p:nvSpPr>
        <p:spPr>
          <a:xfrm>
            <a:off x="8778240" y="2368296"/>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26" name="Table 4"/>
          <p:cNvGraphicFramePr>
            <a:graphicFrameLocks noGrp="1"/>
          </p:cNvGraphicFramePr>
          <p:nvPr>
            <p:extLst>
              <p:ext uri="{D42A27DB-BD31-4B8C-83A1-F6EECF244321}">
                <p14:modId xmlns:p14="http://schemas.microsoft.com/office/powerpoint/2010/main" val="1579011935"/>
              </p:ext>
            </p:extLst>
          </p:nvPr>
        </p:nvGraphicFramePr>
        <p:xfrm>
          <a:off x="9144000" y="2368296"/>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0.31</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5" name="Shape 8"/>
          <p:cNvSpPr/>
          <p:nvPr/>
        </p:nvSpPr>
        <p:spPr>
          <a:xfrm>
            <a:off x="6492240" y="2898648"/>
            <a:ext cx="4892040" cy="438912"/>
          </a:xfrm>
          <a:prstGeom prst="roundRect">
            <a:avLst>
              <a:gd name="adj" fmla="val 12500"/>
            </a:avLst>
          </a:prstGeom>
          <a:solidFill>
            <a:srgbClr val="141B4D"/>
          </a:solidFill>
          <a:ln/>
        </p:spPr>
      </p:sp>
      <p:sp>
        <p:nvSpPr>
          <p:cNvPr id="16" name="Text 9"/>
          <p:cNvSpPr txBox="1"/>
          <p:nvPr/>
        </p:nvSpPr>
        <p:spPr>
          <a:xfrm>
            <a:off x="6675120" y="2898648"/>
            <a:ext cx="4526280" cy="43891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τ(G) = f(G,1) − f(G,0) = 0.42 − 0.31 = </a:t>
            </a:r>
            <a:pPr indent="0" marL="0">
              <a:buNone/>
            </a:pPr>
            <a:r>
              <a:rPr lang="en-US" sz="1400" b="1" dirty="0">
                <a:solidFill>
                  <a:srgbClr val="B8892B"/>
                </a:solidFill>
                <a:latin typeface="Calibri" pitchFamily="34" charset="0"/>
                <a:ea typeface="Calibri" pitchFamily="34" charset="-122"/>
                <a:cs typeface="Calibri" pitchFamily="34" charset="-120"/>
              </a:rPr>
              <a:t>0.11</a:t>
            </a:r>
            <a:endParaRPr lang="en-US" sz="1150" dirty="0"/>
          </a:p>
        </p:txBody>
      </p:sp>
      <p:sp>
        <p:nvSpPr>
          <p:cNvPr id="17" name="Shape 10"/>
          <p:cNvSpPr/>
          <p:nvPr/>
        </p:nvSpPr>
        <p:spPr>
          <a:xfrm>
            <a:off x="548640" y="3611880"/>
            <a:ext cx="5349240" cy="1234440"/>
          </a:xfrm>
          <a:prstGeom prst="roundRect">
            <a:avLst>
              <a:gd name="adj" fmla="val 7407"/>
            </a:avLst>
          </a:prstGeom>
          <a:solidFill>
            <a:srgbClr val="E4F3EC"/>
          </a:solidFill>
          <a:ln/>
        </p:spPr>
      </p:sp>
      <p:sp>
        <p:nvSpPr>
          <p:cNvPr id="18" name="Text 11"/>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19" name="Text 12"/>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One model to build and monitor. Pools all customers, so it's data-efficient even with a small treatment group.</a:t>
            </a:r>
            <a:endParaRPr lang="en-US" sz="1150" dirty="0"/>
          </a:p>
        </p:txBody>
      </p:sp>
      <p:sp>
        <p:nvSpPr>
          <p:cNvPr id="20" name="Shape 13"/>
          <p:cNvSpPr/>
          <p:nvPr/>
        </p:nvSpPr>
        <p:spPr>
          <a:xfrm>
            <a:off x="6263640" y="3611880"/>
            <a:ext cx="5349240" cy="1234440"/>
          </a:xfrm>
          <a:prstGeom prst="roundRect">
            <a:avLst>
              <a:gd name="adj" fmla="val 7407"/>
            </a:avLst>
          </a:prstGeom>
          <a:solidFill>
            <a:srgbClr val="FBEAE8"/>
          </a:solidFill>
          <a:ln/>
        </p:spPr>
      </p:sp>
      <p:sp>
        <p:nvSpPr>
          <p:cNvPr id="21" name="Text 14"/>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2" name="Text 15"/>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Regularization has no reason to favor one new_offer feature over dozens of stronger predictors — the offer signal can get nearly ignored.</a:t>
            </a:r>
            <a:endParaRPr lang="en-US" sz="1150" dirty="0"/>
          </a:p>
        </p:txBody>
      </p:sp>
      <p:sp>
        <p:nvSpPr>
          <p:cNvPr id="23" name="Shape 16"/>
          <p:cNvSpPr/>
          <p:nvPr/>
        </p:nvSpPr>
        <p:spPr>
          <a:xfrm>
            <a:off x="548640" y="4983480"/>
            <a:ext cx="11064240" cy="1051560"/>
          </a:xfrm>
          <a:prstGeom prst="roundRect">
            <a:avLst>
              <a:gd name="adj" fmla="val 6957"/>
            </a:avLst>
          </a:prstGeom>
          <a:solidFill>
            <a:srgbClr val="141B4D"/>
          </a:solidFill>
          <a:ln/>
        </p:spPr>
      </p:sp>
      <p:sp>
        <p:nvSpPr>
          <p:cNvPr id="24" name="Text 17"/>
          <p:cNvSpPr txBox="1"/>
          <p:nvPr/>
        </p:nvSpPr>
        <p:spPr>
          <a:xfrm>
            <a:off x="868680" y="4983480"/>
            <a:ext cx="10424160" cy="105156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not chosen: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baseline behavioral features — utilization, tenure, balances — predict response far better than which offer they got. A pooled model leans on those and treats new_offer as noise, exactly the risk we can't take when isolating the new offer's effect is the whole point.</a:t>
            </a:r>
            <a:endParaRPr lang="en-US" sz="1250" dirty="0"/>
          </a:p>
        </p:txBody>
      </p:sp>
      <p:sp>
        <p:nvSpPr>
          <p:cNvPr id="25"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26"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2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two separate models, TWO fit() calls</a:t>
            </a:r>
            <a:endParaRPr lang="en-US" sz="1100" dirty="0"/>
          </a:p>
        </p:txBody>
      </p:sp>
      <p:sp>
        <p:nvSpPr>
          <p:cNvPr id="6" name="Text 4"/>
          <p:cNvSpPr txBox="1"/>
          <p:nvPr/>
        </p:nvSpPr>
        <p:spPr>
          <a:xfrm>
            <a:off x="777240" y="1828800"/>
            <a:ext cx="2354580" cy="219456"/>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Control (A,B,C) → μ̂₀ model</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2048256"/>
          <a:ext cx="2354580" cy="1289304"/>
        </p:xfrm>
        <a:graphic>
          <a:graphicData uri="http://schemas.openxmlformats.org/drawingml/2006/table">
            <a:tbl>
              <a:tblPr/>
              <a:tblGrid>
                <a:gridCol w="1177290"/>
                <a:gridCol w="1177290"/>
              </a:tblGrid>
              <a:tr h="32232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3314700" y="1828800"/>
            <a:ext cx="2354580" cy="219456"/>
          </a:xfrm>
          <a:prstGeom prst="rect">
            <a:avLst/>
          </a:prstGeom>
          <a:noFill/>
          <a:ln/>
        </p:spPr>
        <p:txBody>
          <a:bodyPr wrap="square" lIns="0" tIns="0" rIns="0" bIns="0" rtlCol="0" anchor="ctr"/>
          <a:lstStyle/>
          <a:p>
            <a:pPr indent="0" marL="0">
              <a:buNone/>
            </a:pPr>
            <a:r>
              <a:rPr lang="en-US" sz="1000" b="1" dirty="0">
                <a:solidFill>
                  <a:srgbClr val="B8892B"/>
                </a:solidFill>
                <a:latin typeface="Calibri" pitchFamily="34" charset="0"/>
                <a:ea typeface="Calibri" pitchFamily="34" charset="-122"/>
                <a:cs typeface="Calibri" pitchFamily="34" charset="-120"/>
              </a:rPr>
              <a:t>Treatment (D,E,F) → μ̂₁ model</a:t>
            </a:r>
            <a:endParaRPr lang="en-US" sz="10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3314700" y="2048256"/>
          <a:ext cx="2354580" cy="1289304"/>
        </p:xfrm>
        <a:graphic>
          <a:graphicData uri="http://schemas.openxmlformats.org/drawingml/2006/table">
            <a:tbl>
              <a:tblPr/>
              <a:tblGrid>
                <a:gridCol w="1177290"/>
                <a:gridCol w="1177290"/>
              </a:tblGrid>
              <a:tr h="32232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0" name="Shape 6"/>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11" name="Text 7"/>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each model scores customer G under ITS OWN scenario</a:t>
            </a:r>
            <a:endParaRPr lang="en-US" sz="1100" dirty="0"/>
          </a:p>
        </p:txBody>
      </p:sp>
      <p:graphicFrame>
        <p:nvGraphicFramePr>
          <p:cNvPr id="19" name="Table 2"/>
          <p:cNvGraphicFramePr>
            <a:graphicFrameLocks noGrp="1"/>
          </p:cNvGraphicFramePr>
          <p:nvPr>
            <p:extLst>
              <p:ext uri="{D42A27DB-BD31-4B8C-83A1-F6EECF244321}">
                <p14:modId xmlns:p14="http://schemas.microsoft.com/office/powerpoint/2010/main" val="1579011935"/>
              </p:ext>
            </p:extLst>
          </p:nvPr>
        </p:nvGraphicFramePr>
        <p:xfrm>
          <a:off x="6492240" y="1828800"/>
          <a:ext cx="2468880" cy="420624"/>
        </p:xfrm>
        <a:graphic>
          <a:graphicData uri="http://schemas.openxmlformats.org/drawingml/2006/table">
            <a:tbl>
              <a:tblPr/>
              <a:tblGrid>
                <a:gridCol w="839419"/>
                <a:gridCol w="1629461"/>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μ̂₀</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8961120" y="1828800"/>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25" name="Table 3"/>
          <p:cNvGraphicFramePr>
            <a:graphicFrameLocks noGrp="1"/>
          </p:cNvGraphicFramePr>
          <p:nvPr>
            <p:extLst>
              <p:ext uri="{D42A27DB-BD31-4B8C-83A1-F6EECF244321}">
                <p14:modId xmlns:p14="http://schemas.microsoft.com/office/powerpoint/2010/main" val="1579011935"/>
              </p:ext>
            </p:extLst>
          </p:nvPr>
        </p:nvGraphicFramePr>
        <p:xfrm>
          <a:off x="9326880" y="1828800"/>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0.19</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graphicFrame>
        <p:nvGraphicFramePr>
          <p:cNvPr id="31" name="Table 4"/>
          <p:cNvGraphicFramePr>
            <a:graphicFrameLocks noGrp="1"/>
          </p:cNvGraphicFramePr>
          <p:nvPr>
            <p:extLst>
              <p:ext uri="{D42A27DB-BD31-4B8C-83A1-F6EECF244321}">
                <p14:modId xmlns:p14="http://schemas.microsoft.com/office/powerpoint/2010/main" val="1579011935"/>
              </p:ext>
            </p:extLst>
          </p:nvPr>
        </p:nvGraphicFramePr>
        <p:xfrm>
          <a:off x="6492240" y="2368296"/>
          <a:ext cx="2468880" cy="420624"/>
        </p:xfrm>
        <a:graphic>
          <a:graphicData uri="http://schemas.openxmlformats.org/drawingml/2006/table">
            <a:tbl>
              <a:tblPr/>
              <a:tblGrid>
                <a:gridCol w="839419"/>
                <a:gridCol w="1629461"/>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050" b="1" dirty="0">
                          <a:solidFill>
                            <a:srgbClr val="B8892B"/>
                          </a:solidFill>
                          <a:latin typeface="Calibri" pitchFamily="34" charset="0"/>
                          <a:ea typeface="Calibri" pitchFamily="34" charset="-122"/>
                          <a:cs typeface="Calibri" pitchFamily="34" charset="-120"/>
                        </a:rPr>
                        <a:t>μ̂₁</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6" name="Text 9"/>
          <p:cNvSpPr txBox="1"/>
          <p:nvPr/>
        </p:nvSpPr>
        <p:spPr>
          <a:xfrm>
            <a:off x="8961120" y="2368296"/>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37" name="Table 5"/>
          <p:cNvGraphicFramePr>
            <a:graphicFrameLocks noGrp="1"/>
          </p:cNvGraphicFramePr>
          <p:nvPr>
            <p:extLst>
              <p:ext uri="{D42A27DB-BD31-4B8C-83A1-F6EECF244321}">
                <p14:modId xmlns:p14="http://schemas.microsoft.com/office/powerpoint/2010/main" val="1579011935"/>
              </p:ext>
            </p:extLst>
          </p:nvPr>
        </p:nvGraphicFramePr>
        <p:xfrm>
          <a:off x="9326880" y="2368296"/>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0.35</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8" name="Shape 10"/>
          <p:cNvSpPr/>
          <p:nvPr/>
        </p:nvSpPr>
        <p:spPr>
          <a:xfrm>
            <a:off x="6492240" y="2898648"/>
            <a:ext cx="4892040" cy="438912"/>
          </a:xfrm>
          <a:prstGeom prst="roundRect">
            <a:avLst>
              <a:gd name="adj" fmla="val 12500"/>
            </a:avLst>
          </a:prstGeom>
          <a:solidFill>
            <a:srgbClr val="141B4D"/>
          </a:solidFill>
          <a:ln/>
        </p:spPr>
      </p:sp>
      <p:sp>
        <p:nvSpPr>
          <p:cNvPr id="19" name="Text 11"/>
          <p:cNvSpPr txBox="1"/>
          <p:nvPr/>
        </p:nvSpPr>
        <p:spPr>
          <a:xfrm>
            <a:off x="6675120" y="2898648"/>
            <a:ext cx="4526280" cy="43891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τ(G) = μ̂₁(G) − μ̂₀(G) = 0.35 − 0.19 = </a:t>
            </a:r>
            <a:pPr indent="0" marL="0">
              <a:buNone/>
            </a:pPr>
            <a:r>
              <a:rPr lang="en-US" sz="1400" b="1" dirty="0">
                <a:solidFill>
                  <a:srgbClr val="B8892B"/>
                </a:solidFill>
                <a:latin typeface="Calibri" pitchFamily="34" charset="0"/>
                <a:ea typeface="Calibri" pitchFamily="34" charset="-122"/>
                <a:cs typeface="Calibri" pitchFamily="34" charset="-120"/>
              </a:rPr>
              <a:t>0.16</a:t>
            </a:r>
            <a:endParaRPr lang="en-US" sz="1150" dirty="0"/>
          </a:p>
        </p:txBody>
      </p:sp>
      <p:sp>
        <p:nvSpPr>
          <p:cNvPr id="20" name="Shape 12"/>
          <p:cNvSpPr/>
          <p:nvPr/>
        </p:nvSpPr>
        <p:spPr>
          <a:xfrm>
            <a:off x="548640" y="3611880"/>
            <a:ext cx="5349240" cy="1234440"/>
          </a:xfrm>
          <a:prstGeom prst="roundRect">
            <a:avLst>
              <a:gd name="adj" fmla="val 7407"/>
            </a:avLst>
          </a:prstGeom>
          <a:solidFill>
            <a:srgbClr val="E4F3EC"/>
          </a:solidFill>
          <a:ln/>
        </p:spPr>
      </p:sp>
      <p:sp>
        <p:nvSpPr>
          <p:cNvPr id="21" name="Text 13"/>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22" name="Text 14"/>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Each model specializes freely — no shared regularization fighting over the treatment signal. Simplest to reason about: “model B minus model A.”</a:t>
            </a:r>
            <a:endParaRPr lang="en-US" sz="1150" dirty="0"/>
          </a:p>
        </p:txBody>
      </p:sp>
      <p:sp>
        <p:nvSpPr>
          <p:cNvPr id="23" name="Shape 15"/>
          <p:cNvSpPr/>
          <p:nvPr/>
        </p:nvSpPr>
        <p:spPr>
          <a:xfrm>
            <a:off x="6263640" y="3611880"/>
            <a:ext cx="5349240" cy="1234440"/>
          </a:xfrm>
          <a:prstGeom prst="roundRect">
            <a:avLst>
              <a:gd name="adj" fmla="val 7407"/>
            </a:avLst>
          </a:prstGeom>
          <a:solidFill>
            <a:srgbClr val="FBEAE8"/>
          </a:solidFill>
          <a:ln/>
        </p:spPr>
      </p:sp>
      <p:sp>
        <p:nvSpPr>
          <p:cNvPr id="24" name="Text 16"/>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5" name="Text 17"/>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Quality depends on how well each arm is estimated alone. A small arm's model is noisy, and subtracting two noisy predictions adds their variances.</a:t>
            </a:r>
            <a:endParaRPr lang="en-US" sz="1150" dirty="0"/>
          </a:p>
        </p:txBody>
      </p:sp>
      <p:sp>
        <p:nvSpPr>
          <p:cNvPr id="26" name="Shape 18"/>
          <p:cNvSpPr/>
          <p:nvPr/>
        </p:nvSpPr>
        <p:spPr>
          <a:xfrm>
            <a:off x="548640" y="4983480"/>
            <a:ext cx="11064240" cy="1188720"/>
          </a:xfrm>
          <a:prstGeom prst="roundRect">
            <a:avLst>
              <a:gd name="adj" fmla="val 6154"/>
            </a:avLst>
          </a:prstGeom>
          <a:solidFill>
            <a:srgbClr val="141B4D"/>
          </a:solidFill>
          <a:ln/>
        </p:spPr>
      </p:sp>
      <p:sp>
        <p:nvSpPr>
          <p:cNvPr id="27" name="Text 19"/>
          <p:cNvSpPr txBox="1"/>
          <p:nvPr/>
        </p:nvSpPr>
        <p:spPr>
          <a:xfrm>
            <a:off x="868680" y="4983480"/>
            <a:ext cx="10424160" cy="1188720"/>
          </a:xfrm>
          <a:prstGeom prst="rect">
            <a:avLst/>
          </a:prstGeom>
          <a:noFill/>
          <a:ln/>
        </p:spPr>
        <p:txBody>
          <a:bodyPr wrap="square" lIns="0" tIns="0" rIns="0" bIns="0" rtlCol="0" anchor="ctr"/>
          <a:lstStyle/>
          <a:p>
            <a:pPr indent="0" marL="0">
              <a:lnSpc>
                <a:spcPct val="122000"/>
              </a:lnSpc>
              <a:buNone/>
            </a:pPr>
            <a:r>
              <a:rPr lang="en-US" sz="1200" b="1" dirty="0">
                <a:solidFill>
                  <a:srgbClr val="B8892B"/>
                </a:solidFill>
                <a:latin typeface="Calibri" pitchFamily="34" charset="0"/>
                <a:ea typeface="Calibri" pitchFamily="34" charset="-122"/>
                <a:cs typeface="Calibri" pitchFamily="34" charset="-120"/>
              </a:rPr>
              <a:t>Why not chosen:  </a:t>
            </a:r>
            <a:pPr indent="0" marL="0">
              <a:lnSpc>
                <a:spcPct val="122000"/>
              </a:lnSpc>
              <a:buNone/>
            </a:pPr>
            <a:r>
              <a:rPr lang="en-US" sz="1200" dirty="0">
                <a:solidFill>
                  <a:srgbClr val="FFFFFF"/>
                </a:solidFill>
                <a:latin typeface="Calibri" pitchFamily="34" charset="0"/>
                <a:ea typeface="Calibri" pitchFamily="34" charset="-122"/>
                <a:cs typeface="Calibri" pitchFamily="34" charset="-120"/>
              </a:rPr>
              <a:t>T-Learner isn't broken by design — if new_offer were roughly 50/50, μ̂₀ and μ̂₁ would train on comparable sample sizes and subtracting two similarly-precise models wouldn't cost much. </a:t>
            </a:r>
            <a:pPr indent="0" marL="0">
              <a:lnSpc>
                <a:spcPct val="122000"/>
              </a:lnSpc>
              <a:buNone/>
            </a:pPr>
            <a:r>
              <a:rPr lang="en-US" sz="1200" b="1" dirty="0">
                <a:solidFill>
                  <a:srgbClr val="C9D2F0"/>
                </a:solidFill>
                <a:latin typeface="Calibri" pitchFamily="34" charset="0"/>
                <a:ea typeface="Calibri" pitchFamily="34" charset="-122"/>
                <a:cs typeface="Calibri" pitchFamily="34" charset="-120"/>
              </a:rPr>
              <a:t>The problem is our specific setup: </a:t>
            </a:r>
            <a:pPr indent="0" marL="0">
              <a:lnSpc>
                <a:spcPct val="122000"/>
              </a:lnSpc>
              <a:buNone/>
            </a:pPr>
            <a:r>
              <a:rPr lang="en-US" sz="1200" dirty="0">
                <a:solidFill>
                  <a:srgbClr val="FFFFFF"/>
                </a:solidFill>
                <a:latin typeface="Calibri" pitchFamily="34" charset="0"/>
                <a:ea typeface="Calibri" pitchFamily="34" charset="-122"/>
                <a:cs typeface="Calibri" pitchFamily="34" charset="-120"/>
              </a:rPr>
              <a:t>about 70% of customers stay on the existing offer (control) and only ~30% are rolled out to the new offer (treatment) — a deliberately smaller test slice to limit risk before scaling a new offer design. That imbalance starves μ̂₁, the new-offer-side model, exactly where T-Learner needs it most: τ(x)=μ̂₁(x)−μ̂₀(x) inherits nearly all of μ̂₁'s extra noise. Closing that gap without needing a bigger treatment group is the reason X-Learner exists.</a:t>
            </a:r>
            <a:endParaRPr lang="en-US" sz="1200" dirty="0"/>
          </a:p>
        </p:txBody>
      </p:sp>
      <p:sp>
        <p:nvSpPr>
          <p:cNvPr id="28"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6</a:t>
            </a:r>
            <a:endParaRPr lang="en-US" sz="1000" dirty="0"/>
          </a:p>
        </p:txBody>
      </p:sp>
      <p:sp>
        <p:nvSpPr>
          <p:cNvPr id="29"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2 OF 3 · MECHANISM</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Imbalance Breaks the Subtraction</a:t>
            </a:r>
            <a:endParaRPr lang="en-US" sz="3000" dirty="0"/>
          </a:p>
        </p:txBody>
      </p:sp>
      <p:sp>
        <p:nvSpPr>
          <p:cNvPr id="4" name="Shape 2"/>
          <p:cNvSpPr/>
          <p:nvPr/>
        </p:nvSpPr>
        <p:spPr>
          <a:xfrm>
            <a:off x="548640" y="1325880"/>
            <a:ext cx="11064240" cy="749808"/>
          </a:xfrm>
          <a:prstGeom prst="roundRect">
            <a:avLst>
              <a:gd name="adj" fmla="val 7317"/>
            </a:avLst>
          </a:prstGeom>
          <a:solidFill>
            <a:srgbClr val="EAF0FC"/>
          </a:solidFill>
          <a:ln/>
        </p:spPr>
      </p:sp>
      <p:sp>
        <p:nvSpPr>
          <p:cNvPr id="5" name="Text 3"/>
          <p:cNvSpPr txBox="1"/>
          <p:nvPr/>
        </p:nvSpPr>
        <p:spPr>
          <a:xfrm>
            <a:off x="777240" y="1325880"/>
            <a:ext cx="10607040" cy="749808"/>
          </a:xfrm>
          <a:prstGeom prst="rect">
            <a:avLst/>
          </a:prstGeom>
          <a:noFill/>
          <a:ln/>
        </p:spPr>
        <p:txBody>
          <a:bodyPr wrap="square" lIns="0" tIns="0" rIns="0" bIns="0" rtlCol="0" anchor="ctr"/>
          <a:lstStyle/>
          <a:p>
            <a:pPr indent="0" marL="0">
              <a:lnSpc>
                <a:spcPct val="122000"/>
              </a:lnSpc>
              <a:buNone/>
            </a:pPr>
            <a:r>
              <a:rPr lang="en-US" sz="1100" b="1" dirty="0">
                <a:solidFill>
                  <a:srgbClr val="1E2761"/>
                </a:solidFill>
                <a:latin typeface="Calibri" pitchFamily="34" charset="0"/>
                <a:ea typeface="Calibri" pitchFamily="34" charset="-122"/>
                <a:cs typeface="Calibri" pitchFamily="34" charset="-120"/>
              </a:rPr>
              <a:t>Notation:  </a:t>
            </a:r>
            <a:pPr indent="0" marL="0">
              <a:lnSpc>
                <a:spcPct val="122000"/>
              </a:lnSpc>
              <a:buNone/>
            </a:pPr>
            <a:r>
              <a:rPr lang="en-US" sz="1100" dirty="0">
                <a:solidFill>
                  <a:srgbClr val="33344A"/>
                </a:solidFill>
                <a:latin typeface="Calibri" pitchFamily="34" charset="0"/>
                <a:ea typeface="Calibri" pitchFamily="34" charset="-122"/>
                <a:cs typeface="Calibri" pitchFamily="34" charset="-120"/>
              </a:rPr>
              <a:t>μ̂₀(x), μ̂₁(x) = the two outcome models — predicted P(Applied) under the old offer vs. the new offer.   τ(x) = μ̂₁(x) − μ̂₀(x) = the uplift score we're estimating.   n₀, n₁ = how many customers trained each model (sample size).   Var(·) = how noisy a model's predictions are — it shrinks as n grows.</a:t>
            </a:r>
            <a:endParaRPr lang="en-US" sz="1100" dirty="0"/>
          </a:p>
        </p:txBody>
      </p:sp>
      <p:sp>
        <p:nvSpPr>
          <p:cNvPr id="6" name="Shape 4"/>
          <p:cNvSpPr/>
          <p:nvPr/>
        </p:nvSpPr>
        <p:spPr>
          <a:xfrm>
            <a:off x="548640" y="2258568"/>
            <a:ext cx="5806440" cy="621792"/>
          </a:xfrm>
          <a:prstGeom prst="roundRect">
            <a:avLst>
              <a:gd name="adj" fmla="val 11765"/>
            </a:avLst>
          </a:prstGeom>
          <a:solidFill>
            <a:srgbClr val="141B4D"/>
          </a:solidFill>
          <a:ln/>
        </p:spPr>
      </p:sp>
      <p:sp>
        <p:nvSpPr>
          <p:cNvPr id="7" name="Text 5"/>
          <p:cNvSpPr txBox="1"/>
          <p:nvPr/>
        </p:nvSpPr>
        <p:spPr>
          <a:xfrm>
            <a:off x="777240" y="2258568"/>
            <a:ext cx="5349240" cy="621792"/>
          </a:xfrm>
          <a:prstGeom prst="rect">
            <a:avLst/>
          </a:prstGeom>
          <a:noFill/>
          <a:ln/>
        </p:spPr>
        <p:txBody>
          <a:bodyPr wrap="square" lIns="0" tIns="0" rIns="0" bIns="0" rtlCol="0" anchor="ctr"/>
          <a:lstStyle/>
          <a:p>
            <a:pPr algn="l" indent="0" marL="0">
              <a:buNone/>
            </a:pPr>
            <a:r>
              <a:rPr lang="en-US" sz="1600" b="1" dirty="0">
                <a:solidFill>
                  <a:srgbClr val="FFFFFF"/>
                </a:solidFill>
                <a:latin typeface="Courier New" pitchFamily="34" charset="0"/>
                <a:ea typeface="Courier New" pitchFamily="34" charset="-122"/>
                <a:cs typeface="Courier New" pitchFamily="34" charset="-120"/>
              </a:rPr>
              <a:t>Var(τ̂) = Var(μ̂₀) + Var(μ̂₁)</a:t>
            </a:r>
            <a:endParaRPr lang="en-US" sz="1600" dirty="0"/>
          </a:p>
        </p:txBody>
      </p:sp>
      <p:sp>
        <p:nvSpPr>
          <p:cNvPr id="8" name="Text 6"/>
          <p:cNvSpPr txBox="1"/>
          <p:nvPr/>
        </p:nvSpPr>
        <p:spPr>
          <a:xfrm>
            <a:off x="6537960" y="2258568"/>
            <a:ext cx="5074920" cy="621792"/>
          </a:xfrm>
          <a:prstGeom prst="rect">
            <a:avLst/>
          </a:prstGeom>
          <a:noFill/>
          <a:ln/>
        </p:spPr>
        <p:txBody>
          <a:bodyPr wrap="square" lIns="0" tIns="0" rIns="0" bIns="0" rtlCol="0" anchor="ctr"/>
          <a:lstStyle/>
          <a:p>
            <a:pPr indent="0" marL="0">
              <a:lnSpc>
                <a:spcPct val="118000"/>
              </a:lnSpc>
              <a:buNone/>
            </a:pPr>
            <a:r>
              <a:rPr lang="en-US" sz="1150" dirty="0">
                <a:solidFill>
                  <a:srgbClr val="33344A"/>
                </a:solidFill>
                <a:latin typeface="Calibri" pitchFamily="34" charset="0"/>
                <a:ea typeface="Calibri" pitchFamily="34" charset="-122"/>
                <a:cs typeface="Calibri" pitchFamily="34" charset="-120"/>
              </a:rPr>
              <a:t>Two independently-fit models ⇒ subtracting them doesn't cancel their errors, it adds them. And a model's variance shrinks as its training sample n grows — fewer rows means a noisier model.</a:t>
            </a:r>
            <a:endParaRPr lang="en-US" sz="1150" dirty="0"/>
          </a:p>
        </p:txBody>
      </p:sp>
      <p:sp>
        <p:nvSpPr>
          <p:cNvPr id="9" name="Shape 7"/>
          <p:cNvSpPr/>
          <p:nvPr/>
        </p:nvSpPr>
        <p:spPr>
          <a:xfrm>
            <a:off x="548640" y="3108960"/>
            <a:ext cx="5349240" cy="1828800"/>
          </a:xfrm>
          <a:prstGeom prst="roundRect">
            <a:avLst>
              <a:gd name="adj" fmla="val 5000"/>
            </a:avLst>
          </a:prstGeom>
          <a:solidFill>
            <a:srgbClr val="E4F3EC"/>
          </a:solidFill>
          <a:ln w="16510">
            <a:solidFill>
              <a:srgbClr val="1B7A5A"/>
            </a:solidFill>
            <a:prstDash val="solid"/>
          </a:ln>
        </p:spPr>
      </p:sp>
      <p:sp>
        <p:nvSpPr>
          <p:cNvPr id="10" name="Text 8"/>
          <p:cNvSpPr txBox="1"/>
          <p:nvPr/>
        </p:nvSpPr>
        <p:spPr>
          <a:xfrm>
            <a:off x="822960" y="3291840"/>
            <a:ext cx="4800600"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  If new_offer Were 50/50</a:t>
            </a:r>
            <a:endParaRPr lang="en-US" sz="1550" dirty="0"/>
          </a:p>
        </p:txBody>
      </p:sp>
      <p:sp>
        <p:nvSpPr>
          <p:cNvPr id="11" name="Text 9"/>
          <p:cNvSpPr txBox="1"/>
          <p:nvPr/>
        </p:nvSpPr>
        <p:spPr>
          <a:xfrm>
            <a:off x="822960" y="3730752"/>
            <a:ext cx="4800600" cy="1051560"/>
          </a:xfrm>
          <a:prstGeom prst="rect">
            <a:avLst/>
          </a:prstGeom>
          <a:noFill/>
          <a:ln/>
        </p:spPr>
        <p:txBody>
          <a:bodyPr wrap="square" lIns="0" tIns="0" rIns="0" bIns="0" rtlCol="0" anchor="ctr"/>
          <a:lstStyle/>
          <a:p>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n₀ ≈ n₁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both models see plenty of data.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Var(μ̂₀) ≈ Var(μ̂₁)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both reasonably precise.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Var(τ̂) = small + small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still small.
</a:t>
            </a:r>
            <a:pPr indent="0" marL="0">
              <a:lnSpc>
                <a:spcPct val="135000"/>
              </a:lnSpc>
              <a:buNone/>
            </a:pPr>
            <a:r>
              <a:rPr lang="en-US" sz="1250" b="1" dirty="0">
                <a:solidFill>
                  <a:srgbClr val="1B7A5A"/>
                </a:solidFill>
                <a:latin typeface="Calibri" pitchFamily="34" charset="0"/>
                <a:ea typeface="Calibri" pitchFamily="34" charset="-122"/>
                <a:cs typeface="Calibri" pitchFamily="34" charset="-120"/>
              </a:rPr>
              <a:t>→ T-Learner's subtraction is safe.</a:t>
            </a:r>
            <a:endParaRPr lang="en-US" sz="1250" dirty="0"/>
          </a:p>
        </p:txBody>
      </p:sp>
      <p:sp>
        <p:nvSpPr>
          <p:cNvPr id="12" name="Shape 10"/>
          <p:cNvSpPr/>
          <p:nvPr/>
        </p:nvSpPr>
        <p:spPr>
          <a:xfrm>
            <a:off x="6263640" y="3108960"/>
            <a:ext cx="5349240" cy="1828800"/>
          </a:xfrm>
          <a:prstGeom prst="roundRect">
            <a:avLst>
              <a:gd name="adj" fmla="val 5000"/>
            </a:avLst>
          </a:prstGeom>
          <a:solidFill>
            <a:srgbClr val="FBEAE8"/>
          </a:solidFill>
          <a:ln w="16510">
            <a:solidFill>
              <a:srgbClr val="B03A2E"/>
            </a:solidFill>
            <a:prstDash val="solid"/>
          </a:ln>
        </p:spPr>
      </p:sp>
      <p:sp>
        <p:nvSpPr>
          <p:cNvPr id="13" name="Text 11"/>
          <p:cNvSpPr txBox="1"/>
          <p:nvPr/>
        </p:nvSpPr>
        <p:spPr>
          <a:xfrm>
            <a:off x="6537960" y="3291840"/>
            <a:ext cx="4800600" cy="365760"/>
          </a:xfrm>
          <a:prstGeom prst="rect">
            <a:avLst/>
          </a:prstGeom>
          <a:noFill/>
          <a:ln/>
        </p:spPr>
        <p:txBody>
          <a:bodyPr wrap="square" lIns="0" tIns="0" rIns="0" bIns="0" rtlCol="0" anchor="ctr"/>
          <a:lstStyle/>
          <a:p>
            <a:pPr indent="0" marL="0">
              <a:buNone/>
            </a:pPr>
            <a:r>
              <a:rPr lang="en-US" sz="1400" b="1" dirty="0">
                <a:solidFill>
                  <a:srgbClr val="B03A2E"/>
                </a:solidFill>
                <a:latin typeface="Cambria" pitchFamily="34" charset="0"/>
                <a:ea typeface="Cambria" pitchFamily="34" charset="-122"/>
                <a:cs typeface="Cambria" pitchFamily="34" charset="-120"/>
              </a:rPr>
              <a:t>✗  Our Real Setup — Old Offer ≈70% / New Offer ≈30%</a:t>
            </a:r>
            <a:endParaRPr lang="en-US" sz="1400" dirty="0"/>
          </a:p>
        </p:txBody>
      </p:sp>
      <p:sp>
        <p:nvSpPr>
          <p:cNvPr id="14" name="Text 12"/>
          <p:cNvSpPr txBox="1"/>
          <p:nvPr/>
        </p:nvSpPr>
        <p:spPr>
          <a:xfrm>
            <a:off x="6537960" y="3730752"/>
            <a:ext cx="4800600" cy="1051560"/>
          </a:xfrm>
          <a:prstGeom prst="rect">
            <a:avLst/>
          </a:prstGeom>
          <a:noFill/>
          <a:ln/>
        </p:spPr>
        <p:txBody>
          <a:bodyPr wrap="square" lIns="0" tIns="0" rIns="0" bIns="0" rtlCol="0" anchor="ctr"/>
          <a:lstStyle/>
          <a:p>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n₁ (treatment) is small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μ̂₁ trains on few rows.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Var(μ̂₁) is large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μ̂₁ is noisy.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Var(τ̂) = small + LARGE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dominated by μ̂₁.
</a:t>
            </a:r>
            <a:pPr indent="0" marL="0">
              <a:lnSpc>
                <a:spcPct val="135000"/>
              </a:lnSpc>
              <a:buNone/>
            </a:pPr>
            <a:r>
              <a:rPr lang="en-US" sz="1250" b="1" dirty="0">
                <a:solidFill>
                  <a:srgbClr val="B03A2E"/>
                </a:solidFill>
                <a:latin typeface="Calibri" pitchFamily="34" charset="0"/>
                <a:ea typeface="Calibri" pitchFamily="34" charset="-122"/>
                <a:cs typeface="Calibri" pitchFamily="34" charset="-120"/>
              </a:rPr>
              <a:t>→ every τ(x) inherits μ̂₁'s noise.</a:t>
            </a:r>
            <a:endParaRPr lang="en-US" sz="1250" dirty="0"/>
          </a:p>
        </p:txBody>
      </p:sp>
      <p:sp>
        <p:nvSpPr>
          <p:cNvPr id="15" name="Shape 13"/>
          <p:cNvSpPr/>
          <p:nvPr/>
        </p:nvSpPr>
        <p:spPr>
          <a:xfrm>
            <a:off x="548640" y="5102352"/>
            <a:ext cx="11064240" cy="1234440"/>
          </a:xfrm>
          <a:prstGeom prst="roundRect">
            <a:avLst>
              <a:gd name="adj" fmla="val 5926"/>
            </a:avLst>
          </a:prstGeom>
          <a:solidFill>
            <a:srgbClr val="141B4D"/>
          </a:solidFill>
          <a:ln/>
        </p:spPr>
      </p:sp>
      <p:sp>
        <p:nvSpPr>
          <p:cNvPr id="16" name="Text 14"/>
          <p:cNvSpPr txBox="1"/>
          <p:nvPr/>
        </p:nvSpPr>
        <p:spPr>
          <a:xfrm>
            <a:off x="868680" y="5102352"/>
            <a:ext cx="10424160" cy="1234440"/>
          </a:xfrm>
          <a:prstGeom prst="rect">
            <a:avLst/>
          </a:prstGeom>
          <a:noFill/>
          <a:ln/>
        </p:spPr>
        <p:txBody>
          <a:bodyPr wrap="square" lIns="0" tIns="0" rIns="0" bIns="0" rtlCol="0" anchor="ctr"/>
          <a:lstStyle/>
          <a:p>
            <a:pPr indent="0" marL="0">
              <a:lnSpc>
                <a:spcPct val="122000"/>
              </a:lnSpc>
              <a:buNone/>
            </a:pPr>
            <a:r>
              <a:rPr lang="en-US" sz="1150" b="1" dirty="0">
                <a:solidFill>
                  <a:srgbClr val="B8892B"/>
                </a:solidFill>
                <a:latin typeface="Calibri" pitchFamily="34" charset="0"/>
                <a:ea typeface="Calibri" pitchFamily="34" charset="-122"/>
                <a:cs typeface="Calibri" pitchFamily="34" charset="-120"/>
              </a:rPr>
              <a:t>So what does X-Learner actually fix?  </a:t>
            </a:r>
            <a:pPr indent="0" marL="0">
              <a:lnSpc>
                <a:spcPct val="122000"/>
              </a:lnSpc>
              <a:buNone/>
            </a:pPr>
            <a:r>
              <a:rPr lang="en-US" sz="1150" dirty="0">
                <a:solidFill>
                  <a:srgbClr val="FFFFFF"/>
                </a:solidFill>
                <a:latin typeface="Calibri" pitchFamily="34" charset="0"/>
                <a:ea typeface="Calibri" pitchFamily="34" charset="-122"/>
                <a:cs typeface="Calibri" pitchFamily="34" charset="-120"/>
              </a:rPr>
              <a:t>Not a better model for the small arm — it stops asking μ̂₁ to predict outcomes for everyone. For each new-offer customer it uses their own real, observed Applied outcome, and only needs μ̂₀ (the reliable, large-sample old-offer model) to estimate what would've happened under the old offer instead. The minority arm's job shrinks from “run a whole noisy model on every customer” down to “fit one more regression on a small-but-real dataset.” Next: how that actually works, layer by layer.</a:t>
            </a:r>
            <a:endParaRPr lang="en-US" sz="1150" dirty="0"/>
          </a:p>
        </p:txBody>
      </p:sp>
      <p:sp>
        <p:nvSpPr>
          <p:cNvPr id="17" name="Text 15"/>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18" name="Text 16"/>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DECISION</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X-Learner, Specifically</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3246120"/>
        </p:xfrm>
        <a:graphic>
          <a:graphicData uri="http://schemas.openxmlformats.org/drawingml/2006/table">
            <a:tbl>
              <a:tblPr/>
              <a:tblGrid>
                <a:gridCol w="1737360"/>
                <a:gridCol w="3108960"/>
                <a:gridCol w="3108960"/>
                <a:gridCol w="3108960"/>
              </a:tblGrid>
              <a:tr h="777240">
                <a:tc>
                  <a:txBody>
                    <a:bodyPr/>
                    <a:lstStyle/>
                    <a:p>
                      <a:pPr algn="l" indent="0" marL="0">
                        <a:buNone/>
                      </a:pP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X-Learner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How effect</a:t>
                      </a:r>
                      <a:endParaRPr lang="en-US" sz="1200" dirty="0">
                        <a:latin typeface="Calibri" charset="0"/>
                        <a:ea typeface="Calibri" charset="0"/>
                        <a:cs typeface="Calibri" charset="0"/>
                      </a:endParaRPr>
                    </a:p>
                    <a:p>
                      <a:pPr algn="l" indent="0" marL="0">
                        <a:buNone/>
                      </a:pPr>
                      <a:r>
                        <a:rPr lang="en-US" sz="1200" b="1" dirty="0">
                          <a:solidFill>
                            <a:srgbClr val="1E2761"/>
                          </a:solidFill>
                          <a:latin typeface="Calibri" pitchFamily="34" charset="0"/>
                          <a:ea typeface="Calibri" pitchFamily="34" charset="-122"/>
                          <a:cs typeface="Calibri" pitchFamily="34" charset="-120"/>
                        </a:rPr>
                        <a:t>is estimated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Implicit — read off one shared model's new_offer term</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Difference of two</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independently-fit models</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Directly regresses on an</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imputed treatment effect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Best when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effect is a strong,</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easily separable signal</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 control groups</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are large and balanced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Groups are imbalanced —</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e.g. a small treatment group</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Main risk</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Regularization can shrink the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treatment signal toward zero</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Minority-arm model is noisy;</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errors compound on subtraction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More moving parts — more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places to get cross-fitting wrong</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bl>
          </a:graphicData>
        </a:graphic>
      </p:graphicFrame>
      <p:sp>
        <p:nvSpPr>
          <p:cNvPr id="5" name="Shape 2"/>
          <p:cNvSpPr/>
          <p:nvPr/>
        </p:nvSpPr>
        <p:spPr>
          <a:xfrm>
            <a:off x="548640" y="5029200"/>
            <a:ext cx="11064240" cy="1234440"/>
          </a:xfrm>
          <a:prstGeom prst="roundRect">
            <a:avLst>
              <a:gd name="adj" fmla="val 5926"/>
            </a:avLst>
          </a:prstGeom>
          <a:solidFill>
            <a:srgbClr val="141B4D"/>
          </a:solidFill>
          <a:ln/>
        </p:spPr>
      </p:sp>
      <p:sp>
        <p:nvSpPr>
          <p:cNvPr id="6" name="Text 3"/>
          <p:cNvSpPr txBox="1"/>
          <p:nvPr/>
        </p:nvSpPr>
        <p:spPr>
          <a:xfrm>
            <a:off x="868680" y="5029200"/>
            <a:ext cx="10424160" cy="1234440"/>
          </a:xfrm>
          <a:prstGeom prst="rect">
            <a:avLst/>
          </a:prstGeom>
          <a:noFill/>
          <a:ln/>
        </p:spPr>
        <p:txBody>
          <a:bodyPr wrap="square" lIns="0" tIns="0" rIns="0" bIns="0" rtlCol="0" anchor="ctr"/>
          <a:lstStyle/>
          <a:p>
            <a:pPr indent="0" marL="0">
              <a:lnSpc>
                <a:spcPct val="125000"/>
              </a:lnSpc>
              <a:buNone/>
            </a:pPr>
            <a:r>
              <a:rPr lang="en-US" sz="1300" b="1" dirty="0">
                <a:solidFill>
                  <a:srgbClr val="B8892B"/>
                </a:solidFill>
                <a:latin typeface="Calibri" pitchFamily="34" charset="0"/>
                <a:ea typeface="Calibri" pitchFamily="34" charset="-122"/>
                <a:cs typeface="Calibri" pitchFamily="34" charset="-120"/>
              </a:rPr>
              <a:t>Our real constraint: </a:t>
            </a:r>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about 70% of customers stay on the existing offer (control) and only ~30% are rolled out to the new offer (treatment) — a deliberately smaller test slice to limit risk before scaling a new offer design. That's exactly T-Learner's weak point: μ̂₁, the new-offer-side model, is trained on the smaller group and is noisy. X-Learner's imputation step lets the new-offer-side effect estimate borrow strength from the reliable, well-estimated existing-offer-side model instead.</a:t>
            </a:r>
            <a:endParaRPr lang="en-US" sz="1300" dirty="0"/>
          </a:p>
        </p:txBody>
      </p:sp>
      <p:sp>
        <p:nvSpPr>
          <p:cNvPr id="7"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8" name="Text 5"/>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X-Learner, End to End</a:t>
            </a:r>
            <a:endParaRPr lang="en-US" sz="3000" dirty="0"/>
          </a:p>
        </p:txBody>
      </p:sp>
      <p:sp>
        <p:nvSpPr>
          <p:cNvPr id="4" name="Shape 2"/>
          <p:cNvSpPr/>
          <p:nvPr/>
        </p:nvSpPr>
        <p:spPr>
          <a:xfrm>
            <a:off x="582016" y="1920240"/>
            <a:ext cx="2331720" cy="2377440"/>
          </a:xfrm>
          <a:prstGeom prst="roundRect">
            <a:avLst>
              <a:gd name="adj" fmla="val 3922"/>
            </a:avLst>
          </a:prstGeom>
          <a:solidFill>
            <a:srgbClr val="EAF0FC"/>
          </a:solidFill>
          <a:ln w="19050">
            <a:solidFill>
              <a:srgbClr val="CADCFC"/>
            </a:solidFill>
            <a:prstDash val="solid"/>
          </a:ln>
        </p:spPr>
      </p:sp>
      <p:sp>
        <p:nvSpPr>
          <p:cNvPr id="5" name="Shape 3"/>
          <p:cNvSpPr/>
          <p:nvPr/>
        </p:nvSpPr>
        <p:spPr>
          <a:xfrm>
            <a:off x="1455268" y="1627632"/>
            <a:ext cx="585216" cy="585216"/>
          </a:xfrm>
          <a:prstGeom prst="ellipse">
            <a:avLst/>
          </a:prstGeom>
          <a:solidFill>
            <a:srgbClr val="1E2761"/>
          </a:solidFill>
          <a:ln w="25400">
            <a:solidFill>
              <a:srgbClr val="FFFFFF"/>
            </a:solidFill>
            <a:prstDash val="solid"/>
          </a:ln>
        </p:spPr>
      </p:sp>
      <p:sp>
        <p:nvSpPr>
          <p:cNvPr id="6" name="Text 4"/>
          <p:cNvSpPr txBox="1"/>
          <p:nvPr/>
        </p:nvSpPr>
        <p:spPr>
          <a:xfrm>
            <a:off x="1455268"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46608"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Outcome Models</a:t>
            </a:r>
            <a:endParaRPr lang="en-US" sz="1600" dirty="0"/>
          </a:p>
        </p:txBody>
      </p:sp>
      <p:sp>
        <p:nvSpPr>
          <p:cNvPr id="8" name="Text 6"/>
          <p:cNvSpPr txBox="1"/>
          <p:nvPr/>
        </p:nvSpPr>
        <p:spPr>
          <a:xfrm>
            <a:off x="746608"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μ̂₀(x), μ̂₁(x) — one per arm, trained separately</a:t>
            </a:r>
            <a:endParaRPr lang="en-US" sz="1150" dirty="0"/>
          </a:p>
        </p:txBody>
      </p:sp>
      <p:sp>
        <p:nvSpPr>
          <p:cNvPr id="9" name="Text 7"/>
          <p:cNvSpPr txBox="1"/>
          <p:nvPr/>
        </p:nvSpPr>
        <p:spPr>
          <a:xfrm>
            <a:off x="2968600"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480664" y="1920240"/>
            <a:ext cx="2331720" cy="2377440"/>
          </a:xfrm>
          <a:prstGeom prst="roundRect">
            <a:avLst>
              <a:gd name="adj" fmla="val 3922"/>
            </a:avLst>
          </a:prstGeom>
          <a:solidFill>
            <a:srgbClr val="EAF0FC"/>
          </a:solidFill>
          <a:ln w="19050">
            <a:solidFill>
              <a:srgbClr val="CADCFC"/>
            </a:solidFill>
            <a:prstDash val="solid"/>
          </a:ln>
        </p:spPr>
      </p:sp>
      <p:sp>
        <p:nvSpPr>
          <p:cNvPr id="11" name="Shape 9"/>
          <p:cNvSpPr/>
          <p:nvPr/>
        </p:nvSpPr>
        <p:spPr>
          <a:xfrm>
            <a:off x="4353916" y="1627632"/>
            <a:ext cx="585216" cy="585216"/>
          </a:xfrm>
          <a:prstGeom prst="ellipse">
            <a:avLst/>
          </a:prstGeom>
          <a:solidFill>
            <a:srgbClr val="1E2761"/>
          </a:solidFill>
          <a:ln w="25400">
            <a:solidFill>
              <a:srgbClr val="FFFFFF"/>
            </a:solidFill>
            <a:prstDash val="solid"/>
          </a:ln>
        </p:spPr>
      </p:sp>
      <p:sp>
        <p:nvSpPr>
          <p:cNvPr id="12" name="Text 10"/>
          <p:cNvSpPr txBox="1"/>
          <p:nvPr/>
        </p:nvSpPr>
        <p:spPr>
          <a:xfrm>
            <a:off x="4353916"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3645256"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Pseudo Effects</a:t>
            </a:r>
            <a:endParaRPr lang="en-US" sz="1600" dirty="0"/>
          </a:p>
        </p:txBody>
      </p:sp>
      <p:sp>
        <p:nvSpPr>
          <p:cNvPr id="14" name="Text 12"/>
          <p:cNvSpPr txBox="1"/>
          <p:nvPr/>
        </p:nvSpPr>
        <p:spPr>
          <a:xfrm>
            <a:off x="3645256"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Counterfactual predictions turn Applied into an imputed effect</a:t>
            </a:r>
            <a:endParaRPr lang="en-US" sz="1150" dirty="0"/>
          </a:p>
        </p:txBody>
      </p:sp>
      <p:sp>
        <p:nvSpPr>
          <p:cNvPr id="15" name="Text 13"/>
          <p:cNvSpPr txBox="1"/>
          <p:nvPr/>
        </p:nvSpPr>
        <p:spPr>
          <a:xfrm>
            <a:off x="5867248"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379312" y="1920240"/>
            <a:ext cx="2331720" cy="2377440"/>
          </a:xfrm>
          <a:prstGeom prst="roundRect">
            <a:avLst>
              <a:gd name="adj" fmla="val 3922"/>
            </a:avLst>
          </a:prstGeom>
          <a:solidFill>
            <a:srgbClr val="EAF0FC"/>
          </a:solidFill>
          <a:ln w="19050">
            <a:solidFill>
              <a:srgbClr val="CADCFC"/>
            </a:solidFill>
            <a:prstDash val="solid"/>
          </a:ln>
        </p:spPr>
      </p:sp>
      <p:sp>
        <p:nvSpPr>
          <p:cNvPr id="17" name="Shape 15"/>
          <p:cNvSpPr/>
          <p:nvPr/>
        </p:nvSpPr>
        <p:spPr>
          <a:xfrm>
            <a:off x="7252564" y="1627632"/>
            <a:ext cx="585216" cy="585216"/>
          </a:xfrm>
          <a:prstGeom prst="ellipse">
            <a:avLst/>
          </a:prstGeom>
          <a:solidFill>
            <a:srgbClr val="1E2761"/>
          </a:solidFill>
          <a:ln w="25400">
            <a:solidFill>
              <a:srgbClr val="FFFFFF"/>
            </a:solidFill>
            <a:prstDash val="solid"/>
          </a:ln>
        </p:spPr>
      </p:sp>
      <p:sp>
        <p:nvSpPr>
          <p:cNvPr id="18" name="Text 16"/>
          <p:cNvSpPr txBox="1"/>
          <p:nvPr/>
        </p:nvSpPr>
        <p:spPr>
          <a:xfrm>
            <a:off x="7252564"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6543904"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Effect Models</a:t>
            </a:r>
            <a:endParaRPr lang="en-US" sz="1600" dirty="0"/>
          </a:p>
        </p:txBody>
      </p:sp>
      <p:sp>
        <p:nvSpPr>
          <p:cNvPr id="20" name="Text 18"/>
          <p:cNvSpPr txBox="1"/>
          <p:nvPr/>
        </p:nvSpPr>
        <p:spPr>
          <a:xfrm>
            <a:off x="6543904"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τC(x), τT(x) — regressors on the imputed effect</a:t>
            </a:r>
            <a:endParaRPr lang="en-US" sz="1150" dirty="0"/>
          </a:p>
        </p:txBody>
      </p:sp>
      <p:sp>
        <p:nvSpPr>
          <p:cNvPr id="21" name="Text 19"/>
          <p:cNvSpPr txBox="1"/>
          <p:nvPr/>
        </p:nvSpPr>
        <p:spPr>
          <a:xfrm>
            <a:off x="8765896"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22" name="Shape 20"/>
          <p:cNvSpPr/>
          <p:nvPr/>
        </p:nvSpPr>
        <p:spPr>
          <a:xfrm>
            <a:off x="9277960" y="1920240"/>
            <a:ext cx="2331720" cy="2377440"/>
          </a:xfrm>
          <a:prstGeom prst="roundRect">
            <a:avLst>
              <a:gd name="adj" fmla="val 3922"/>
            </a:avLst>
          </a:prstGeom>
          <a:solidFill>
            <a:srgbClr val="FBF3E1"/>
          </a:solidFill>
          <a:ln w="19050">
            <a:solidFill>
              <a:srgbClr val="B8892B"/>
            </a:solidFill>
            <a:prstDash val="solid"/>
          </a:ln>
        </p:spPr>
      </p:sp>
      <p:sp>
        <p:nvSpPr>
          <p:cNvPr id="23" name="Shape 21"/>
          <p:cNvSpPr/>
          <p:nvPr/>
        </p:nvSpPr>
        <p:spPr>
          <a:xfrm>
            <a:off x="10151212" y="1627632"/>
            <a:ext cx="585216" cy="585216"/>
          </a:xfrm>
          <a:prstGeom prst="ellipse">
            <a:avLst/>
          </a:prstGeom>
          <a:solidFill>
            <a:srgbClr val="B8892B"/>
          </a:solidFill>
          <a:ln w="25400">
            <a:solidFill>
              <a:srgbClr val="FFFFFF"/>
            </a:solidFill>
            <a:prstDash val="solid"/>
          </a:ln>
        </p:spPr>
      </p:sp>
      <p:sp>
        <p:nvSpPr>
          <p:cNvPr id="24" name="Text 22"/>
          <p:cNvSpPr txBox="1"/>
          <p:nvPr/>
        </p:nvSpPr>
        <p:spPr>
          <a:xfrm>
            <a:off x="10151212"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txBox="1"/>
          <p:nvPr/>
        </p:nvSpPr>
        <p:spPr>
          <a:xfrm>
            <a:off x="9442552"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Weighted Fusion</a:t>
            </a:r>
            <a:endParaRPr lang="en-US" sz="1600" dirty="0"/>
          </a:p>
        </p:txBody>
      </p:sp>
      <p:sp>
        <p:nvSpPr>
          <p:cNvPr id="26" name="Text 24"/>
          <p:cNvSpPr txBox="1"/>
          <p:nvPr/>
        </p:nvSpPr>
        <p:spPr>
          <a:xfrm>
            <a:off x="9442552"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g(x) blends the two into one uplift score τ(x)</a:t>
            </a:r>
            <a:endParaRPr lang="en-US" sz="1150" dirty="0"/>
          </a:p>
        </p:txBody>
      </p:sp>
      <p:sp>
        <p:nvSpPr>
          <p:cNvPr id="27" name="Text 25"/>
          <p:cNvSpPr txBox="1"/>
          <p:nvPr/>
        </p:nvSpPr>
        <p:spPr>
          <a:xfrm>
            <a:off x="548640" y="4800600"/>
            <a:ext cx="11064240" cy="36576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Layers 1–3 are model training. Layer 4 happens at scoring time, for every customer.</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29" name="Text 2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1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Outcome Models</a:t>
            </a:r>
            <a:endParaRPr lang="en-US" sz="3000" dirty="0"/>
          </a:p>
        </p:txBody>
      </p:sp>
      <p:sp>
        <p:nvSpPr>
          <p:cNvPr id="4" name="Text 2"/>
          <p:cNvSpPr txBox="1"/>
          <p:nvPr/>
        </p:nvSpPr>
        <p:spPr>
          <a:xfrm>
            <a:off x="548640" y="1280160"/>
            <a:ext cx="11064240" cy="566928"/>
          </a:xfrm>
          <a:prstGeom prst="rect">
            <a:avLst/>
          </a:prstGeom>
          <a:noFill/>
          <a:ln/>
        </p:spPr>
        <p:txBody>
          <a:bodyPr wrap="square" lIns="0" tIns="0" rIns="0" bIns="0" rtlCol="0" anchor="ctr"/>
          <a:lstStyle/>
          <a:p>
            <a:pPr indent="0" marL="0">
              <a:lnSpc>
                <a:spcPct val="122000"/>
              </a:lnSpc>
              <a:buNone/>
            </a:pPr>
            <a:r>
              <a:rPr lang="en-US" sz="1150" b="1" dirty="0">
                <a:solidFill>
                  <a:srgbClr val="1E2761"/>
                </a:solidFill>
                <a:latin typeface="Calibri" pitchFamily="34" charset="0"/>
                <a:ea typeface="Calibri" pitchFamily="34" charset="-122"/>
                <a:cs typeface="Calibri" pitchFamily="34" charset="-120"/>
              </a:rPr>
              <a:t>Control outcome model  </a:t>
            </a:r>
            <a:pPr indent="0" marL="0">
              <a:lnSpc>
                <a:spcPct val="122000"/>
              </a:lnSpc>
              <a:buNone/>
            </a:pPr>
            <a:r>
              <a:rPr lang="en-US" sz="1150" dirty="0">
                <a:solidFill>
                  <a:srgbClr val="33344A"/>
                </a:solidFill>
                <a:latin typeface="Calibri" pitchFamily="34" charset="0"/>
                <a:ea typeface="Calibri" pitchFamily="34" charset="-122"/>
                <a:cs typeface="Calibri" pitchFamily="34" charset="-120"/>
              </a:rPr>
              <a:t>learns μ̂₀(x) = E[Y(0) | X=x] — trained only on customers who stayed on the existing offer (control).
</a:t>
            </a:r>
            <a:pPr indent="0" marL="0">
              <a:lnSpc>
                <a:spcPct val="122000"/>
              </a:lnSpc>
              <a:buNone/>
            </a:pPr>
            <a:r>
              <a:rPr lang="en-US" sz="1150" b="1" dirty="0">
                <a:solidFill>
                  <a:srgbClr val="1E2761"/>
                </a:solidFill>
                <a:latin typeface="Calibri" pitchFamily="34" charset="0"/>
                <a:ea typeface="Calibri" pitchFamily="34" charset="-122"/>
                <a:cs typeface="Calibri" pitchFamily="34" charset="-120"/>
              </a:rPr>
              <a:t>Treatment outcome model  </a:t>
            </a:r>
            <a:pPr indent="0" marL="0">
              <a:lnSpc>
                <a:spcPct val="122000"/>
              </a:lnSpc>
              <a:buNone/>
            </a:pPr>
            <a:r>
              <a:rPr lang="en-US" sz="1150" dirty="0">
                <a:solidFill>
                  <a:srgbClr val="33344A"/>
                </a:solidFill>
                <a:latin typeface="Calibri" pitchFamily="34" charset="0"/>
                <a:ea typeface="Calibri" pitchFamily="34" charset="-122"/>
                <a:cs typeface="Calibri" pitchFamily="34" charset="-120"/>
              </a:rPr>
              <a:t>learns μ̂₁(x) = E[Y(1) | X=x] — trained only on customers who got the new offer (treatment). (Y = 1 if they applied for the card, 0 if not.)</a:t>
            </a:r>
            <a:endParaRPr lang="en-US" sz="1150" dirty="0"/>
          </a:p>
        </p:txBody>
      </p:sp>
      <p:sp>
        <p:nvSpPr>
          <p:cNvPr id="5" name="Shape 3"/>
          <p:cNvSpPr/>
          <p:nvPr/>
        </p:nvSpPr>
        <p:spPr>
          <a:xfrm>
            <a:off x="548640" y="1883664"/>
            <a:ext cx="11064240" cy="365760"/>
          </a:xfrm>
          <a:prstGeom prst="roundRect">
            <a:avLst>
              <a:gd name="adj" fmla="val 15000"/>
            </a:avLst>
          </a:prstGeom>
          <a:solidFill>
            <a:srgbClr val="F2F2F5"/>
          </a:solidFill>
          <a:ln/>
        </p:spPr>
      </p:sp>
      <p:sp>
        <p:nvSpPr>
          <p:cNvPr id="6" name="Text 4"/>
          <p:cNvSpPr txBox="1"/>
          <p:nvPr/>
        </p:nvSpPr>
        <p:spPr>
          <a:xfrm>
            <a:off x="777240" y="1883664"/>
            <a:ext cx="10607040" cy="365760"/>
          </a:xfrm>
          <a:prstGeom prst="rect">
            <a:avLst/>
          </a:prstGeom>
          <a:noFill/>
          <a:ln/>
        </p:spPr>
        <p:txBody>
          <a:bodyPr wrap="square" lIns="0" tIns="0" rIns="0" bIns="0" rtlCol="0" anchor="ctr"/>
          <a:lstStyle/>
          <a:p>
            <a:pPr indent="0" marL="0">
              <a:buNone/>
            </a:pPr>
            <a:r>
              <a:rPr lang="en-US" sz="1050" i="1" dirty="0">
                <a:solidFill>
                  <a:srgbClr val="1E2761"/>
                </a:solidFill>
                <a:latin typeface="Calibri" pitchFamily="34" charset="0"/>
                <a:ea typeface="Calibri" pitchFamily="34" charset="-122"/>
                <a:cs typeface="Calibri" pitchFamily="34" charset="-120"/>
              </a:rPr>
              <a:t>Both models are trained with out-of-fold / cross-fitted predictions — never a model scoring its own training rows. That avoids leakage later.</a:t>
            </a:r>
            <a:endParaRPr lang="en-US" sz="1050" dirty="0"/>
          </a:p>
        </p:txBody>
      </p:sp>
      <p:sp>
        <p:nvSpPr>
          <p:cNvPr id="7" name="Shape 5"/>
          <p:cNvSpPr/>
          <p:nvPr/>
        </p:nvSpPr>
        <p:spPr>
          <a:xfrm>
            <a:off x="548640" y="2340864"/>
            <a:ext cx="11064240" cy="1554480"/>
          </a:xfrm>
          <a:prstGeom prst="roundRect">
            <a:avLst>
              <a:gd name="adj" fmla="val 5882"/>
            </a:avLst>
          </a:prstGeom>
          <a:solidFill>
            <a:srgbClr val="EAF0FC"/>
          </a:solidFill>
          <a:ln w="12700">
            <a:solidFill>
              <a:srgbClr val="1E2761"/>
            </a:solidFill>
            <a:prstDash val="solid"/>
          </a:ln>
        </p:spPr>
      </p:sp>
      <p:sp>
        <p:nvSpPr>
          <p:cNvPr id="8" name="Text 6"/>
          <p:cNvSpPr txBox="1"/>
          <p:nvPr/>
        </p:nvSpPr>
        <p:spPr>
          <a:xfrm>
            <a:off x="777240" y="2468880"/>
            <a:ext cx="1060704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each outcome model fit ONLY on its own arm</a:t>
            </a:r>
            <a:endParaRPr lang="en-US" sz="1100" dirty="0"/>
          </a:p>
        </p:txBody>
      </p:sp>
      <p:sp>
        <p:nvSpPr>
          <p:cNvPr id="9" name="Text 7"/>
          <p:cNvSpPr txBox="1"/>
          <p:nvPr/>
        </p:nvSpPr>
        <p:spPr>
          <a:xfrm>
            <a:off x="777240" y="2779776"/>
            <a:ext cx="5074920" cy="201168"/>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Control (A,B,C) → μ̂₀ model</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 y="2999232"/>
          <a:ext cx="5074920" cy="749808"/>
        </p:xfrm>
        <a:graphic>
          <a:graphicData uri="http://schemas.openxmlformats.org/drawingml/2006/table">
            <a:tbl>
              <a:tblPr/>
              <a:tblGrid>
                <a:gridCol w="2537460"/>
                <a:gridCol w="2537460"/>
              </a:tblGrid>
              <a:tr h="1874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Applied</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6309360" y="2779776"/>
            <a:ext cx="5074920" cy="201168"/>
          </a:xfrm>
          <a:prstGeom prst="rect">
            <a:avLst/>
          </a:prstGeom>
          <a:noFill/>
          <a:ln/>
        </p:spPr>
        <p:txBody>
          <a:bodyPr wrap="square" lIns="0" tIns="0" rIns="0" bIns="0" rtlCol="0" anchor="ctr"/>
          <a:lstStyle/>
          <a:p>
            <a:pPr indent="0" marL="0">
              <a:buNone/>
            </a:pPr>
            <a:r>
              <a:rPr lang="en-US" sz="1050" b="1" dirty="0">
                <a:solidFill>
                  <a:srgbClr val="B8892B"/>
                </a:solidFill>
                <a:latin typeface="Calibri" pitchFamily="34" charset="0"/>
                <a:ea typeface="Calibri" pitchFamily="34" charset="-122"/>
                <a:cs typeface="Calibri" pitchFamily="34" charset="-120"/>
              </a:rPr>
              <a:t>Treatment (D,E,F) → μ̂₁ model</a:t>
            </a:r>
            <a:endParaRPr lang="en-US" sz="105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309360" y="2999232"/>
          <a:ext cx="5074920" cy="749808"/>
        </p:xfrm>
        <a:graphic>
          <a:graphicData uri="http://schemas.openxmlformats.org/drawingml/2006/table">
            <a:tbl>
              <a:tblPr/>
              <a:tblGrid>
                <a:gridCol w="2537460"/>
                <a:gridCol w="2537460"/>
              </a:tblGrid>
              <a:tr h="1874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Applied</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E</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F</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3" name="Shape 9"/>
          <p:cNvSpPr/>
          <p:nvPr/>
        </p:nvSpPr>
        <p:spPr>
          <a:xfrm>
            <a:off x="548640" y="4032504"/>
            <a:ext cx="11064240" cy="2212848"/>
          </a:xfrm>
          <a:prstGeom prst="roundRect">
            <a:avLst>
              <a:gd name="adj" fmla="val 4132"/>
            </a:avLst>
          </a:prstGeom>
          <a:solidFill>
            <a:srgbClr val="FBF3E1"/>
          </a:solidFill>
          <a:ln w="12700">
            <a:solidFill>
              <a:srgbClr val="B8892B"/>
            </a:solidFill>
            <a:prstDash val="solid"/>
          </a:ln>
        </p:spPr>
      </p:sp>
      <p:sp>
        <p:nvSpPr>
          <p:cNvPr id="14" name="Text 10"/>
          <p:cNvSpPr txBox="1"/>
          <p:nvPr/>
        </p:nvSpPr>
        <p:spPr>
          <a:xfrm>
            <a:off x="777240" y="4160520"/>
            <a:ext cx="10607040" cy="237744"/>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once trained, BOTH models score EVERY customer — including their own counterfactual arm — as two separate passes</a:t>
            </a:r>
            <a:endParaRPr lang="en-US" sz="1100" dirty="0"/>
          </a:p>
        </p:txBody>
      </p:sp>
      <p:sp>
        <p:nvSpPr>
          <p:cNvPr id="15" name="Text 11"/>
          <p:cNvSpPr txBox="1"/>
          <p:nvPr/>
        </p:nvSpPr>
        <p:spPr>
          <a:xfrm>
            <a:off x="777240" y="4471416"/>
            <a:ext cx="5074920" cy="201168"/>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μ̂₀ scores ALL customers → pred. Applied, old offer</a:t>
            </a:r>
            <a:endParaRPr lang="en-US" sz="1050" dirty="0"/>
          </a:p>
        </p:txBody>
      </p:sp>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777240" y="4690872"/>
          <a:ext cx="5074920" cy="1408176"/>
        </p:xfrm>
        <a:graphic>
          <a:graphicData uri="http://schemas.openxmlformats.org/drawingml/2006/table">
            <a:tbl>
              <a:tblPr/>
              <a:tblGrid>
                <a:gridCol w="685800"/>
                <a:gridCol w="1280160"/>
                <a:gridCol w="685800"/>
                <a:gridCol w="2423160"/>
              </a:tblGrid>
              <a:tr h="201168">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Cust.</a:t>
                      </a:r>
                      <a:endParaRPr lang="en-US" sz="9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new_offer</a:t>
                      </a:r>
                      <a:endParaRPr lang="en-US" sz="9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Applied</a:t>
                      </a:r>
                      <a:endParaRPr lang="en-US" sz="9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μ̂₀(x)</a:t>
                      </a:r>
                      <a:endParaRPr lang="en-US" sz="9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201168">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 (old)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01168">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 (old)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201168">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 (old)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01168">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 (new)</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201168">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 (new)</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0.25</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01168">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 (new)</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bl>
          </a:graphicData>
        </a:graphic>
      </p:graphicFrame>
      <p:sp>
        <p:nvSpPr>
          <p:cNvPr id="17" name="Text 12"/>
          <p:cNvSpPr txBox="1"/>
          <p:nvPr/>
        </p:nvSpPr>
        <p:spPr>
          <a:xfrm>
            <a:off x="6309360" y="4471416"/>
            <a:ext cx="5074920" cy="201168"/>
          </a:xfrm>
          <a:prstGeom prst="rect">
            <a:avLst/>
          </a:prstGeom>
          <a:noFill/>
          <a:ln/>
        </p:spPr>
        <p:txBody>
          <a:bodyPr wrap="square" lIns="0" tIns="0" rIns="0" bIns="0" rtlCol="0" anchor="ctr"/>
          <a:lstStyle/>
          <a:p>
            <a:pPr indent="0" marL="0">
              <a:buNone/>
            </a:pPr>
            <a:r>
              <a:rPr lang="en-US" sz="1050" b="1" dirty="0">
                <a:solidFill>
                  <a:srgbClr val="B8892B"/>
                </a:solidFill>
                <a:latin typeface="Calibri" pitchFamily="34" charset="0"/>
                <a:ea typeface="Calibri" pitchFamily="34" charset="-122"/>
                <a:cs typeface="Calibri" pitchFamily="34" charset="-120"/>
              </a:rPr>
              <a:t>μ̂₁ scores ALL customers → pred. Applied, new offer</a:t>
            </a:r>
            <a:endParaRPr lang="en-US" sz="1050" dirty="0"/>
          </a:p>
        </p:txBody>
      </p:sp>
      <p:graphicFrame>
        <p:nvGraphicFramePr>
          <p:cNvPr id="41" name="Table 3"/>
          <p:cNvGraphicFramePr>
            <a:graphicFrameLocks noGrp="1"/>
          </p:cNvGraphicFramePr>
          <p:nvPr>
            <p:extLst>
              <p:ext uri="{D42A27DB-BD31-4B8C-83A1-F6EECF244321}">
                <p14:modId xmlns:p14="http://schemas.microsoft.com/office/powerpoint/2010/main" val="1579011935"/>
              </p:ext>
            </p:extLst>
          </p:nvPr>
        </p:nvGraphicFramePr>
        <p:xfrm>
          <a:off x="6309360" y="4690872"/>
          <a:ext cx="5074920" cy="1408176"/>
        </p:xfrm>
        <a:graphic>
          <a:graphicData uri="http://schemas.openxmlformats.org/drawingml/2006/table">
            <a:tbl>
              <a:tblPr/>
              <a:tblGrid>
                <a:gridCol w="685800"/>
                <a:gridCol w="1280160"/>
                <a:gridCol w="685800"/>
                <a:gridCol w="2423160"/>
              </a:tblGrid>
              <a:tr h="201168">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Cust.</a:t>
                      </a:r>
                      <a:endParaRPr lang="en-US" sz="9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new_offer</a:t>
                      </a:r>
                      <a:endParaRPr lang="en-US" sz="9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Applied</a:t>
                      </a:r>
                      <a:endParaRPr lang="en-US" sz="9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μ̂₁(x)</a:t>
                      </a:r>
                      <a:endParaRPr lang="en-US" sz="9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01168">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 (old)</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0.55</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r h="201168">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 (old)</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0.75</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r h="201168">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 (old)</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r h="201168">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 (new)</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0.80</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r h="201168">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 (new)</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r h="201168">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 (new)</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9" name="Text 1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20" name="Text 14"/>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2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Constructing Two Pseudo Effects</a:t>
            </a:r>
            <a:endParaRPr lang="en-US" sz="3000" dirty="0"/>
          </a:p>
        </p:txBody>
      </p:sp>
      <p:sp>
        <p:nvSpPr>
          <p:cNvPr id="4" name="Text 2"/>
          <p:cNvSpPr txBox="1"/>
          <p:nvPr/>
        </p:nvSpPr>
        <p:spPr>
          <a:xfrm>
            <a:off x="548640" y="1417320"/>
            <a:ext cx="11064240" cy="50292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X-Learner doesn't use μ̂₁ − μ̂₀ directly — it first imputes each unit's likely effect using the OTHER arm's model as counterfactual. (Applied = 1 if the customer applied for the card, 0 if not.)</a:t>
            </a:r>
            <a:endParaRPr lang="en-US" sz="1300" dirty="0"/>
          </a:p>
        </p:txBody>
      </p:sp>
      <p:sp>
        <p:nvSpPr>
          <p:cNvPr id="5" name="Shape 3"/>
          <p:cNvSpPr/>
          <p:nvPr/>
        </p:nvSpPr>
        <p:spPr>
          <a:xfrm>
            <a:off x="548640" y="2057400"/>
            <a:ext cx="5349240" cy="548640"/>
          </a:xfrm>
          <a:prstGeom prst="roundRect">
            <a:avLst>
              <a:gd name="adj" fmla="val 13333"/>
            </a:avLst>
          </a:prstGeom>
          <a:solidFill>
            <a:srgbClr val="1B7A5A"/>
          </a:solidFill>
          <a:ln/>
        </p:spPr>
      </p:sp>
      <p:sp>
        <p:nvSpPr>
          <p:cNvPr id="6" name="Text 4"/>
          <p:cNvSpPr txBox="1"/>
          <p:nvPr/>
        </p:nvSpPr>
        <p:spPr>
          <a:xfrm>
            <a:off x="777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D̃ᵢᶜ = μ̂₁(Xᵢ) − Appliedᵢ</a:t>
            </a:r>
            <a:endParaRPr lang="en-US" sz="1500" dirty="0"/>
          </a:p>
        </p:txBody>
      </p:sp>
      <p:sp>
        <p:nvSpPr>
          <p:cNvPr id="7" name="Shape 5"/>
          <p:cNvSpPr/>
          <p:nvPr/>
        </p:nvSpPr>
        <p:spPr>
          <a:xfrm>
            <a:off x="6263640" y="2057400"/>
            <a:ext cx="5349240" cy="548640"/>
          </a:xfrm>
          <a:prstGeom prst="roundRect">
            <a:avLst>
              <a:gd name="adj" fmla="val 13333"/>
            </a:avLst>
          </a:prstGeom>
          <a:solidFill>
            <a:srgbClr val="B8892B"/>
          </a:solidFill>
          <a:ln/>
        </p:spPr>
      </p:sp>
      <p:sp>
        <p:nvSpPr>
          <p:cNvPr id="8" name="Text 6"/>
          <p:cNvSpPr txBox="1"/>
          <p:nvPr/>
        </p:nvSpPr>
        <p:spPr>
          <a:xfrm>
            <a:off x="6492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D̃ᵢᵀ = Appliedᵢ − μ̂₀(Xᵢ)</a:t>
            </a:r>
            <a:endParaRPr lang="en-US" sz="1500" dirty="0"/>
          </a:p>
        </p:txBody>
      </p:sp>
      <p:sp>
        <p:nvSpPr>
          <p:cNvPr id="9" name="Text 7"/>
          <p:cNvSpPr txBox="1"/>
          <p:nvPr/>
        </p:nvSpPr>
        <p:spPr>
          <a:xfrm>
            <a:off x="548640" y="2679192"/>
            <a:ext cx="5349240" cy="320040"/>
          </a:xfrm>
          <a:prstGeom prst="rect">
            <a:avLst/>
          </a:prstGeom>
          <a:noFill/>
          <a:ln/>
        </p:spPr>
        <p:txBody>
          <a:bodyPr wrap="square" lIns="0" tIns="0" rIns="0" bIns="0" rtlCol="0" anchor="ctr"/>
          <a:lstStyle/>
          <a:p>
            <a:pPr indent="0" marL="0">
              <a:buNone/>
            </a:pPr>
            <a:r>
              <a:rPr lang="en-US" sz="1200" b="1" dirty="0">
                <a:solidFill>
                  <a:srgbClr val="1B7A5A"/>
                </a:solidFill>
                <a:latin typeface="Calibri" pitchFamily="34" charset="0"/>
                <a:ea typeface="Calibri" pitchFamily="34" charset="-122"/>
                <a:cs typeface="Calibri" pitchFamily="34" charset="-120"/>
              </a:rPr>
              <a:t>Control-side pseudo effect  ·  from A, B, C</a:t>
            </a:r>
            <a:endParaRPr lang="en-US" sz="1200" dirty="0"/>
          </a:p>
        </p:txBody>
      </p:sp>
      <p:sp>
        <p:nvSpPr>
          <p:cNvPr id="10" name="Text 8"/>
          <p:cNvSpPr txBox="1"/>
          <p:nvPr/>
        </p:nvSpPr>
        <p:spPr>
          <a:xfrm>
            <a:off x="6263640" y="2679192"/>
            <a:ext cx="5349240" cy="320040"/>
          </a:xfrm>
          <a:prstGeom prst="rect">
            <a:avLst/>
          </a:prstGeom>
          <a:noFill/>
          <a:ln/>
        </p:spPr>
        <p:txBody>
          <a:bodyPr wrap="square" lIns="0" tIns="0" rIns="0" bIns="0" rtlCol="0" anchor="ctr"/>
          <a:lstStyle/>
          <a:p>
            <a:pPr indent="0" marL="0">
              <a:buNone/>
            </a:pPr>
            <a:r>
              <a:rPr lang="en-US" sz="1200" b="1" dirty="0">
                <a:solidFill>
                  <a:srgbClr val="B8892B"/>
                </a:solidFill>
                <a:latin typeface="Calibri" pitchFamily="34" charset="0"/>
                <a:ea typeface="Calibri" pitchFamily="34" charset="-122"/>
                <a:cs typeface="Calibri" pitchFamily="34" charset="-120"/>
              </a:rPr>
              <a:t>Treatment-side pseudo effect  ·  from D, E, F</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5349240" cy="1737360"/>
        </p:xfrm>
        <a:graphic>
          <a:graphicData uri="http://schemas.openxmlformats.org/drawingml/2006/table">
            <a:tbl>
              <a:tblPr/>
              <a:tblGrid>
                <a:gridCol w="1188720"/>
                <a:gridCol w="1371600"/>
                <a:gridCol w="118872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μ̂₁(x)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Applied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D̃ᶜ</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0.75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263640" y="3063240"/>
          <a:ext cx="5349240" cy="1737360"/>
        </p:xfrm>
        <a:graphic>
          <a:graphicData uri="http://schemas.openxmlformats.org/drawingml/2006/table">
            <a:tbl>
              <a:tblPr/>
              <a:tblGrid>
                <a:gridCol w="1188720"/>
                <a:gridCol w="1188720"/>
                <a:gridCol w="137160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Applied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μ̂₀(x)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D̃ᵀ</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3" name="Shape 9"/>
          <p:cNvSpPr/>
          <p:nvPr/>
        </p:nvSpPr>
        <p:spPr>
          <a:xfrm>
            <a:off x="548640" y="4983480"/>
            <a:ext cx="11064240" cy="1051560"/>
          </a:xfrm>
          <a:prstGeom prst="roundRect">
            <a:avLst>
              <a:gd name="adj" fmla="val 5217"/>
            </a:avLst>
          </a:prstGeom>
          <a:solidFill>
            <a:srgbClr val="141B4D"/>
          </a:solidFill>
          <a:ln/>
        </p:spPr>
      </p:sp>
      <p:sp>
        <p:nvSpPr>
          <p:cNvPr id="14" name="Text 10"/>
          <p:cNvSpPr txBox="1"/>
          <p:nvPr/>
        </p:nvSpPr>
        <p:spPr>
          <a:xfrm>
            <a:off x="822960" y="4983480"/>
            <a:ext cx="10515600" cy="1051560"/>
          </a:xfrm>
          <a:prstGeom prst="rect">
            <a:avLst/>
          </a:prstGeom>
          <a:noFill/>
          <a:ln/>
        </p:spPr>
        <p:txBody>
          <a:bodyPr wrap="square" lIns="0" tIns="0" rIns="0" bIns="0" rtlCol="0" anchor="ctr"/>
          <a:lstStyle/>
          <a:p>
            <a:pPr indent="0" marL="0">
              <a:lnSpc>
                <a:spcPct val="120000"/>
              </a:lnSpc>
              <a:buNone/>
            </a:pPr>
            <a:r>
              <a:rPr lang="en-US" sz="1150" b="1" dirty="0">
                <a:solidFill>
                  <a:srgbClr val="B8892B"/>
                </a:solidFill>
                <a:latin typeface="Calibri" pitchFamily="34" charset="0"/>
                <a:ea typeface="Calibri" pitchFamily="34" charset="-122"/>
                <a:cs typeface="Calibri" pitchFamily="34" charset="-120"/>
              </a:rPr>
              <a:t>Why this beats a raw μ̂₁ − μ̂₀:  </a:t>
            </a:r>
            <a:pPr indent="0" marL="0">
              <a:lnSpc>
                <a:spcPct val="120000"/>
              </a:lnSpc>
              <a:buNone/>
            </a:pPr>
            <a:r>
              <a:rPr lang="en-US" sz="1150" dirty="0">
                <a:solidFill>
                  <a:srgbClr val="FFFFFF"/>
                </a:solidFill>
                <a:latin typeface="Calibri" pitchFamily="34" charset="0"/>
                <a:ea typeface="Calibri" pitchFamily="34" charset="-122"/>
                <a:cs typeface="Calibri" pitchFamily="34" charset="-120"/>
              </a:rPr>
              <a:t>for a new-offer customer we don't need a model to guess their outcome — we use their own real, observed Applied value, and only borrow μ̂₀ (fit on the large old-offer group) to estimate what would've happened had they stayed on the old offer instead. The minority (treatment) arm no longer needs a full noisy model of its own — just one more regression on these pseudo effects. These are continuous, signed numbers, not 0/1 labels, and each becomes a training label in Layer 3.</a:t>
            </a:r>
            <a:endParaRPr lang="en-US" sz="1150" dirty="0"/>
          </a:p>
        </p:txBody>
      </p:sp>
      <p:sp>
        <p:nvSpPr>
          <p:cNvPr id="15"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16"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 COMMON FOLLOW-UP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Training ≠ Scoring</a:t>
            </a:r>
            <a:endParaRPr lang="en-US" sz="3000" dirty="0"/>
          </a:p>
        </p:txBody>
      </p:sp>
      <p:sp>
        <p:nvSpPr>
          <p:cNvPr id="4" name="Text 2"/>
          <p:cNvSpPr txBox="1"/>
          <p:nvPr/>
        </p:nvSpPr>
        <p:spPr>
          <a:xfrm>
            <a:off x="548640" y="1417320"/>
            <a:ext cx="11064240" cy="45720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A frequent interviewer probe: “if A is a control-group customer, does A ever touch the treatment-side model?” Yes and no — at two different stages.</a:t>
            </a:r>
            <a:endParaRPr lang="en-US" sz="1300" dirty="0"/>
          </a:p>
        </p:txBody>
      </p:sp>
      <p:sp>
        <p:nvSpPr>
          <p:cNvPr id="5" name="Shape 3"/>
          <p:cNvSpPr/>
          <p:nvPr/>
        </p:nvSpPr>
        <p:spPr>
          <a:xfrm>
            <a:off x="548640" y="2057400"/>
            <a:ext cx="5349240" cy="2331720"/>
          </a:xfrm>
          <a:prstGeom prst="roundRect">
            <a:avLst>
              <a:gd name="adj" fmla="val 3922"/>
            </a:avLst>
          </a:prstGeom>
          <a:solidFill>
            <a:srgbClr val="FBEAE8"/>
          </a:solidFill>
          <a:ln w="16510">
            <a:solidFill>
              <a:srgbClr val="B03A2E"/>
            </a:solidFill>
            <a:prstDash val="solid"/>
          </a:ln>
        </p:spPr>
      </p:sp>
      <p:sp>
        <p:nvSpPr>
          <p:cNvPr id="6" name="Text 4"/>
          <p:cNvSpPr txBox="1"/>
          <p:nvPr/>
        </p:nvSpPr>
        <p:spPr>
          <a:xfrm>
            <a:off x="822960" y="2258568"/>
            <a:ext cx="4800600" cy="365760"/>
          </a:xfrm>
          <a:prstGeom prst="rect">
            <a:avLst/>
          </a:prstGeom>
          <a:noFill/>
          <a:ln/>
        </p:spPr>
        <p:txBody>
          <a:bodyPr wrap="square" lIns="0" tIns="0" rIns="0" bIns="0" rtlCol="0" anchor="ctr"/>
          <a:lstStyle/>
          <a:p>
            <a:pPr indent="0" marL="0">
              <a:buNone/>
            </a:pPr>
            <a:r>
              <a:rPr lang="en-US" sz="1600" b="1" dirty="0">
                <a:solidFill>
                  <a:srgbClr val="B03A2E"/>
                </a:solidFill>
                <a:latin typeface="Cambria" pitchFamily="34" charset="0"/>
                <a:ea typeface="Cambria" pitchFamily="34" charset="-122"/>
                <a:cs typeface="Cambria" pitchFamily="34" charset="-120"/>
              </a:rPr>
              <a:t>✗  During TRAINING</a:t>
            </a:r>
            <a:endParaRPr lang="en-US" sz="1600" dirty="0"/>
          </a:p>
        </p:txBody>
      </p:sp>
      <p:sp>
        <p:nvSpPr>
          <p:cNvPr id="7" name="Text 5"/>
          <p:cNvSpPr txBox="1"/>
          <p:nvPr/>
        </p:nvSpPr>
        <p:spPr>
          <a:xfrm>
            <a:off x="822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A is control, so A's real Applied outcome and its counterfactual μ̂₁(A) build a control-side pseudo effect. That label trains effect model C only. A never contributes a label to effect model T's training set.</a:t>
            </a:r>
            <a:endParaRPr lang="en-US" sz="1250" dirty="0"/>
          </a:p>
        </p:txBody>
      </p:sp>
      <p:sp>
        <p:nvSpPr>
          <p:cNvPr id="8" name="Shape 6"/>
          <p:cNvSpPr/>
          <p:nvPr/>
        </p:nvSpPr>
        <p:spPr>
          <a:xfrm>
            <a:off x="6263640" y="2057400"/>
            <a:ext cx="5349240" cy="2331720"/>
          </a:xfrm>
          <a:prstGeom prst="roundRect">
            <a:avLst>
              <a:gd name="adj" fmla="val 3922"/>
            </a:avLst>
          </a:prstGeom>
          <a:solidFill>
            <a:srgbClr val="E4F3EC"/>
          </a:solidFill>
          <a:ln w="16510">
            <a:solidFill>
              <a:srgbClr val="1B7A5A"/>
            </a:solidFill>
            <a:prstDash val="solid"/>
          </a:ln>
        </p:spPr>
      </p:sp>
      <p:sp>
        <p:nvSpPr>
          <p:cNvPr id="9" name="Text 7"/>
          <p:cNvSpPr txBox="1"/>
          <p:nvPr/>
        </p:nvSpPr>
        <p:spPr>
          <a:xfrm>
            <a:off x="6537960" y="2258568"/>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  During SCORING</a:t>
            </a:r>
            <a:endParaRPr lang="en-US" sz="1600" dirty="0"/>
          </a:p>
        </p:txBody>
      </p:sp>
      <p:sp>
        <p:nvSpPr>
          <p:cNvPr id="10" name="Text 8"/>
          <p:cNvSpPr txBox="1"/>
          <p:nvPr/>
        </p:nvSpPr>
        <p:spPr>
          <a:xfrm>
            <a:off x="6537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Once BOTH effect models are trained, they're just functions of X. Effect model T can score A too — it was never told A's outcome, but it doesn't need to have been. A gets both τC(A) and τT(A), fused like everyone else.</a:t>
            </a:r>
            <a:endParaRPr lang="en-US" sz="1250" dirty="0"/>
          </a:p>
        </p:txBody>
      </p:sp>
      <p:sp>
        <p:nvSpPr>
          <p:cNvPr id="11" name="Shape 9"/>
          <p:cNvSpPr/>
          <p:nvPr/>
        </p:nvSpPr>
        <p:spPr>
          <a:xfrm>
            <a:off x="548640" y="4709160"/>
            <a:ext cx="11064240" cy="868680"/>
          </a:xfrm>
          <a:prstGeom prst="roundRect">
            <a:avLst>
              <a:gd name="adj" fmla="val 6316"/>
            </a:avLst>
          </a:prstGeom>
          <a:solidFill>
            <a:srgbClr val="141B4D"/>
          </a:solidFill>
          <a:ln/>
        </p:spPr>
      </p:sp>
      <p:sp>
        <p:nvSpPr>
          <p:cNvPr id="12" name="Text 10"/>
          <p:cNvSpPr txBox="1"/>
          <p:nvPr/>
        </p:nvSpPr>
        <p:spPr>
          <a:xfrm>
            <a:off x="822960" y="4709160"/>
            <a:ext cx="10515600" cy="86868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this matters: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it's what makes X-Learner one unified scorer instead of two disconnected ones — every customer, regardless of which arm they were actually in, gets a single fused uplift score at the end.</a:t>
            </a:r>
            <a:endParaRPr lang="en-US" sz="125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14"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3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Effect Models</a:t>
            </a:r>
            <a:endParaRPr lang="en-US" sz="3000" dirty="0"/>
          </a:p>
        </p:txBody>
      </p:sp>
      <p:sp>
        <p:nvSpPr>
          <p:cNvPr id="4" name="Text 2"/>
          <p:cNvSpPr txBox="1"/>
          <p:nvPr/>
        </p:nvSpPr>
        <p:spPr>
          <a:xfrm>
            <a:off x="548640" y="1417320"/>
            <a:ext cx="11064240" cy="411480"/>
          </a:xfrm>
          <a:prstGeom prst="rect">
            <a:avLst/>
          </a:prstGeom>
          <a:noFill/>
          <a:ln/>
        </p:spPr>
        <p:txBody>
          <a:bodyPr wrap="square" lIns="0" tIns="0" rIns="0" bIns="0" rtlCol="0" anchor="ctr"/>
          <a:lstStyle/>
          <a:p>
            <a:pPr indent="0" marL="0">
              <a:buNone/>
            </a:pPr>
            <a:r>
              <a:rPr lang="en-US" sz="1300" dirty="0">
                <a:solidFill>
                  <a:srgbClr val="33344A"/>
                </a:solidFill>
                <a:latin typeface="Calibri" pitchFamily="34" charset="0"/>
                <a:ea typeface="Calibri" pitchFamily="34" charset="-122"/>
                <a:cs typeface="Calibri" pitchFamily="34" charset="-120"/>
              </a:rPr>
              <a:t>The labels are now continuous effect values, not 0/1 — so both effect models are regressors, not classifiers.</a:t>
            </a:r>
            <a:endParaRPr lang="en-US" sz="1300" dirty="0"/>
          </a:p>
        </p:txBody>
      </p:sp>
      <p:sp>
        <p:nvSpPr>
          <p:cNvPr id="5" name="Shape 3"/>
          <p:cNvSpPr/>
          <p:nvPr/>
        </p:nvSpPr>
        <p:spPr>
          <a:xfrm>
            <a:off x="548640" y="1965960"/>
            <a:ext cx="5349240" cy="1417320"/>
          </a:xfrm>
          <a:prstGeom prst="roundRect">
            <a:avLst>
              <a:gd name="adj" fmla="val 6452"/>
            </a:avLst>
          </a:prstGeom>
          <a:solidFill>
            <a:srgbClr val="E4F3EC"/>
          </a:solidFill>
          <a:ln/>
        </p:spPr>
      </p:sp>
      <p:sp>
        <p:nvSpPr>
          <p:cNvPr id="6" name="Text 4"/>
          <p:cNvSpPr txBox="1"/>
          <p:nvPr/>
        </p:nvSpPr>
        <p:spPr>
          <a:xfrm>
            <a:off x="822960" y="2130552"/>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Effect Model C</a:t>
            </a:r>
            <a:endParaRPr lang="en-US" sz="1600" dirty="0"/>
          </a:p>
        </p:txBody>
      </p:sp>
      <p:sp>
        <p:nvSpPr>
          <p:cNvPr id="7" name="Text 5"/>
          <p:cNvSpPr txBox="1"/>
          <p:nvPr/>
        </p:nvSpPr>
        <p:spPr>
          <a:xfrm>
            <a:off x="822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τC(x). Learned the pattern in the control-side pseudo effects.</a:t>
            </a:r>
            <a:endParaRPr lang="en-US" sz="1250" dirty="0"/>
          </a:p>
        </p:txBody>
      </p:sp>
      <p:sp>
        <p:nvSpPr>
          <p:cNvPr id="8" name="Shape 6"/>
          <p:cNvSpPr/>
          <p:nvPr/>
        </p:nvSpPr>
        <p:spPr>
          <a:xfrm>
            <a:off x="6263640" y="1965960"/>
            <a:ext cx="5349240" cy="1417320"/>
          </a:xfrm>
          <a:prstGeom prst="roundRect">
            <a:avLst>
              <a:gd name="adj" fmla="val 6452"/>
            </a:avLst>
          </a:prstGeom>
          <a:solidFill>
            <a:srgbClr val="FBF3E1"/>
          </a:solidFill>
          <a:ln/>
        </p:spPr>
      </p:sp>
      <p:sp>
        <p:nvSpPr>
          <p:cNvPr id="9" name="Text 7"/>
          <p:cNvSpPr txBox="1"/>
          <p:nvPr/>
        </p:nvSpPr>
        <p:spPr>
          <a:xfrm>
            <a:off x="6537960" y="2130552"/>
            <a:ext cx="4800600" cy="365760"/>
          </a:xfrm>
          <a:prstGeom prst="rect">
            <a:avLst/>
          </a:prstGeom>
          <a:noFill/>
          <a:ln/>
        </p:spPr>
        <p:txBody>
          <a:bodyPr wrap="square" lIns="0" tIns="0" rIns="0" bIns="0" rtlCol="0" anchor="ctr"/>
          <a:lstStyle/>
          <a:p>
            <a:pPr indent="0" marL="0">
              <a:buNone/>
            </a:pPr>
            <a:r>
              <a:rPr lang="en-US" sz="1600" b="1" dirty="0">
                <a:solidFill>
                  <a:srgbClr val="B8892B"/>
                </a:solidFill>
                <a:latin typeface="Cambria" pitchFamily="34" charset="0"/>
                <a:ea typeface="Cambria" pitchFamily="34" charset="-122"/>
                <a:cs typeface="Cambria" pitchFamily="34" charset="-120"/>
              </a:rPr>
              <a:t>Effect Model T</a:t>
            </a:r>
            <a:endParaRPr lang="en-US" sz="1600" dirty="0"/>
          </a:p>
        </p:txBody>
      </p:sp>
      <p:sp>
        <p:nvSpPr>
          <p:cNvPr id="10" name="Text 8"/>
          <p:cNvSpPr txBox="1"/>
          <p:nvPr/>
        </p:nvSpPr>
        <p:spPr>
          <a:xfrm>
            <a:off x="6537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τT(x). Learned the pattern in the treatment-side pseudo effects.</a:t>
            </a:r>
            <a:endParaRPr lang="en-US" sz="1250" dirty="0"/>
          </a:p>
        </p:txBody>
      </p:sp>
      <p:sp>
        <p:nvSpPr>
          <p:cNvPr id="11" name="Shape 9"/>
          <p:cNvSpPr/>
          <p:nvPr/>
        </p:nvSpPr>
        <p:spPr>
          <a:xfrm>
            <a:off x="548640" y="3566160"/>
            <a:ext cx="11064240" cy="777240"/>
          </a:xfrm>
          <a:prstGeom prst="roundRect">
            <a:avLst>
              <a:gd name="adj" fmla="val 7059"/>
            </a:avLst>
          </a:prstGeom>
          <a:solidFill>
            <a:srgbClr val="EAF0FC"/>
          </a:solidFill>
          <a:ln/>
        </p:spPr>
      </p:sp>
      <p:sp>
        <p:nvSpPr>
          <p:cNvPr id="12" name="Text 10"/>
          <p:cNvSpPr txBox="1"/>
          <p:nvPr/>
        </p:nvSpPr>
        <p:spPr>
          <a:xfrm>
            <a:off x="777240" y="3566160"/>
            <a:ext cx="10607040" cy="777240"/>
          </a:xfrm>
          <a:prstGeom prst="rect">
            <a:avLst/>
          </a:prstGeom>
          <a:noFill/>
          <a:ln/>
        </p:spPr>
        <p:txBody>
          <a:bodyPr wrap="square" lIns="0" tIns="0" rIns="0" bIns="0" rtlCol="0" anchor="ctr"/>
          <a:lstStyle/>
          <a:p>
            <a:pPr indent="0" marL="0">
              <a:lnSpc>
                <a:spcPct val="122000"/>
              </a:lnSpc>
              <a:buNone/>
            </a:pPr>
            <a:r>
              <a:rPr lang="en-US" sz="1150" b="1" dirty="0">
                <a:solidFill>
                  <a:srgbClr val="1E2761"/>
                </a:solidFill>
                <a:latin typeface="Calibri" pitchFamily="34" charset="0"/>
                <a:ea typeface="Calibri" pitchFamily="34" charset="-122"/>
                <a:cs typeface="Calibri" pitchFamily="34" charset="-120"/>
              </a:rPr>
              <a:t>What they output: </a:t>
            </a:r>
            <a:pPr indent="0" marL="0">
              <a:lnSpc>
                <a:spcPct val="122000"/>
              </a:lnSpc>
              <a:buNone/>
            </a:pPr>
            <a:r>
              <a:rPr lang="en-US" sz="1150" dirty="0">
                <a:solidFill>
                  <a:srgbClr val="1E2761"/>
                </a:solidFill>
                <a:latin typeface="Calibri" pitchFamily="34" charset="0"/>
                <a:ea typeface="Calibri" pitchFamily="34" charset="-122"/>
                <a:cs typeface="Calibri" pitchFamily="34" charset="-120"/>
              </a:rPr>
              <a:t>“how big is this customer's incremental effect” — not “how likely are they to respond.” </a:t>
            </a:r>
            <a:pPr indent="0" marL="0">
              <a:lnSpc>
                <a:spcPct val="122000"/>
              </a:lnSpc>
              <a:buNone/>
            </a:pPr>
            <a:r>
              <a:rPr lang="en-US" sz="1150" b="1" dirty="0">
                <a:solidFill>
                  <a:srgbClr val="1E2761"/>
                </a:solidFill>
                <a:latin typeface="Calibri" pitchFamily="34" charset="0"/>
                <a:ea typeface="Calibri" pitchFamily="34" charset="-122"/>
                <a:cs typeface="Calibri" pitchFamily="34" charset="-120"/>
              </a:rPr>
              <a:t>Why two of them: </a:t>
            </a:r>
            <a:pPr indent="0" marL="0">
              <a:lnSpc>
                <a:spcPct val="122000"/>
              </a:lnSpc>
              <a:buNone/>
            </a:pPr>
            <a:r>
              <a:rPr lang="en-US" sz="1150" dirty="0">
                <a:solidFill>
                  <a:srgbClr val="1E2761"/>
                </a:solidFill>
                <a:latin typeface="Calibri" pitchFamily="34" charset="0"/>
                <a:ea typeface="Calibri" pitchFamily="34" charset="-122"/>
                <a:cs typeface="Calibri" pitchFamily="34" charset="-120"/>
              </a:rPr>
              <a:t>each is trained on a different pseudo-effect sample — τC on the large control-side sample, τT on the small treatment-side one — so neither is fully trustworthy alone. Layer 4 decides how much to lean on each.</a:t>
            </a:r>
            <a:endParaRPr lang="en-US" sz="1150" dirty="0"/>
          </a:p>
        </p:txBody>
      </p:sp>
      <p:sp>
        <p:nvSpPr>
          <p:cNvPr id="13" name="Text 11"/>
          <p:cNvSpPr txBox="1"/>
          <p:nvPr/>
        </p:nvSpPr>
        <p:spPr>
          <a:xfrm>
            <a:off x="548640" y="4480560"/>
            <a:ext cx="1106424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Worked example — a new customer, G, scored by both:</a:t>
            </a:r>
            <a:endParaRPr lang="en-US" sz="1300" dirty="0"/>
          </a:p>
        </p:txBody>
      </p:sp>
      <p:sp>
        <p:nvSpPr>
          <p:cNvPr id="14" name="Shape 12"/>
          <p:cNvSpPr/>
          <p:nvPr/>
        </p:nvSpPr>
        <p:spPr>
          <a:xfrm>
            <a:off x="3352648" y="4864608"/>
            <a:ext cx="2468880" cy="1005840"/>
          </a:xfrm>
          <a:prstGeom prst="roundRect">
            <a:avLst>
              <a:gd name="adj" fmla="val 7273"/>
            </a:avLst>
          </a:prstGeom>
          <a:solidFill>
            <a:srgbClr val="1B7A5A"/>
          </a:solidFill>
          <a:ln/>
        </p:spPr>
      </p:sp>
      <p:sp>
        <p:nvSpPr>
          <p:cNvPr id="15" name="Text 13"/>
          <p:cNvSpPr txBox="1"/>
          <p:nvPr/>
        </p:nvSpPr>
        <p:spPr>
          <a:xfrm>
            <a:off x="3352648" y="4974336"/>
            <a:ext cx="2468880" cy="292608"/>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τC(G)</a:t>
            </a:r>
            <a:endParaRPr lang="en-US" sz="1250" dirty="0"/>
          </a:p>
        </p:txBody>
      </p:sp>
      <p:sp>
        <p:nvSpPr>
          <p:cNvPr id="16" name="Text 14"/>
          <p:cNvSpPr txBox="1"/>
          <p:nvPr/>
        </p:nvSpPr>
        <p:spPr>
          <a:xfrm>
            <a:off x="3352648" y="5248656"/>
            <a:ext cx="24688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0.12</a:t>
            </a:r>
            <a:endParaRPr lang="en-US" sz="2700" dirty="0"/>
          </a:p>
        </p:txBody>
      </p:sp>
      <p:sp>
        <p:nvSpPr>
          <p:cNvPr id="17" name="Shape 15"/>
          <p:cNvSpPr/>
          <p:nvPr/>
        </p:nvSpPr>
        <p:spPr>
          <a:xfrm>
            <a:off x="6370168" y="4864608"/>
            <a:ext cx="2468880" cy="1005840"/>
          </a:xfrm>
          <a:prstGeom prst="roundRect">
            <a:avLst>
              <a:gd name="adj" fmla="val 7273"/>
            </a:avLst>
          </a:prstGeom>
          <a:solidFill>
            <a:srgbClr val="B8892B"/>
          </a:solidFill>
          <a:ln/>
        </p:spPr>
      </p:sp>
      <p:sp>
        <p:nvSpPr>
          <p:cNvPr id="18" name="Text 16"/>
          <p:cNvSpPr txBox="1"/>
          <p:nvPr/>
        </p:nvSpPr>
        <p:spPr>
          <a:xfrm>
            <a:off x="6370168" y="4974336"/>
            <a:ext cx="2468880" cy="292608"/>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τT(G)</a:t>
            </a:r>
            <a:endParaRPr lang="en-US" sz="1250" dirty="0"/>
          </a:p>
        </p:txBody>
      </p:sp>
      <p:sp>
        <p:nvSpPr>
          <p:cNvPr id="19" name="Text 17"/>
          <p:cNvSpPr txBox="1"/>
          <p:nvPr/>
        </p:nvSpPr>
        <p:spPr>
          <a:xfrm>
            <a:off x="6370168" y="5248656"/>
            <a:ext cx="24688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0.28</a:t>
            </a:r>
            <a:endParaRPr lang="en-US" sz="2700" dirty="0"/>
          </a:p>
        </p:txBody>
      </p:sp>
      <p:sp>
        <p:nvSpPr>
          <p:cNvPr id="20" name="Text 18"/>
          <p:cNvSpPr txBox="1"/>
          <p:nvPr/>
        </p:nvSpPr>
        <p:spPr>
          <a:xfrm>
            <a:off x="548640" y="5980176"/>
            <a:ext cx="11064240" cy="320040"/>
          </a:xfrm>
          <a:prstGeom prst="rect">
            <a:avLst/>
          </a:prstGeom>
          <a:noFill/>
          <a:ln/>
        </p:spPr>
        <p:txBody>
          <a:bodyPr wrap="square" lIns="0" tIns="0" rIns="0" bIns="0" rtlCol="0" anchor="ctr"/>
          <a:lstStyle/>
          <a:p>
            <a:pPr algn="ctr" indent="0" marL="0">
              <a:buNone/>
            </a:pPr>
            <a:r>
              <a:rPr lang="en-US" sz="1150" i="1" dirty="0">
                <a:solidFill>
                  <a:srgbClr val="6B7280"/>
                </a:solidFill>
                <a:latin typeface="Calibri" pitchFamily="34" charset="0"/>
                <a:ea typeface="Calibri" pitchFamily="34" charset="-122"/>
                <a:cs typeface="Calibri" pitchFamily="34" charset="-120"/>
              </a:rPr>
              <a:t>Two different estimates of the same customer's uplift — neither is the final answer yet.</a:t>
            </a:r>
            <a:endParaRPr lang="en-US" sz="115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4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Weighted Fusion</a:t>
            </a:r>
            <a:endParaRPr lang="en-US" sz="3000" dirty="0"/>
          </a:p>
        </p:txBody>
      </p:sp>
      <p:sp>
        <p:nvSpPr>
          <p:cNvPr id="4" name="Shape 2"/>
          <p:cNvSpPr/>
          <p:nvPr/>
        </p:nvSpPr>
        <p:spPr>
          <a:xfrm>
            <a:off x="548640" y="1463040"/>
            <a:ext cx="11064240" cy="685800"/>
          </a:xfrm>
          <a:prstGeom prst="roundRect">
            <a:avLst>
              <a:gd name="adj" fmla="val 10667"/>
            </a:avLst>
          </a:prstGeom>
          <a:solidFill>
            <a:srgbClr val="1E2761"/>
          </a:solidFill>
          <a:ln/>
        </p:spPr>
      </p:sp>
      <p:sp>
        <p:nvSpPr>
          <p:cNvPr id="5" name="Text 3"/>
          <p:cNvSpPr txBox="1"/>
          <p:nvPr/>
        </p:nvSpPr>
        <p:spPr>
          <a:xfrm>
            <a:off x="777240" y="1463040"/>
            <a:ext cx="1060704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τ(x) = g(x)·τT(x) + (1 − g(x))·τC(x)</a:t>
            </a:r>
            <a:endParaRPr lang="en-US" sz="2000" dirty="0"/>
          </a:p>
        </p:txBody>
      </p:sp>
      <p:sp>
        <p:nvSpPr>
          <p:cNvPr id="6" name="Text 4"/>
          <p:cNvSpPr txBox="1"/>
          <p:nvPr/>
        </p:nvSpPr>
        <p:spPr>
          <a:xfrm>
            <a:off x="548640" y="2267712"/>
            <a:ext cx="11064240" cy="566928"/>
          </a:xfrm>
          <a:prstGeom prst="rect">
            <a:avLst/>
          </a:prstGeom>
          <a:noFill/>
          <a:ln/>
        </p:spPr>
        <p:txBody>
          <a:bodyPr wrap="square" lIns="0" tIns="0" rIns="0" bIns="0" rtlCol="0" anchor="ctr"/>
          <a:lstStyle/>
          <a:p>
            <a:pPr algn="ctr" indent="0" marL="0">
              <a:lnSpc>
                <a:spcPct val="120000"/>
              </a:lnSpc>
              <a:buNone/>
            </a:pPr>
            <a:r>
              <a:rPr lang="en-US" sz="1150" i="1" dirty="0">
                <a:solidFill>
                  <a:srgbClr val="6B7280"/>
                </a:solidFill>
                <a:latin typeface="Calibri" pitchFamily="34" charset="0"/>
                <a:ea typeface="Calibri" pitchFamily="34" charset="-122"/>
                <a:cs typeface="Calibri" pitchFamily="34" charset="-120"/>
              </a:rPr>
              <a:t>g(x) is the propensity score. τC and τT were each built from a different-sized sample with a different kind of noise (previous slide) — neither is fully reliable alone. g(x) is how the model calibrates how much to lean on each, instead of trusting just one arm's estimate.</a:t>
            </a:r>
            <a:endParaRPr lang="en-US" sz="1150" dirty="0"/>
          </a:p>
        </p:txBody>
      </p:sp>
      <p:sp>
        <p:nvSpPr>
          <p:cNvPr id="7" name="Text 5"/>
          <p:cNvSpPr txBox="1"/>
          <p:nvPr/>
        </p:nvSpPr>
        <p:spPr>
          <a:xfrm>
            <a:off x="548640" y="2999232"/>
            <a:ext cx="1106424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Worked example, continuing with customer G:</a:t>
            </a:r>
            <a:endParaRPr lang="en-US" sz="1300" dirty="0"/>
          </a:p>
        </p:txBody>
      </p:sp>
      <p:sp>
        <p:nvSpPr>
          <p:cNvPr id="8" name="Shape 6"/>
          <p:cNvSpPr/>
          <p:nvPr/>
        </p:nvSpPr>
        <p:spPr>
          <a:xfrm>
            <a:off x="548640" y="3429000"/>
            <a:ext cx="8138160" cy="548640"/>
          </a:xfrm>
          <a:prstGeom prst="roundRect">
            <a:avLst>
              <a:gd name="adj" fmla="val 10000"/>
            </a:avLst>
          </a:prstGeom>
          <a:solidFill>
            <a:srgbClr val="FBF3E1"/>
          </a:solidFill>
          <a:ln/>
        </p:spPr>
      </p:sp>
      <p:sp>
        <p:nvSpPr>
          <p:cNvPr id="9" name="Text 7"/>
          <p:cNvSpPr txBox="1"/>
          <p:nvPr/>
        </p:nvSpPr>
        <p:spPr>
          <a:xfrm>
            <a:off x="777240" y="3429000"/>
            <a:ext cx="1188720" cy="548640"/>
          </a:xfrm>
          <a:prstGeom prst="rect">
            <a:avLst/>
          </a:prstGeom>
          <a:noFill/>
          <a:ln/>
        </p:spPr>
        <p:txBody>
          <a:bodyPr wrap="square" lIns="0" tIns="0" rIns="0" bIns="0" rtlCol="0" anchor="ctr"/>
          <a:lstStyle/>
          <a:p>
            <a:pPr indent="0" marL="0">
              <a:buNone/>
            </a:pPr>
            <a:r>
              <a:rPr lang="en-US" sz="1500" b="1" dirty="0">
                <a:solidFill>
                  <a:srgbClr val="B8892B"/>
                </a:solidFill>
                <a:latin typeface="Courier New" pitchFamily="34" charset="0"/>
                <a:ea typeface="Courier New" pitchFamily="34" charset="-122"/>
                <a:cs typeface="Courier New" pitchFamily="34" charset="-120"/>
              </a:rPr>
              <a:t>τT(G)</a:t>
            </a:r>
            <a:endParaRPr lang="en-US" sz="1500" dirty="0"/>
          </a:p>
        </p:txBody>
      </p:sp>
      <p:sp>
        <p:nvSpPr>
          <p:cNvPr id="10" name="Text 8"/>
          <p:cNvSpPr txBox="1"/>
          <p:nvPr/>
        </p:nvSpPr>
        <p:spPr>
          <a:xfrm>
            <a:off x="1965960" y="3429000"/>
            <a:ext cx="100584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0.28</a:t>
            </a:r>
            <a:endParaRPr lang="en-US" sz="1500" dirty="0"/>
          </a:p>
        </p:txBody>
      </p:sp>
      <p:sp>
        <p:nvSpPr>
          <p:cNvPr id="11" name="Text 9"/>
          <p:cNvSpPr txBox="1"/>
          <p:nvPr/>
        </p:nvSpPr>
        <p:spPr>
          <a:xfrm>
            <a:off x="2971800" y="34290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3337560" y="3429000"/>
            <a:ext cx="1737360" cy="548640"/>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g(G)</a:t>
            </a:r>
            <a:endParaRPr lang="en-US" sz="1500" dirty="0"/>
          </a:p>
        </p:txBody>
      </p:sp>
      <p:sp>
        <p:nvSpPr>
          <p:cNvPr id="13" name="Text 11"/>
          <p:cNvSpPr txBox="1"/>
          <p:nvPr/>
        </p:nvSpPr>
        <p:spPr>
          <a:xfrm>
            <a:off x="5074920" y="3429000"/>
            <a:ext cx="91440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0.7</a:t>
            </a:r>
            <a:endParaRPr lang="en-US" sz="1500" dirty="0"/>
          </a:p>
        </p:txBody>
      </p:sp>
      <p:sp>
        <p:nvSpPr>
          <p:cNvPr id="14" name="Text 12"/>
          <p:cNvSpPr txBox="1"/>
          <p:nvPr/>
        </p:nvSpPr>
        <p:spPr>
          <a:xfrm>
            <a:off x="5989320" y="34290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6355080" y="3429000"/>
            <a:ext cx="1280160" cy="548640"/>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0.196</a:t>
            </a:r>
            <a:endParaRPr lang="en-US" sz="1500" dirty="0"/>
          </a:p>
        </p:txBody>
      </p:sp>
      <p:sp>
        <p:nvSpPr>
          <p:cNvPr id="16" name="Shape 14"/>
          <p:cNvSpPr/>
          <p:nvPr/>
        </p:nvSpPr>
        <p:spPr>
          <a:xfrm>
            <a:off x="548640" y="4114800"/>
            <a:ext cx="8138160" cy="548640"/>
          </a:xfrm>
          <a:prstGeom prst="roundRect">
            <a:avLst>
              <a:gd name="adj" fmla="val 10000"/>
            </a:avLst>
          </a:prstGeom>
          <a:solidFill>
            <a:srgbClr val="E4F3EC"/>
          </a:solidFill>
          <a:ln/>
        </p:spPr>
      </p:sp>
      <p:sp>
        <p:nvSpPr>
          <p:cNvPr id="17" name="Text 15"/>
          <p:cNvSpPr txBox="1"/>
          <p:nvPr/>
        </p:nvSpPr>
        <p:spPr>
          <a:xfrm>
            <a:off x="777240" y="4114800"/>
            <a:ext cx="1188720" cy="548640"/>
          </a:xfrm>
          <a:prstGeom prst="rect">
            <a:avLst/>
          </a:prstGeom>
          <a:noFill/>
          <a:ln/>
        </p:spPr>
        <p:txBody>
          <a:bodyPr wrap="square" lIns="0" tIns="0" rIns="0" bIns="0" rtlCol="0" anchor="ctr"/>
          <a:lstStyle/>
          <a:p>
            <a:pPr indent="0" marL="0">
              <a:buNone/>
            </a:pPr>
            <a:r>
              <a:rPr lang="en-US" sz="1500" b="1" dirty="0">
                <a:solidFill>
                  <a:srgbClr val="1B7A5A"/>
                </a:solidFill>
                <a:latin typeface="Courier New" pitchFamily="34" charset="0"/>
                <a:ea typeface="Courier New" pitchFamily="34" charset="-122"/>
                <a:cs typeface="Courier New" pitchFamily="34" charset="-120"/>
              </a:rPr>
              <a:t>τC(G)</a:t>
            </a:r>
            <a:endParaRPr lang="en-US" sz="1500" dirty="0"/>
          </a:p>
        </p:txBody>
      </p:sp>
      <p:sp>
        <p:nvSpPr>
          <p:cNvPr id="18" name="Text 16"/>
          <p:cNvSpPr txBox="1"/>
          <p:nvPr/>
        </p:nvSpPr>
        <p:spPr>
          <a:xfrm>
            <a:off x="1965960" y="4114800"/>
            <a:ext cx="100584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0.12</a:t>
            </a:r>
            <a:endParaRPr lang="en-US" sz="1500" dirty="0"/>
          </a:p>
        </p:txBody>
      </p:sp>
      <p:sp>
        <p:nvSpPr>
          <p:cNvPr id="19" name="Text 17"/>
          <p:cNvSpPr txBox="1"/>
          <p:nvPr/>
        </p:nvSpPr>
        <p:spPr>
          <a:xfrm>
            <a:off x="2971800" y="41148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0" name="Text 18"/>
          <p:cNvSpPr txBox="1"/>
          <p:nvPr/>
        </p:nvSpPr>
        <p:spPr>
          <a:xfrm>
            <a:off x="3337560" y="4114800"/>
            <a:ext cx="1737360" cy="548640"/>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1 − g(G)</a:t>
            </a:r>
            <a:endParaRPr lang="en-US" sz="1500" dirty="0"/>
          </a:p>
        </p:txBody>
      </p:sp>
      <p:sp>
        <p:nvSpPr>
          <p:cNvPr id="21" name="Text 19"/>
          <p:cNvSpPr txBox="1"/>
          <p:nvPr/>
        </p:nvSpPr>
        <p:spPr>
          <a:xfrm>
            <a:off x="5074920" y="4114800"/>
            <a:ext cx="91440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0.3</a:t>
            </a:r>
            <a:endParaRPr lang="en-US" sz="1500" dirty="0"/>
          </a:p>
        </p:txBody>
      </p:sp>
      <p:sp>
        <p:nvSpPr>
          <p:cNvPr id="22" name="Text 20"/>
          <p:cNvSpPr txBox="1"/>
          <p:nvPr/>
        </p:nvSpPr>
        <p:spPr>
          <a:xfrm>
            <a:off x="5989320" y="41148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3" name="Text 21"/>
          <p:cNvSpPr txBox="1"/>
          <p:nvPr/>
        </p:nvSpPr>
        <p:spPr>
          <a:xfrm>
            <a:off x="6355080" y="4114800"/>
            <a:ext cx="1280160" cy="548640"/>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0.036</a:t>
            </a:r>
            <a:endParaRPr lang="en-US" sz="1500" dirty="0"/>
          </a:p>
        </p:txBody>
      </p:sp>
      <p:sp>
        <p:nvSpPr>
          <p:cNvPr id="24" name="Shape 22"/>
          <p:cNvSpPr/>
          <p:nvPr/>
        </p:nvSpPr>
        <p:spPr>
          <a:xfrm>
            <a:off x="9006840" y="3337560"/>
            <a:ext cx="2606040" cy="1417320"/>
          </a:xfrm>
          <a:prstGeom prst="roundRect">
            <a:avLst>
              <a:gd name="adj" fmla="val 6452"/>
            </a:avLst>
          </a:prstGeom>
          <a:solidFill>
            <a:srgbClr val="1E2761"/>
          </a:solidFill>
          <a:ln/>
        </p:spPr>
      </p:sp>
      <p:sp>
        <p:nvSpPr>
          <p:cNvPr id="25" name="Text 23"/>
          <p:cNvSpPr txBox="1"/>
          <p:nvPr/>
        </p:nvSpPr>
        <p:spPr>
          <a:xfrm>
            <a:off x="9006840" y="3474720"/>
            <a:ext cx="2606040" cy="32004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τ(G) =</a:t>
            </a:r>
            <a:endParaRPr lang="en-US" sz="1300" dirty="0"/>
          </a:p>
        </p:txBody>
      </p:sp>
      <p:sp>
        <p:nvSpPr>
          <p:cNvPr id="26" name="Text 24"/>
          <p:cNvSpPr txBox="1"/>
          <p:nvPr/>
        </p:nvSpPr>
        <p:spPr>
          <a:xfrm>
            <a:off x="9006840" y="3749040"/>
            <a:ext cx="2606040" cy="685800"/>
          </a:xfrm>
          <a:prstGeom prst="rect">
            <a:avLst/>
          </a:prstGeom>
          <a:noFill/>
          <a:ln/>
        </p:spPr>
        <p:txBody>
          <a:bodyPr wrap="square" lIns="0" tIns="0" rIns="0" bIns="0" rtlCol="0" anchor="ctr"/>
          <a:lstStyle/>
          <a:p>
            <a:pPr algn="ctr" indent="0" marL="0">
              <a:buNone/>
            </a:pPr>
            <a:r>
              <a:rPr lang="en-US" sz="3600" b="1" dirty="0">
                <a:solidFill>
                  <a:srgbClr val="B8892B"/>
                </a:solidFill>
                <a:latin typeface="Cambria" pitchFamily="34" charset="0"/>
                <a:ea typeface="Cambria" pitchFamily="34" charset="-122"/>
                <a:cs typeface="Cambria" pitchFamily="34" charset="-120"/>
              </a:rPr>
              <a:t>0.232</a:t>
            </a:r>
            <a:endParaRPr lang="en-US" sz="3600" dirty="0"/>
          </a:p>
        </p:txBody>
      </p:sp>
      <p:sp>
        <p:nvSpPr>
          <p:cNvPr id="27" name="Text 25"/>
          <p:cNvSpPr txBox="1"/>
          <p:nvPr/>
        </p:nvSpPr>
        <p:spPr>
          <a:xfrm>
            <a:off x="9006840" y="4434840"/>
            <a:ext cx="2606040" cy="274320"/>
          </a:xfrm>
          <a:prstGeom prst="rect">
            <a:avLst/>
          </a:prstGeom>
          <a:noFill/>
          <a:ln/>
        </p:spPr>
        <p:txBody>
          <a:bodyPr wrap="square" lIns="0" tIns="0" rIns="0" bIns="0" rtlCol="0" anchor="ctr"/>
          <a:lstStyle/>
          <a:p>
            <a:pPr algn="ctr" indent="0" marL="0">
              <a:buNone/>
            </a:pPr>
            <a:r>
              <a:rPr lang="en-US" sz="1050" i="1" dirty="0">
                <a:solidFill>
                  <a:srgbClr val="CADCFC"/>
                </a:solidFill>
                <a:latin typeface="Calibri" pitchFamily="34" charset="0"/>
                <a:ea typeface="Calibri" pitchFamily="34" charset="-122"/>
                <a:cs typeface="Calibri" pitchFamily="34" charset="-120"/>
              </a:rPr>
              <a:t>final uplift score</a:t>
            </a:r>
            <a:endParaRPr lang="en-US" sz="1050" dirty="0"/>
          </a:p>
        </p:txBody>
      </p:sp>
      <p:sp>
        <p:nvSpPr>
          <p:cNvPr id="28" name="Shape 26"/>
          <p:cNvSpPr/>
          <p:nvPr/>
        </p:nvSpPr>
        <p:spPr>
          <a:xfrm>
            <a:off x="548640" y="5074920"/>
            <a:ext cx="11064240" cy="777240"/>
          </a:xfrm>
          <a:prstGeom prst="roundRect">
            <a:avLst>
              <a:gd name="adj" fmla="val 7059"/>
            </a:avLst>
          </a:prstGeom>
          <a:solidFill>
            <a:srgbClr val="EAF0FC"/>
          </a:solidFill>
          <a:ln/>
        </p:spPr>
      </p:sp>
      <p:sp>
        <p:nvSpPr>
          <p:cNvPr id="29" name="Text 27"/>
          <p:cNvSpPr txBox="1"/>
          <p:nvPr/>
        </p:nvSpPr>
        <p:spPr>
          <a:xfrm>
            <a:off x="822960" y="5074920"/>
            <a:ext cx="10515600" cy="777240"/>
          </a:xfrm>
          <a:prstGeom prst="rect">
            <a:avLst/>
          </a:prstGeom>
          <a:noFill/>
          <a:ln/>
        </p:spPr>
        <p:txBody>
          <a:bodyPr wrap="square" lIns="0" tIns="0" rIns="0" bIns="0" rtlCol="0" anchor="ctr"/>
          <a:lstStyle/>
          <a:p>
            <a:pPr indent="0" marL="0">
              <a:lnSpc>
                <a:spcPct val="120000"/>
              </a:lnSpc>
              <a:buNone/>
            </a:pPr>
            <a:r>
              <a:rPr lang="en-US" sz="1300" dirty="0">
                <a:solidFill>
                  <a:srgbClr val="1E2761"/>
                </a:solidFill>
                <a:latin typeface="Calibri" pitchFamily="34" charset="0"/>
                <a:ea typeface="Calibri" pitchFamily="34" charset="-122"/>
                <a:cs typeface="Calibri" pitchFamily="34" charset="-120"/>
              </a:rPr>
              <a:t>0.196 + 0.036 = 0.232 — this single number is what gets ranked, thresholded, and acted on. Everything before this slide exists to produce it responsibly.</a:t>
            </a:r>
            <a:endParaRPr lang="en-US" sz="1300" dirty="0"/>
          </a:p>
        </p:txBody>
      </p:sp>
      <p:sp>
        <p:nvSpPr>
          <p:cNvPr id="30" name="Text 2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31" name="Text 2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DOES IT ACTUALLY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Validation, Two Ways</a:t>
            </a:r>
            <a:endParaRPr lang="en-US" sz="3000" dirty="0"/>
          </a:p>
        </p:txBody>
      </p:sp>
      <p:sp>
        <p:nvSpPr>
          <p:cNvPr id="4" name="Text 2"/>
          <p:cNvSpPr txBox="1"/>
          <p:nvPr/>
        </p:nvSpPr>
        <p:spPr>
          <a:xfrm>
            <a:off x="548640" y="1371600"/>
            <a:ext cx="11064240" cy="59436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You never observe both outcomes for the same person, so uplift can't be checked row-by-row like a classifier. The standard tool is a Qini curve — rank by score, then compare treated vs. control response as you move down the ranking.</a:t>
            </a:r>
            <a:endParaRPr lang="en-US" sz="1250" dirty="0"/>
          </a:p>
        </p:txBody>
      </p:sp>
      <p:pic>
        <p:nvPicPr>
          <p:cNvPr id="5" name="Image 0" descr="qini_curve.png">    </p:cNvPr>
          <p:cNvPicPr>
            <a:picLocks noChangeAspect="1"/>
          </p:cNvPicPr>
          <p:nvPr/>
        </p:nvPicPr>
        <p:blipFill>
          <a:blip r:embed="rId1"/>
          <a:stretch>
            <a:fillRect/>
          </a:stretch>
        </p:blipFill>
        <p:spPr>
          <a:xfrm>
            <a:off x="548640" y="2057400"/>
            <a:ext cx="5943600" cy="4160520"/>
          </a:xfrm>
          <a:prstGeom prst="rect">
            <a:avLst/>
          </a:prstGeom>
        </p:spPr>
      </p:pic>
      <p:sp>
        <p:nvSpPr>
          <p:cNvPr id="6" name="Shape 3"/>
          <p:cNvSpPr/>
          <p:nvPr/>
        </p:nvSpPr>
        <p:spPr>
          <a:xfrm>
            <a:off x="548640" y="2057400"/>
            <a:ext cx="5943600" cy="4160520"/>
          </a:xfrm>
          <a:prstGeom prst="rect">
            <a:avLst/>
          </a:prstGeom>
          <a:ln w="12700">
            <a:solidFill>
              <a:srgbClr val="E4E7F0"/>
            </a:solidFill>
            <a:prstDash val="solid"/>
          </a:ln>
        </p:spPr>
      </p:sp>
      <p:sp>
        <p:nvSpPr>
          <p:cNvPr id="7" name="Shape 4"/>
          <p:cNvSpPr/>
          <p:nvPr/>
        </p:nvSpPr>
        <p:spPr>
          <a:xfrm>
            <a:off x="6858000" y="2057400"/>
            <a:ext cx="4754880" cy="1298448"/>
          </a:xfrm>
          <a:prstGeom prst="roundRect">
            <a:avLst>
              <a:gd name="adj" fmla="val 5634"/>
            </a:avLst>
          </a:prstGeom>
          <a:solidFill>
            <a:srgbClr val="EAF0FC"/>
          </a:solidFill>
          <a:ln/>
        </p:spPr>
      </p:sp>
      <p:sp>
        <p:nvSpPr>
          <p:cNvPr id="8" name="Text 5"/>
          <p:cNvSpPr txBox="1"/>
          <p:nvPr/>
        </p:nvSpPr>
        <p:spPr>
          <a:xfrm>
            <a:off x="7086600" y="2167128"/>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0.93</a:t>
            </a:r>
            <a:endParaRPr lang="en-US" sz="3000" dirty="0"/>
          </a:p>
        </p:txBody>
      </p:sp>
      <p:sp>
        <p:nvSpPr>
          <p:cNvPr id="9" name="Text 6"/>
          <p:cNvSpPr txBox="1"/>
          <p:nvPr/>
        </p:nvSpPr>
        <p:spPr>
          <a:xfrm>
            <a:off x="8732520" y="2185416"/>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Spearman correlation between estimated and true uplift — only checkable because this demo uses synthetic data with known ground truth.</a:t>
            </a:r>
            <a:endParaRPr lang="en-US" sz="1050" dirty="0"/>
          </a:p>
        </p:txBody>
      </p:sp>
      <p:sp>
        <p:nvSpPr>
          <p:cNvPr id="10" name="Shape 7"/>
          <p:cNvSpPr/>
          <p:nvPr/>
        </p:nvSpPr>
        <p:spPr>
          <a:xfrm>
            <a:off x="6858000" y="3557016"/>
            <a:ext cx="4754880" cy="1298448"/>
          </a:xfrm>
          <a:prstGeom prst="roundRect">
            <a:avLst>
              <a:gd name="adj" fmla="val 5634"/>
            </a:avLst>
          </a:prstGeom>
          <a:solidFill>
            <a:srgbClr val="EAF0FC"/>
          </a:solidFill>
          <a:ln/>
        </p:spPr>
      </p:sp>
      <p:sp>
        <p:nvSpPr>
          <p:cNvPr id="11" name="Text 8"/>
          <p:cNvSpPr txBox="1"/>
          <p:nvPr/>
        </p:nvSpPr>
        <p:spPr>
          <a:xfrm>
            <a:off x="7086600" y="3666744"/>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96%</a:t>
            </a:r>
            <a:endParaRPr lang="en-US" sz="3000" dirty="0"/>
          </a:p>
        </p:txBody>
      </p:sp>
      <p:sp>
        <p:nvSpPr>
          <p:cNvPr id="12" name="Text 9"/>
          <p:cNvSpPr txBox="1"/>
          <p:nvPr/>
        </p:nvSpPr>
        <p:spPr>
          <a:xfrm>
            <a:off x="8732520" y="3685032"/>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of the oracle's achievable Qini gain captured by the X-learner — how close the model gets to the best possible ranking.</a:t>
            </a:r>
            <a:endParaRPr lang="en-US" sz="1050" dirty="0"/>
          </a:p>
        </p:txBody>
      </p:sp>
      <p:sp>
        <p:nvSpPr>
          <p:cNvPr id="13" name="Shape 10"/>
          <p:cNvSpPr/>
          <p:nvPr/>
        </p:nvSpPr>
        <p:spPr>
          <a:xfrm>
            <a:off x="6858000" y="5056632"/>
            <a:ext cx="4754880" cy="1298448"/>
          </a:xfrm>
          <a:prstGeom prst="roundRect">
            <a:avLst>
              <a:gd name="adj" fmla="val 5634"/>
            </a:avLst>
          </a:prstGeom>
          <a:solidFill>
            <a:srgbClr val="EAF0FC"/>
          </a:solidFill>
          <a:ln/>
        </p:spPr>
      </p:sp>
      <p:sp>
        <p:nvSpPr>
          <p:cNvPr id="14" name="Text 11"/>
          <p:cNvSpPr txBox="1"/>
          <p:nvPr/>
        </p:nvSpPr>
        <p:spPr>
          <a:xfrm>
            <a:off x="7086600" y="5166360"/>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+8.5%</a:t>
            </a:r>
            <a:endParaRPr lang="en-US" sz="3000" dirty="0"/>
          </a:p>
        </p:txBody>
      </p:sp>
      <p:sp>
        <p:nvSpPr>
          <p:cNvPr id="15" name="Text 12"/>
          <p:cNvSpPr txBox="1"/>
          <p:nvPr/>
        </p:nvSpPr>
        <p:spPr>
          <a:xfrm>
            <a:off x="8732520" y="5184648"/>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incremental response in the top uplift decile — vs. a population-wide average lift near zero.</a:t>
            </a:r>
            <a:endParaRPr lang="en-US" sz="1050" dirty="0"/>
          </a:p>
        </p:txBody>
      </p:sp>
      <p:sp>
        <p:nvSpPr>
          <p:cNvPr id="16" name="Text 1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17" name="Text 14"/>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PUTTING IT TO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From Score to Decision</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2377440"/>
        </p:xfrm>
        <a:graphic>
          <a:graphicData uri="http://schemas.openxmlformats.org/drawingml/2006/table">
            <a:tbl>
              <a:tblPr/>
              <a:tblGrid>
                <a:gridCol w="1280160"/>
                <a:gridCol w="1828800"/>
                <a:gridCol w="2377440"/>
              </a:tblGrid>
              <a:tr h="5943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Final uplift τ(x)</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b="1" dirty="0">
                          <a:solidFill>
                            <a:srgbClr val="1B7A5A"/>
                          </a:solidFill>
                          <a:latin typeface="Calibri" pitchFamily="34" charset="0"/>
                          <a:ea typeface="Calibri" pitchFamily="34" charset="-122"/>
                          <a:cs typeface="Calibri" pitchFamily="34" charset="-120"/>
                        </a:rPr>
                        <a:t>0.232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dirty="0">
                          <a:solidFill>
                            <a:srgbClr val="1B7A5A"/>
                          </a:solidFill>
                          <a:latin typeface="Calibri" pitchFamily="34" charset="0"/>
                          <a:ea typeface="Calibri" pitchFamily="34" charset="-122"/>
                          <a:cs typeface="Calibri" pitchFamily="34" charset="-120"/>
                        </a:rPr>
                        <a:t>Switch to new offer — first</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b="1" dirty="0">
                          <a:solidFill>
                            <a:srgbClr val="B8892B"/>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dirty="0">
                          <a:solidFill>
                            <a:srgbClr val="B8892B"/>
                          </a:solidFill>
                          <a:latin typeface="Calibri" pitchFamily="34" charset="0"/>
                          <a:ea typeface="Calibri" pitchFamily="34" charset="-122"/>
                          <a:cs typeface="Calibri" pitchFamily="34" charset="-120"/>
                        </a:rPr>
                        <a:t>Borderline — only if budget allows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b="1" dirty="0">
                          <a:solidFill>
                            <a:srgbClr val="B03A2E"/>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dirty="0">
                          <a:solidFill>
                            <a:srgbClr val="B03A2E"/>
                          </a:solidFill>
                          <a:latin typeface="Calibri" pitchFamily="34" charset="0"/>
                          <a:ea typeface="Calibri" pitchFamily="34" charset="-122"/>
                          <a:cs typeface="Calibri" pitchFamily="34" charset="-120"/>
                        </a:rPr>
                        <a:t>Keep old offer — new one likely backfires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r>
            </a:tbl>
          </a:graphicData>
        </a:graphic>
      </p:graphicFrame>
      <p:sp>
        <p:nvSpPr>
          <p:cNvPr id="5" name="Text 2"/>
          <p:cNvSpPr txBox="1"/>
          <p:nvPr/>
        </p:nvSpPr>
        <p:spPr>
          <a:xfrm>
            <a:off x="548640" y="4023360"/>
            <a:ext cx="5486400" cy="1280160"/>
          </a:xfrm>
          <a:prstGeom prst="rect">
            <a:avLst/>
          </a:prstGeom>
          <a:noFill/>
          <a:ln/>
        </p:spPr>
        <p:txBody>
          <a:bodyPr wrap="square" lIns="0" tIns="0" rIns="0" bIns="0" rtlCol="0" anchor="ctr"/>
          <a:lstStyle/>
          <a:p>
            <a:pPr indent="0" marL="0">
              <a:lnSpc>
                <a:spcPct val="125000"/>
              </a:lnSpc>
              <a:buNone/>
            </a:pPr>
            <a:r>
              <a:rPr lang="en-US" sz="1200" dirty="0">
                <a:solidFill>
                  <a:srgbClr val="33344A"/>
                </a:solidFill>
                <a:latin typeface="Calibri" pitchFamily="34" charset="0"/>
                <a:ea typeface="Calibri" pitchFamily="34" charset="-122"/>
                <a:cs typeface="Calibri" pitchFamily="34" charset="-120"/>
              </a:rPr>
              <a:t>The final score drives three things: rank the file high-to-low, roll out the new offer down to a budget/capacity cutoff, and treat a low or negative score as a decision to keep that customer on the old offer — not just a low priority.</a:t>
            </a:r>
            <a:endParaRPr lang="en-US" sz="1200" dirty="0"/>
          </a:p>
        </p:txBody>
      </p:sp>
      <p:sp>
        <p:nvSpPr>
          <p:cNvPr id="6" name="Shape 3"/>
          <p:cNvSpPr/>
          <p:nvPr/>
        </p:nvSpPr>
        <p:spPr>
          <a:xfrm>
            <a:off x="6400800" y="1463040"/>
            <a:ext cx="5212080" cy="4480560"/>
          </a:xfrm>
          <a:prstGeom prst="roundRect">
            <a:avLst>
              <a:gd name="adj" fmla="val 2041"/>
            </a:avLst>
          </a:prstGeom>
          <a:solidFill>
            <a:srgbClr val="1E2761"/>
          </a:solidFill>
          <a:ln/>
        </p:spPr>
      </p:sp>
      <p:sp>
        <p:nvSpPr>
          <p:cNvPr id="7" name="Text 4"/>
          <p:cNvSpPr txBox="1"/>
          <p:nvPr/>
        </p:nvSpPr>
        <p:spPr>
          <a:xfrm>
            <a:off x="6720840" y="1737360"/>
            <a:ext cx="4572000" cy="320040"/>
          </a:xfrm>
          <a:prstGeom prst="rect">
            <a:avLst/>
          </a:prstGeom>
          <a:noFill/>
          <a:ln/>
        </p:spPr>
        <p:txBody>
          <a:bodyPr wrap="square" lIns="0" tIns="0" rIns="0" bIns="0" rtlCol="0" anchor="ctr"/>
          <a:lstStyle/>
          <a:p>
            <a:pPr indent="0" marL="0">
              <a:buNone/>
            </a:pPr>
            <a:r>
              <a:rPr lang="en-US" sz="1150" b="1" spc="150" kern="0" dirty="0">
                <a:solidFill>
                  <a:srgbClr val="B8892B"/>
                </a:solidFill>
                <a:latin typeface="Calibri" pitchFamily="34" charset="0"/>
                <a:ea typeface="Calibri" pitchFamily="34" charset="-122"/>
                <a:cs typeface="Calibri" pitchFamily="34" charset="-120"/>
              </a:rPr>
              <a:t>THE ARGUMENT FOR UPLIFT MODELING</a:t>
            </a:r>
            <a:endParaRPr lang="en-US" sz="1150" dirty="0"/>
          </a:p>
        </p:txBody>
      </p:sp>
      <p:sp>
        <p:nvSpPr>
          <p:cNvPr id="8" name="Text 5"/>
          <p:cNvSpPr txBox="1"/>
          <p:nvPr/>
        </p:nvSpPr>
        <p:spPr>
          <a:xfrm>
            <a:off x="6720840" y="2148840"/>
            <a:ext cx="4572000" cy="10058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In the full simulation, switching everyone to the new offer nets an overall incremental lift close to zero — persuadable gains are offset by sleeping-dog losses.</a:t>
            </a:r>
            <a:endParaRPr lang="en-US" sz="1300" dirty="0"/>
          </a:p>
        </p:txBody>
      </p:sp>
      <p:sp>
        <p:nvSpPr>
          <p:cNvPr id="9" name="Text 6"/>
          <p:cNvSpPr txBox="1"/>
          <p:nvPr/>
        </p:nvSpPr>
        <p:spPr>
          <a:xfrm>
            <a:off x="6720840" y="3200400"/>
            <a:ext cx="4572000" cy="914400"/>
          </a:xfrm>
          <a:prstGeom prst="rect">
            <a:avLst/>
          </a:prstGeom>
          <a:noFill/>
          <a:ln/>
        </p:spPr>
        <p:txBody>
          <a:bodyPr wrap="square" lIns="0" tIns="0" rIns="0" bIns="0" rtlCol="0" anchor="ctr"/>
          <a:lstStyle/>
          <a:p>
            <a:pPr indent="0" marL="0">
              <a:lnSpc>
                <a:spcPct val="125000"/>
              </a:lnSpc>
              <a:buNone/>
            </a:pPr>
            <a:r>
              <a:rPr lang="en-US" sz="1300" i="1" dirty="0">
                <a:solidFill>
                  <a:srgbClr val="C9D2F0"/>
                </a:solidFill>
                <a:latin typeface="Calibri" pitchFamily="34" charset="0"/>
                <a:ea typeface="Calibri" pitchFamily="34" charset="-122"/>
                <a:cs typeface="Calibri" pitchFamily="34" charset="-120"/>
              </a:rPr>
              <a:t>A plain response model — or a simple before/after read — would look at that flat average and conclude the campaign doesn't work.</a:t>
            </a:r>
            <a:endParaRPr lang="en-US" sz="1300" dirty="0"/>
          </a:p>
        </p:txBody>
      </p:sp>
      <p:sp>
        <p:nvSpPr>
          <p:cNvPr id="10" name="Shape 7"/>
          <p:cNvSpPr/>
          <p:nvPr/>
        </p:nvSpPr>
        <p:spPr>
          <a:xfrm>
            <a:off x="6720840" y="4206240"/>
            <a:ext cx="4251960" cy="0"/>
          </a:xfrm>
          <a:prstGeom prst="line">
            <a:avLst/>
          </a:prstGeom>
          <a:noFill/>
          <a:ln w="12700">
            <a:solidFill>
              <a:srgbClr val="3A459A"/>
            </a:solidFill>
            <a:prstDash val="solid"/>
          </a:ln>
        </p:spPr>
      </p:sp>
      <p:sp>
        <p:nvSpPr>
          <p:cNvPr id="11" name="Text 8"/>
          <p:cNvSpPr txBox="1"/>
          <p:nvPr/>
        </p:nvSpPr>
        <p:spPr>
          <a:xfrm>
            <a:off x="6720840" y="4389120"/>
            <a:ext cx="4572000" cy="914400"/>
          </a:xfrm>
          <a:prstGeom prst="rect">
            <a:avLst/>
          </a:prstGeom>
          <a:noFill/>
          <a:ln/>
        </p:spPr>
        <p:txBody>
          <a:bodyPr wrap="square" lIns="0" tIns="0" rIns="0" bIns="0" rtlCol="0" anchor="ctr"/>
          <a:lstStyle/>
          <a:p>
            <a:pPr indent="0" marL="0">
              <a:lnSpc>
                <a:spcPct val="130000"/>
              </a:lnSpc>
              <a:buNone/>
            </a:pPr>
            <a:r>
              <a:rPr lang="en-US" sz="1550" b="1" dirty="0">
                <a:solidFill>
                  <a:srgbClr val="FFFFFF"/>
                </a:solidFill>
                <a:latin typeface="Cambria" pitchFamily="34" charset="0"/>
                <a:ea typeface="Cambria" pitchFamily="34" charset="-122"/>
                <a:cs typeface="Cambria" pitchFamily="34" charset="-120"/>
              </a:rPr>
              <a:t>Uplift modeling reveals the real, exploitable heterogeneity hiding underneath that flat average.</a:t>
            </a:r>
            <a:endParaRPr lang="en-US" sz="155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13" name="Text 1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365760"/>
          </a:xfrm>
          <a:prstGeom prst="rect">
            <a:avLst/>
          </a:prstGeom>
          <a:noFill/>
          <a:ln/>
        </p:spPr>
        <p:txBody>
          <a:bodyPr wrap="square" lIns="0" tIns="0" rIns="0" bIns="0" rtlCol="0" anchor="ctr"/>
          <a:lstStyle/>
          <a:p>
            <a:pPr indent="0" marL="0">
              <a:buNone/>
            </a:pPr>
            <a:r>
              <a:rPr lang="en-US" sz="1300" b="1" spc="200" kern="0" dirty="0">
                <a:solidFill>
                  <a:srgbClr val="B8892B"/>
                </a:solidFill>
                <a:latin typeface="Calibri" pitchFamily="34" charset="0"/>
                <a:ea typeface="Calibri" pitchFamily="34" charset="-122"/>
                <a:cs typeface="Calibri" pitchFamily="34" charset="-120"/>
              </a:rPr>
              <a:t>THE ONE-MINUTE ANSWER</a:t>
            </a:r>
            <a:endParaRPr lang="en-US" sz="1300" dirty="0"/>
          </a:p>
        </p:txBody>
      </p:sp>
      <p:sp>
        <p:nvSpPr>
          <p:cNvPr id="3" name="Text 1"/>
          <p:cNvSpPr txBox="1"/>
          <p:nvPr/>
        </p:nvSpPr>
        <p:spPr>
          <a:xfrm>
            <a:off x="640080" y="868680"/>
            <a:ext cx="105156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If I only get one minute to explain X-Learner</a:t>
            </a:r>
            <a:endParaRPr lang="en-US" sz="2600" dirty="0"/>
          </a:p>
        </p:txBody>
      </p:sp>
      <p:sp>
        <p:nvSpPr>
          <p:cNvPr id="4" name="Shape 2"/>
          <p:cNvSpPr/>
          <p:nvPr/>
        </p:nvSpPr>
        <p:spPr>
          <a:xfrm>
            <a:off x="640080" y="1600200"/>
            <a:ext cx="475488" cy="475488"/>
          </a:xfrm>
          <a:prstGeom prst="ellipse">
            <a:avLst/>
          </a:prstGeom>
          <a:solidFill>
            <a:srgbClr val="B8892B"/>
          </a:solidFill>
          <a:ln/>
        </p:spPr>
      </p:sp>
      <p:sp>
        <p:nvSpPr>
          <p:cNvPr id="5" name="Text 3"/>
          <p:cNvSpPr txBox="1"/>
          <p:nvPr/>
        </p:nvSpPr>
        <p:spPr>
          <a:xfrm>
            <a:off x="640080" y="1600200"/>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1</a:t>
            </a:r>
            <a:endParaRPr lang="en-US" sz="1700" dirty="0"/>
          </a:p>
        </p:txBody>
      </p:sp>
      <p:sp>
        <p:nvSpPr>
          <p:cNvPr id="6" name="Text 4"/>
          <p:cNvSpPr txBox="1"/>
          <p:nvPr/>
        </p:nvSpPr>
        <p:spPr>
          <a:xfrm>
            <a:off x="1371600" y="1508760"/>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Split &amp; train</a:t>
            </a:r>
            <a:endParaRPr lang="en-US" sz="1550" dirty="0"/>
          </a:p>
        </p:txBody>
      </p:sp>
      <p:sp>
        <p:nvSpPr>
          <p:cNvPr id="7" name="Text 5"/>
          <p:cNvSpPr txBox="1"/>
          <p:nvPr/>
        </p:nvSpPr>
        <p:spPr>
          <a:xfrm>
            <a:off x="4160520" y="1508760"/>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Split historical data into treatment / control, train one outcome model per arm.</a:t>
            </a:r>
            <a:endParaRPr lang="en-US" sz="1250" dirty="0"/>
          </a:p>
        </p:txBody>
      </p:sp>
      <p:sp>
        <p:nvSpPr>
          <p:cNvPr id="8" name="Shape 6"/>
          <p:cNvSpPr/>
          <p:nvPr/>
        </p:nvSpPr>
        <p:spPr>
          <a:xfrm>
            <a:off x="640080" y="2532888"/>
            <a:ext cx="475488" cy="475488"/>
          </a:xfrm>
          <a:prstGeom prst="ellipse">
            <a:avLst/>
          </a:prstGeom>
          <a:solidFill>
            <a:srgbClr val="B8892B"/>
          </a:solidFill>
          <a:ln/>
        </p:spPr>
      </p:sp>
      <p:sp>
        <p:nvSpPr>
          <p:cNvPr id="9" name="Text 7"/>
          <p:cNvSpPr txBox="1"/>
          <p:nvPr/>
        </p:nvSpPr>
        <p:spPr>
          <a:xfrm>
            <a:off x="640080" y="2532888"/>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2</a:t>
            </a:r>
            <a:endParaRPr lang="en-US" sz="1700" dirty="0"/>
          </a:p>
        </p:txBody>
      </p:sp>
      <p:sp>
        <p:nvSpPr>
          <p:cNvPr id="10" name="Text 8"/>
          <p:cNvSpPr txBox="1"/>
          <p:nvPr/>
        </p:nvSpPr>
        <p:spPr>
          <a:xfrm>
            <a:off x="1371600" y="2441448"/>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Impute effects</a:t>
            </a:r>
            <a:endParaRPr lang="en-US" sz="1550" dirty="0"/>
          </a:p>
        </p:txBody>
      </p:sp>
      <p:sp>
        <p:nvSpPr>
          <p:cNvPr id="11" name="Text 9"/>
          <p:cNvSpPr txBox="1"/>
          <p:nvPr/>
        </p:nvSpPr>
        <p:spPr>
          <a:xfrm>
            <a:off x="4160520" y="2441448"/>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For each unit, use the OTHER arm's model as its counterfactual to build a pseudo effect.</a:t>
            </a:r>
            <a:endParaRPr lang="en-US" sz="1250" dirty="0"/>
          </a:p>
        </p:txBody>
      </p:sp>
      <p:sp>
        <p:nvSpPr>
          <p:cNvPr id="12" name="Shape 10"/>
          <p:cNvSpPr/>
          <p:nvPr/>
        </p:nvSpPr>
        <p:spPr>
          <a:xfrm>
            <a:off x="640080" y="3465576"/>
            <a:ext cx="475488" cy="475488"/>
          </a:xfrm>
          <a:prstGeom prst="ellipse">
            <a:avLst/>
          </a:prstGeom>
          <a:solidFill>
            <a:srgbClr val="B8892B"/>
          </a:solidFill>
          <a:ln/>
        </p:spPr>
      </p:sp>
      <p:sp>
        <p:nvSpPr>
          <p:cNvPr id="13" name="Text 11"/>
          <p:cNvSpPr txBox="1"/>
          <p:nvPr/>
        </p:nvSpPr>
        <p:spPr>
          <a:xfrm>
            <a:off x="640080" y="3465576"/>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3</a:t>
            </a:r>
            <a:endParaRPr lang="en-US" sz="1700" dirty="0"/>
          </a:p>
        </p:txBody>
      </p:sp>
      <p:sp>
        <p:nvSpPr>
          <p:cNvPr id="14" name="Text 12"/>
          <p:cNvSpPr txBox="1"/>
          <p:nvPr/>
        </p:nvSpPr>
        <p:spPr>
          <a:xfrm>
            <a:off x="1371600" y="3374136"/>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Learn the effect</a:t>
            </a:r>
            <a:endParaRPr lang="en-US" sz="1550" dirty="0"/>
          </a:p>
        </p:txBody>
      </p:sp>
      <p:sp>
        <p:nvSpPr>
          <p:cNvPr id="15" name="Text 13"/>
          <p:cNvSpPr txBox="1"/>
          <p:nvPr/>
        </p:nvSpPr>
        <p:spPr>
          <a:xfrm>
            <a:off x="4160520" y="3374136"/>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Train two regressors directly on those pseudo effects — output is uplift, not a response probability.</a:t>
            </a:r>
            <a:endParaRPr lang="en-US" sz="1250" dirty="0"/>
          </a:p>
        </p:txBody>
      </p:sp>
      <p:sp>
        <p:nvSpPr>
          <p:cNvPr id="16" name="Shape 14"/>
          <p:cNvSpPr/>
          <p:nvPr/>
        </p:nvSpPr>
        <p:spPr>
          <a:xfrm>
            <a:off x="640080" y="4398264"/>
            <a:ext cx="475488" cy="475488"/>
          </a:xfrm>
          <a:prstGeom prst="ellipse">
            <a:avLst/>
          </a:prstGeom>
          <a:solidFill>
            <a:srgbClr val="B8892B"/>
          </a:solidFill>
          <a:ln/>
        </p:spPr>
      </p:sp>
      <p:sp>
        <p:nvSpPr>
          <p:cNvPr id="17" name="Text 15"/>
          <p:cNvSpPr txBox="1"/>
          <p:nvPr/>
        </p:nvSpPr>
        <p:spPr>
          <a:xfrm>
            <a:off x="640080" y="4398264"/>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4</a:t>
            </a:r>
            <a:endParaRPr lang="en-US" sz="1700" dirty="0"/>
          </a:p>
        </p:txBody>
      </p:sp>
      <p:sp>
        <p:nvSpPr>
          <p:cNvPr id="18" name="Text 16"/>
          <p:cNvSpPr txBox="1"/>
          <p:nvPr/>
        </p:nvSpPr>
        <p:spPr>
          <a:xfrm>
            <a:off x="1371600" y="4306824"/>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Fuse &amp; rank</a:t>
            </a:r>
            <a:endParaRPr lang="en-US" sz="1550" dirty="0"/>
          </a:p>
        </p:txBody>
      </p:sp>
      <p:sp>
        <p:nvSpPr>
          <p:cNvPr id="19" name="Text 17"/>
          <p:cNvSpPr txBox="1"/>
          <p:nvPr/>
        </p:nvSpPr>
        <p:spPr>
          <a:xfrm>
            <a:off x="4160520" y="4306824"/>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Blend both effect models with propensity weight g(x) into one score; rank and target on it.</a:t>
            </a:r>
            <a:endParaRPr lang="en-US" sz="1250" dirty="0"/>
          </a:p>
        </p:txBody>
      </p:sp>
      <p:sp>
        <p:nvSpPr>
          <p:cNvPr id="20" name="Shape 18"/>
          <p:cNvSpPr/>
          <p:nvPr/>
        </p:nvSpPr>
        <p:spPr>
          <a:xfrm>
            <a:off x="640080" y="5349240"/>
            <a:ext cx="10881360" cy="0"/>
          </a:xfrm>
          <a:prstGeom prst="line">
            <a:avLst/>
          </a:prstGeom>
          <a:noFill/>
          <a:ln w="12700">
            <a:solidFill>
              <a:srgbClr val="3A459A"/>
            </a:solidFill>
            <a:prstDash val="solid"/>
          </a:ln>
        </p:spPr>
      </p:sp>
      <p:sp>
        <p:nvSpPr>
          <p:cNvPr id="21" name="Text 19"/>
          <p:cNvSpPr txBox="1"/>
          <p:nvPr/>
        </p:nvSpPr>
        <p:spPr>
          <a:xfrm>
            <a:off x="640080" y="5513832"/>
            <a:ext cx="10881360" cy="548640"/>
          </a:xfrm>
          <a:prstGeom prst="rect">
            <a:avLst/>
          </a:prstGeom>
          <a:noFill/>
          <a:ln/>
        </p:spPr>
        <p:txBody>
          <a:bodyPr wrap="square" lIns="0" tIns="0" rIns="0" bIns="0" rtlCol="0" anchor="ctr"/>
          <a:lstStyle/>
          <a:p>
            <a:pPr indent="0" marL="0">
              <a:lnSpc>
                <a:spcPct val="120000"/>
              </a:lnSpc>
              <a:buNone/>
            </a:pPr>
            <a:r>
              <a:rPr lang="en-US" sz="1150" i="1" dirty="0">
                <a:solidFill>
                  <a:srgbClr val="9FB4E8"/>
                </a:solidFill>
                <a:latin typeface="Calibri" pitchFamily="34" charset="0"/>
                <a:ea typeface="Calibri" pitchFamily="34" charset="-122"/>
                <a:cs typeface="Calibri" pitchFamily="34" charset="-120"/>
              </a:rPr>
              <a:t>This is the estimator family behind a live prescreen campaign that lifted response 20% and cut acquisition cost 16% — this deck and notebook reproduce the method on synthetic data.</a:t>
            </a:r>
            <a:endParaRPr lang="en-US" sz="1150" dirty="0"/>
          </a:p>
        </p:txBody>
      </p:sp>
      <p:sp>
        <p:nvSpPr>
          <p:cNvPr id="23"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24"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2026-08-27T19:26:50Z</dcterms:created>
  <dcterms:modified xsi:type="dcterms:W3CDTF">2026-08-27T19:26:50Z</dcterms:modified>
</cp:coreProperties>
</file>