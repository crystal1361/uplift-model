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 和 control 两组，分别训练两个 outcome model，一个学有 offer 时的结果，一个学没 offer 时的结果。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 offer 会产生最大的增量响应。
English equivalent:
1. Split historical experiment data into treatment and control, train two outcome models — one for what happens with the offer, one without.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because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say yes with no offer at all. An uplift model predicts the incremental effect of the offer itself, so targeting can focus on the one segment where the offer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5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Y (our Applied column) = 1 if the customer applies for the credit card, 0 if not.  T (our receive_offer column) = 1 if they received the prescreen mail offer (treatment), 0 if held out (control).</a:t>
            </a:r>
            <a:endParaRPr lang="en-US" sz="115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treatment effect — not the response probability — is the thing we're trying to score.</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if they get the offer (Y=1 under T=1, Y=0 under T=0) —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either way (Y=1 regardless of T). Mailing them is wasted budget.</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offer or not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if they get the offer — the mailing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receive_offer (got the offer, 1/0) as just another input feature. τ(x) = f(x,1) − f(x,0), where 1/0 flips whether the offer was sent.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models, one per arm. τ(x) = μ̂₁(x) − μ̂₀(x), where μ̂₁ is the offer-group model and μ̂₀ is the no-offer (control)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Applied and receive_offer columns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4892040" cy="1508760"/>
        </p:xfrm>
        <a:graphic>
          <a:graphicData uri="http://schemas.openxmlformats.org/drawingml/2006/table">
            <a:tbl>
              <a:tblPr/>
              <a:tblGrid>
                <a:gridCol w="1663294"/>
                <a:gridCol w="1663294"/>
                <a:gridCol w="1565453"/>
              </a:tblGrid>
              <a:tr h="215537">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receive_offer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7" name="Shape 4"/>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8" name="Text 5"/>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mailing scenarios on customer G</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828800"/>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receive_offer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877824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368296"/>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receive_offer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3" name="Text 7"/>
          <p:cNvSpPr txBox="1"/>
          <p:nvPr/>
        </p:nvSpPr>
        <p:spPr>
          <a:xfrm>
            <a:off x="877824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Shape 8"/>
          <p:cNvSpPr/>
          <p:nvPr/>
        </p:nvSpPr>
        <p:spPr>
          <a:xfrm>
            <a:off x="6492240" y="2898648"/>
            <a:ext cx="4892040" cy="438912"/>
          </a:xfrm>
          <a:prstGeom prst="roundRect">
            <a:avLst>
              <a:gd name="adj" fmla="val 12500"/>
            </a:avLst>
          </a:prstGeom>
          <a:solidFill>
            <a:srgbClr val="141B4D"/>
          </a:solidFill>
          <a:ln/>
        </p:spPr>
      </p:sp>
      <p:sp>
        <p:nvSpPr>
          <p:cNvPr id="16" name="Text 9"/>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7" name="Shape 10"/>
          <p:cNvSpPr/>
          <p:nvPr/>
        </p:nvSpPr>
        <p:spPr>
          <a:xfrm>
            <a:off x="548640" y="3611880"/>
            <a:ext cx="5349240" cy="1234440"/>
          </a:xfrm>
          <a:prstGeom prst="roundRect">
            <a:avLst>
              <a:gd name="adj" fmla="val 7407"/>
            </a:avLst>
          </a:prstGeom>
          <a:solidFill>
            <a:srgbClr val="E4F3EC"/>
          </a:solidFill>
          <a:ln/>
        </p:spPr>
      </p:sp>
      <p:sp>
        <p:nvSpPr>
          <p:cNvPr id="18" name="Text 11"/>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9" name="Text 12"/>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even with a small treatment group.</a:t>
            </a:r>
            <a:endParaRPr lang="en-US" sz="1150" dirty="0"/>
          </a:p>
        </p:txBody>
      </p:sp>
      <p:sp>
        <p:nvSpPr>
          <p:cNvPr id="20" name="Shape 13"/>
          <p:cNvSpPr/>
          <p:nvPr/>
        </p:nvSpPr>
        <p:spPr>
          <a:xfrm>
            <a:off x="6263640" y="3611880"/>
            <a:ext cx="5349240" cy="1234440"/>
          </a:xfrm>
          <a:prstGeom prst="roundRect">
            <a:avLst>
              <a:gd name="adj" fmla="val 7407"/>
            </a:avLst>
          </a:prstGeom>
          <a:solidFill>
            <a:srgbClr val="FBEAE8"/>
          </a:solidFill>
          <a:ln/>
        </p:spPr>
      </p:sp>
      <p:sp>
        <p:nvSpPr>
          <p:cNvPr id="21" name="Text 14"/>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2" name="Text 15"/>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receive_offer feature over dozens of stronger predictors — treatment can get nearly ignored.</a:t>
            </a:r>
            <a:endParaRPr lang="en-US" sz="1150" dirty="0"/>
          </a:p>
        </p:txBody>
      </p:sp>
      <p:sp>
        <p:nvSpPr>
          <p:cNvPr id="23" name="Shape 16"/>
          <p:cNvSpPr/>
          <p:nvPr/>
        </p:nvSpPr>
        <p:spPr>
          <a:xfrm>
            <a:off x="548640" y="4983480"/>
            <a:ext cx="11064240" cy="1051560"/>
          </a:xfrm>
          <a:prstGeom prst="roundRect">
            <a:avLst>
              <a:gd name="adj" fmla="val 6957"/>
            </a:avLst>
          </a:prstGeom>
          <a:solidFill>
            <a:srgbClr val="141B4D"/>
          </a:solidFill>
          <a:ln/>
        </p:spPr>
      </p:sp>
      <p:sp>
        <p:nvSpPr>
          <p:cNvPr id="24" name="Text 17"/>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the offer itself. A pooled model leans on those and treats receive_offer as noise, exactly the risk we can't take when isolating the offer's effect is the whole point.</a:t>
            </a:r>
            <a:endParaRPr lang="en-US" sz="1250" dirty="0"/>
          </a:p>
        </p:txBody>
      </p:sp>
      <p:sp>
        <p:nvSpPr>
          <p:cNvPr id="25"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6"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82880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3314700" y="182880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1" name="Text 7"/>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828800"/>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896112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368296"/>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6" name="Text 9"/>
          <p:cNvSpPr txBox="1"/>
          <p:nvPr/>
        </p:nvSpPr>
        <p:spPr>
          <a:xfrm>
            <a:off x="896112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Shape 10"/>
          <p:cNvSpPr/>
          <p:nvPr/>
        </p:nvSpPr>
        <p:spPr>
          <a:xfrm>
            <a:off x="6492240" y="2898648"/>
            <a:ext cx="4892040" cy="438912"/>
          </a:xfrm>
          <a:prstGeom prst="roundRect">
            <a:avLst>
              <a:gd name="adj" fmla="val 12500"/>
            </a:avLst>
          </a:prstGeom>
          <a:solidFill>
            <a:srgbClr val="141B4D"/>
          </a:solidFill>
          <a:ln/>
        </p:spPr>
      </p:sp>
      <p:sp>
        <p:nvSpPr>
          <p:cNvPr id="19" name="Text 11"/>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0" name="Shape 12"/>
          <p:cNvSpPr/>
          <p:nvPr/>
        </p:nvSpPr>
        <p:spPr>
          <a:xfrm>
            <a:off x="548640" y="3611880"/>
            <a:ext cx="5349240" cy="1234440"/>
          </a:xfrm>
          <a:prstGeom prst="roundRect">
            <a:avLst>
              <a:gd name="adj" fmla="val 7407"/>
            </a:avLst>
          </a:prstGeom>
          <a:solidFill>
            <a:srgbClr val="E4F3EC"/>
          </a:solidFill>
          <a:ln/>
        </p:spPr>
      </p:sp>
      <p:sp>
        <p:nvSpPr>
          <p:cNvPr id="21"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2"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3" name="Shape 15"/>
          <p:cNvSpPr/>
          <p:nvPr/>
        </p:nvSpPr>
        <p:spPr>
          <a:xfrm>
            <a:off x="6263640" y="3611880"/>
            <a:ext cx="5349240" cy="1234440"/>
          </a:xfrm>
          <a:prstGeom prst="roundRect">
            <a:avLst>
              <a:gd name="adj" fmla="val 7407"/>
            </a:avLst>
          </a:prstGeom>
          <a:solidFill>
            <a:srgbClr val="FBEAE8"/>
          </a:solidFill>
          <a:ln/>
        </p:spPr>
      </p:sp>
      <p:sp>
        <p:nvSpPr>
          <p:cNvPr id="24"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5"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6" name="Shape 18"/>
          <p:cNvSpPr/>
          <p:nvPr/>
        </p:nvSpPr>
        <p:spPr>
          <a:xfrm>
            <a:off x="548640" y="4983480"/>
            <a:ext cx="11064240" cy="1188720"/>
          </a:xfrm>
          <a:prstGeom prst="roundRect">
            <a:avLst>
              <a:gd name="adj" fmla="val 6154"/>
            </a:avLst>
          </a:prstGeom>
          <a:solidFill>
            <a:srgbClr val="141B4D"/>
          </a:solidFill>
          <a:ln/>
        </p:spPr>
      </p:sp>
      <p:sp>
        <p:nvSpPr>
          <p:cNvPr id="27" name="Text 19"/>
          <p:cNvSpPr txBox="1"/>
          <p:nvPr/>
        </p:nvSpPr>
        <p:spPr>
          <a:xfrm>
            <a:off x="868680" y="4983480"/>
            <a:ext cx="10424160" cy="1188720"/>
          </a:xfrm>
          <a:prstGeom prst="rect">
            <a:avLst/>
          </a:prstGeom>
          <a:noFill/>
          <a:ln/>
        </p:spPr>
        <p:txBody>
          <a:bodyPr wrap="square" lIns="0" tIns="0" rIns="0" bIns="0" rtlCol="0" anchor="ctr"/>
          <a:lstStyle/>
          <a:p>
            <a:pPr indent="0" marL="0">
              <a:lnSpc>
                <a:spcPct val="122000"/>
              </a:lnSpc>
              <a:buNone/>
            </a:pPr>
            <a:r>
              <a:rPr lang="en-US" sz="120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T-Learner isn't broken by design — if receive_offer were roughly 50/50, μ̂₀ and μ̂₁ would train on comparable sample sizes and subtracting two similarly-precise models wouldn't cost much. </a:t>
            </a:r>
            <a:pPr indent="0" marL="0">
              <a:lnSpc>
                <a:spcPct val="122000"/>
              </a:lnSpc>
              <a:buNone/>
            </a:pPr>
            <a:r>
              <a:rPr lang="en-US" sz="1200" b="1" dirty="0">
                <a:solidFill>
                  <a:srgbClr val="C9D2F0"/>
                </a:solidFill>
                <a:latin typeface="Calibri" pitchFamily="34" charset="0"/>
                <a:ea typeface="Calibri" pitchFamily="34" charset="-122"/>
                <a:cs typeface="Calibri" pitchFamily="34" charset="-120"/>
              </a:rPr>
              <a:t>The problem is our specific setup: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about 70% of customers are held-out control (no offer) and only ~30% receive the mailed offer — you can't afford to mail everyone in a live campaign. That imbalance starves μ̂₁, the offer-side model, exactly where T-Learner needs it most: τ(x)=μ̂₁(x)−μ̂₀(x) inherits nearly all of μ̂₁'s extra noise. Closing that gap without needing a bigger treatment group is the reason X-Learner exists.</a:t>
            </a:r>
            <a:endParaRPr lang="en-US" sz="1200" dirty="0"/>
          </a:p>
        </p:txBody>
      </p:sp>
      <p:sp>
        <p:nvSpPr>
          <p:cNvPr id="28"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9"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 · MECHANISM</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Imbalance Breaks the Subtraction</a:t>
            </a:r>
            <a:endParaRPr lang="en-US" sz="3000" dirty="0"/>
          </a:p>
        </p:txBody>
      </p:sp>
      <p:sp>
        <p:nvSpPr>
          <p:cNvPr id="4" name="Shape 2"/>
          <p:cNvSpPr/>
          <p:nvPr/>
        </p:nvSpPr>
        <p:spPr>
          <a:xfrm>
            <a:off x="548640" y="1325880"/>
            <a:ext cx="11064240" cy="749808"/>
          </a:xfrm>
          <a:prstGeom prst="roundRect">
            <a:avLst>
              <a:gd name="adj" fmla="val 7317"/>
            </a:avLst>
          </a:prstGeom>
          <a:solidFill>
            <a:srgbClr val="EAF0FC"/>
          </a:solidFill>
          <a:ln/>
        </p:spPr>
      </p:sp>
      <p:sp>
        <p:nvSpPr>
          <p:cNvPr id="5" name="Text 3"/>
          <p:cNvSpPr txBox="1"/>
          <p:nvPr/>
        </p:nvSpPr>
        <p:spPr>
          <a:xfrm>
            <a:off x="777240" y="1325880"/>
            <a:ext cx="10607040" cy="749808"/>
          </a:xfrm>
          <a:prstGeom prst="rect">
            <a:avLst/>
          </a:prstGeom>
          <a:noFill/>
          <a:ln/>
        </p:spPr>
        <p:txBody>
          <a:bodyPr wrap="square" lIns="0" tIns="0" rIns="0" bIns="0" rtlCol="0" anchor="ctr"/>
          <a:lstStyle/>
          <a:p>
            <a:pPr indent="0" marL="0">
              <a:lnSpc>
                <a:spcPct val="122000"/>
              </a:lnSpc>
              <a:buNone/>
            </a:pPr>
            <a:r>
              <a:rPr lang="en-US" sz="1100" b="1" dirty="0">
                <a:solidFill>
                  <a:srgbClr val="1E2761"/>
                </a:solidFill>
                <a:latin typeface="Calibri" pitchFamily="34" charset="0"/>
                <a:ea typeface="Calibri" pitchFamily="34" charset="-122"/>
                <a:cs typeface="Calibri" pitchFamily="34" charset="-120"/>
              </a:rPr>
              <a:t>Notation:  </a:t>
            </a:r>
            <a:pPr indent="0" marL="0">
              <a:lnSpc>
                <a:spcPct val="122000"/>
              </a:lnSpc>
              <a:buNone/>
            </a:pPr>
            <a:r>
              <a:rPr lang="en-US" sz="1100" dirty="0">
                <a:solidFill>
                  <a:srgbClr val="33344A"/>
                </a:solidFill>
                <a:latin typeface="Calibri" pitchFamily="34" charset="0"/>
                <a:ea typeface="Calibri" pitchFamily="34" charset="-122"/>
                <a:cs typeface="Calibri" pitchFamily="34" charset="-120"/>
              </a:rPr>
              <a:t>μ̂₀(x), μ̂₁(x) = the two outcome models — predicted P(Applied), without vs. with the offer.   τ(x) = μ̂₁(x) − μ̂₀(x) = the uplift score we're estimating.   n₀, n₁ = how many customers trained each model.   Var(·) = how noisy a model's predictions are — it shrinks as n grows.</a:t>
            </a:r>
            <a:endParaRPr lang="en-US" sz="1100" dirty="0"/>
          </a:p>
        </p:txBody>
      </p:sp>
      <p:sp>
        <p:nvSpPr>
          <p:cNvPr id="6" name="Shape 4"/>
          <p:cNvSpPr/>
          <p:nvPr/>
        </p:nvSpPr>
        <p:spPr>
          <a:xfrm>
            <a:off x="548640" y="2258568"/>
            <a:ext cx="5806440" cy="621792"/>
          </a:xfrm>
          <a:prstGeom prst="roundRect">
            <a:avLst>
              <a:gd name="adj" fmla="val 11765"/>
            </a:avLst>
          </a:prstGeom>
          <a:solidFill>
            <a:srgbClr val="141B4D"/>
          </a:solidFill>
          <a:ln/>
        </p:spPr>
      </p:sp>
      <p:sp>
        <p:nvSpPr>
          <p:cNvPr id="7" name="Text 5"/>
          <p:cNvSpPr txBox="1"/>
          <p:nvPr/>
        </p:nvSpPr>
        <p:spPr>
          <a:xfrm>
            <a:off x="777240" y="2258568"/>
            <a:ext cx="5349240" cy="621792"/>
          </a:xfrm>
          <a:prstGeom prst="rect">
            <a:avLst/>
          </a:prstGeom>
          <a:noFill/>
          <a:ln/>
        </p:spPr>
        <p:txBody>
          <a:bodyPr wrap="square" lIns="0" tIns="0" rIns="0" bIns="0" rtlCol="0" anchor="ctr"/>
          <a:lstStyle/>
          <a:p>
            <a:pPr algn="l" indent="0" marL="0">
              <a:buNone/>
            </a:pPr>
            <a:r>
              <a:rPr lang="en-US" sz="1600" b="1" dirty="0">
                <a:solidFill>
                  <a:srgbClr val="FFFFFF"/>
                </a:solidFill>
                <a:latin typeface="Courier New" pitchFamily="34" charset="0"/>
                <a:ea typeface="Courier New" pitchFamily="34" charset="-122"/>
                <a:cs typeface="Courier New" pitchFamily="34" charset="-120"/>
              </a:rPr>
              <a:t>Var(τ̂) = Var(μ̂₀) + Var(μ̂₁)</a:t>
            </a:r>
            <a:endParaRPr lang="en-US" sz="1600" dirty="0"/>
          </a:p>
        </p:txBody>
      </p:sp>
      <p:sp>
        <p:nvSpPr>
          <p:cNvPr id="8" name="Text 6"/>
          <p:cNvSpPr txBox="1"/>
          <p:nvPr/>
        </p:nvSpPr>
        <p:spPr>
          <a:xfrm>
            <a:off x="6537960" y="2258568"/>
            <a:ext cx="5074920" cy="621792"/>
          </a:xfrm>
          <a:prstGeom prst="rect">
            <a:avLst/>
          </a:prstGeom>
          <a:noFill/>
          <a:ln/>
        </p:spPr>
        <p:txBody>
          <a:bodyPr wrap="square" lIns="0" tIns="0" rIns="0" bIns="0" rtlCol="0" anchor="ctr"/>
          <a:lstStyle/>
          <a:p>
            <a:pPr indent="0" marL="0">
              <a:lnSpc>
                <a:spcPct val="118000"/>
              </a:lnSpc>
              <a:buNone/>
            </a:pPr>
            <a:r>
              <a:rPr lang="en-US" sz="1150" dirty="0">
                <a:solidFill>
                  <a:srgbClr val="33344A"/>
                </a:solidFill>
                <a:latin typeface="Calibri" pitchFamily="34" charset="0"/>
                <a:ea typeface="Calibri" pitchFamily="34" charset="-122"/>
                <a:cs typeface="Calibri" pitchFamily="34" charset="-120"/>
              </a:rPr>
              <a:t>Two independently-fit models ⇒ subtracting them doesn't cancel their errors, it adds them. And a model's variance shrinks as its training sample n grows — fewer rows means a noisier model.</a:t>
            </a:r>
            <a:endParaRPr lang="en-US" sz="1150" dirty="0"/>
          </a:p>
        </p:txBody>
      </p:sp>
      <p:sp>
        <p:nvSpPr>
          <p:cNvPr id="9" name="Shape 7"/>
          <p:cNvSpPr/>
          <p:nvPr/>
        </p:nvSpPr>
        <p:spPr>
          <a:xfrm>
            <a:off x="548640" y="3108960"/>
            <a:ext cx="5349240" cy="1828800"/>
          </a:xfrm>
          <a:prstGeom prst="roundRect">
            <a:avLst>
              <a:gd name="adj" fmla="val 5000"/>
            </a:avLst>
          </a:prstGeom>
          <a:solidFill>
            <a:srgbClr val="E4F3EC"/>
          </a:solidFill>
          <a:ln w="16510">
            <a:solidFill>
              <a:srgbClr val="1B7A5A"/>
            </a:solidFill>
            <a:prstDash val="solid"/>
          </a:ln>
        </p:spPr>
      </p:sp>
      <p:sp>
        <p:nvSpPr>
          <p:cNvPr id="10" name="Text 8"/>
          <p:cNvSpPr txBox="1"/>
          <p:nvPr/>
        </p:nvSpPr>
        <p:spPr>
          <a:xfrm>
            <a:off x="822960" y="3291840"/>
            <a:ext cx="4800600"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  If receive_offer Were 50/50</a:t>
            </a:r>
            <a:endParaRPr lang="en-US" sz="1550" dirty="0"/>
          </a:p>
        </p:txBody>
      </p:sp>
      <p:sp>
        <p:nvSpPr>
          <p:cNvPr id="11" name="Text 9"/>
          <p:cNvSpPr txBox="1"/>
          <p:nvPr/>
        </p:nvSpPr>
        <p:spPr>
          <a:xfrm>
            <a:off x="822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n₀ ≈ n₁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models see plenty of data.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Var(μ̂₀) ≈ Var(μ̂₁)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reasonably precise.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still small.
</a:t>
            </a:r>
            <a:pPr indent="0" marL="0">
              <a:lnSpc>
                <a:spcPct val="135000"/>
              </a:lnSpc>
              <a:buNone/>
            </a:pPr>
            <a:r>
              <a:rPr lang="en-US" sz="1250" b="1" dirty="0">
                <a:solidFill>
                  <a:srgbClr val="1B7A5A"/>
                </a:solidFill>
                <a:latin typeface="Calibri" pitchFamily="34" charset="0"/>
                <a:ea typeface="Calibri" pitchFamily="34" charset="-122"/>
                <a:cs typeface="Calibri" pitchFamily="34" charset="-120"/>
              </a:rPr>
              <a:t>→ T-Learner's subtraction is safe.</a:t>
            </a:r>
            <a:endParaRPr lang="en-US" sz="1250" dirty="0"/>
          </a:p>
        </p:txBody>
      </p:sp>
      <p:sp>
        <p:nvSpPr>
          <p:cNvPr id="12" name="Shape 10"/>
          <p:cNvSpPr/>
          <p:nvPr/>
        </p:nvSpPr>
        <p:spPr>
          <a:xfrm>
            <a:off x="6263640" y="3108960"/>
            <a:ext cx="5349240" cy="1828800"/>
          </a:xfrm>
          <a:prstGeom prst="roundRect">
            <a:avLst>
              <a:gd name="adj" fmla="val 5000"/>
            </a:avLst>
          </a:prstGeom>
          <a:solidFill>
            <a:srgbClr val="FBEAE8"/>
          </a:solidFill>
          <a:ln w="16510">
            <a:solidFill>
              <a:srgbClr val="B03A2E"/>
            </a:solidFill>
            <a:prstDash val="solid"/>
          </a:ln>
        </p:spPr>
      </p:sp>
      <p:sp>
        <p:nvSpPr>
          <p:cNvPr id="13" name="Text 11"/>
          <p:cNvSpPr txBox="1"/>
          <p:nvPr/>
        </p:nvSpPr>
        <p:spPr>
          <a:xfrm>
            <a:off x="6537960" y="3291840"/>
            <a:ext cx="4800600" cy="365760"/>
          </a:xfrm>
          <a:prstGeom prst="rect">
            <a:avLst/>
          </a:prstGeom>
          <a:noFill/>
          <a:ln/>
        </p:spPr>
        <p:txBody>
          <a:bodyPr wrap="square" lIns="0" tIns="0" rIns="0" bIns="0" rtlCol="0" anchor="ctr"/>
          <a:lstStyle/>
          <a:p>
            <a:pPr indent="0" marL="0">
              <a:buNone/>
            </a:pPr>
            <a:r>
              <a:rPr lang="en-US" sz="1400" b="1" dirty="0">
                <a:solidFill>
                  <a:srgbClr val="B03A2E"/>
                </a:solidFill>
                <a:latin typeface="Cambria" pitchFamily="34" charset="0"/>
                <a:ea typeface="Cambria" pitchFamily="34" charset="-122"/>
                <a:cs typeface="Cambria" pitchFamily="34" charset="-120"/>
              </a:rPr>
              <a:t>✗  Our Real Setup — Control ≈70% / Treatment ≈30%</a:t>
            </a:r>
            <a:endParaRPr lang="en-US" sz="1400" dirty="0"/>
          </a:p>
        </p:txBody>
      </p:sp>
      <p:sp>
        <p:nvSpPr>
          <p:cNvPr id="14" name="Text 12"/>
          <p:cNvSpPr txBox="1"/>
          <p:nvPr/>
        </p:nvSpPr>
        <p:spPr>
          <a:xfrm>
            <a:off x="6537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n₁ (treatment) is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trains on few rows.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Var(μ̂₁) is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is noisy.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dominated by μ̂₁.
</a:t>
            </a:r>
            <a:pPr indent="0" marL="0">
              <a:lnSpc>
                <a:spcPct val="135000"/>
              </a:lnSpc>
              <a:buNone/>
            </a:pPr>
            <a:r>
              <a:rPr lang="en-US" sz="1250" b="1" dirty="0">
                <a:solidFill>
                  <a:srgbClr val="B03A2E"/>
                </a:solidFill>
                <a:latin typeface="Calibri" pitchFamily="34" charset="0"/>
                <a:ea typeface="Calibri" pitchFamily="34" charset="-122"/>
                <a:cs typeface="Calibri" pitchFamily="34" charset="-120"/>
              </a:rPr>
              <a:t>→ every τ(x) inherits μ̂₁'s noise.</a:t>
            </a:r>
            <a:endParaRPr lang="en-US" sz="1250" dirty="0"/>
          </a:p>
        </p:txBody>
      </p:sp>
      <p:sp>
        <p:nvSpPr>
          <p:cNvPr id="15" name="Shape 13"/>
          <p:cNvSpPr/>
          <p:nvPr/>
        </p:nvSpPr>
        <p:spPr>
          <a:xfrm>
            <a:off x="548640" y="5102352"/>
            <a:ext cx="11064240" cy="1234440"/>
          </a:xfrm>
          <a:prstGeom prst="roundRect">
            <a:avLst>
              <a:gd name="adj" fmla="val 5926"/>
            </a:avLst>
          </a:prstGeom>
          <a:solidFill>
            <a:srgbClr val="141B4D"/>
          </a:solidFill>
          <a:ln/>
        </p:spPr>
      </p:sp>
      <p:sp>
        <p:nvSpPr>
          <p:cNvPr id="16" name="Text 14"/>
          <p:cNvSpPr txBox="1"/>
          <p:nvPr/>
        </p:nvSpPr>
        <p:spPr>
          <a:xfrm>
            <a:off x="868680" y="5102352"/>
            <a:ext cx="10424160" cy="1234440"/>
          </a:xfrm>
          <a:prstGeom prst="rect">
            <a:avLst/>
          </a:prstGeom>
          <a:noFill/>
          <a:ln/>
        </p:spPr>
        <p:txBody>
          <a:bodyPr wrap="square" lIns="0" tIns="0" rIns="0" bIns="0" rtlCol="0" anchor="ctr"/>
          <a:lstStyle/>
          <a:p>
            <a:pPr indent="0" marL="0">
              <a:lnSpc>
                <a:spcPct val="122000"/>
              </a:lnSpc>
              <a:buNone/>
            </a:pPr>
            <a:r>
              <a:rPr lang="en-US" sz="1150" b="1" dirty="0">
                <a:solidFill>
                  <a:srgbClr val="B8892B"/>
                </a:solidFill>
                <a:latin typeface="Calibri" pitchFamily="34" charset="0"/>
                <a:ea typeface="Calibri" pitchFamily="34" charset="-122"/>
                <a:cs typeface="Calibri" pitchFamily="34" charset="-120"/>
              </a:rPr>
              <a:t>So what does X-Learner actually fix?  </a:t>
            </a:r>
            <a:pPr indent="0" marL="0">
              <a:lnSpc>
                <a:spcPct val="122000"/>
              </a:lnSpc>
              <a:buNone/>
            </a:pPr>
            <a:r>
              <a:rPr lang="en-US" sz="1150" dirty="0">
                <a:solidFill>
                  <a:srgbClr val="FFFFFF"/>
                </a:solidFill>
                <a:latin typeface="Calibri" pitchFamily="34" charset="0"/>
                <a:ea typeface="Calibri" pitchFamily="34" charset="-122"/>
                <a:cs typeface="Calibri" pitchFamily="34" charset="-120"/>
              </a:rPr>
              <a:t>Not a better model for the small arm — it stops asking μ̂₁ to predict outcomes for everyone. For each treated customer it uses their own real, observed Applied outcome, and only needs μ̂₀ (the reliable, large-sample model) to estimate the counterfactual. The minority arm's job shrinks from “run a whole noisy model on every customer” down to “fit one more regression on a small-but-real dataset.” Next: how that actually works, layer by layer.</a:t>
            </a:r>
            <a:endParaRPr lang="en-US" sz="1150" dirty="0"/>
          </a:p>
        </p:txBody>
      </p:sp>
      <p:sp>
        <p:nvSpPr>
          <p:cNvPr id="17" name="Text 15"/>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18" name="Text 1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receive_offer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treatment group</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about 70% of customers are held-out control (no offer) and only ~30% receive the mailed offer — you can't afford to mail everyone in a live campaign. That's exactly T-Learner's weak point: μ̂₁, the offer-side model, is trained on the smaller group and is noisy. X-Learner's imputation step lets the offer-side effect estimate borrow strength from the reliable, well-estimated control-side model instead.</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Applied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Control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μ̂₀(x) = E[Y(0) | X=x] — trained only on customers who did NOT get the offer.
</a:t>
            </a:r>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Treatment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μ̂₁(x) = E[Y(1) | X=x] — trained only on customers who DID get the offer. (Y = 1 if they applied for the card, 0 if not.)</a:t>
            </a:r>
            <a:endParaRPr lang="en-US" sz="130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receive_offer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Applied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pred. Applied, no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pred. Applied, w/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(offer sent)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(offer sent)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(offer sent)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(Applied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D̃ᵢᶜ = μ̂₁(Xᵢ) − Appliedᵢ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Appliedᵢ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983480"/>
            <a:ext cx="11064240" cy="1051560"/>
          </a:xfrm>
          <a:prstGeom prst="roundRect">
            <a:avLst>
              <a:gd name="adj" fmla="val 5217"/>
            </a:avLst>
          </a:prstGeom>
          <a:solidFill>
            <a:srgbClr val="141B4D"/>
          </a:solidFill>
          <a:ln/>
        </p:spPr>
      </p:sp>
      <p:sp>
        <p:nvSpPr>
          <p:cNvPr id="14" name="Text 10"/>
          <p:cNvSpPr txBox="1"/>
          <p:nvPr/>
        </p:nvSpPr>
        <p:spPr>
          <a:xfrm>
            <a:off x="822960" y="4983480"/>
            <a:ext cx="10515600" cy="1051560"/>
          </a:xfrm>
          <a:prstGeom prst="rect">
            <a:avLst/>
          </a:prstGeom>
          <a:noFill/>
          <a:ln/>
        </p:spPr>
        <p:txBody>
          <a:bodyPr wrap="square" lIns="0" tIns="0" rIns="0" bIns="0" rtlCol="0" anchor="ctr"/>
          <a:lstStyle/>
          <a:p>
            <a:pPr indent="0" marL="0">
              <a:lnSpc>
                <a:spcPct val="120000"/>
              </a:lnSpc>
              <a:buNone/>
            </a:pPr>
            <a:r>
              <a:rPr lang="en-US" sz="1150" b="1" dirty="0">
                <a:solidFill>
                  <a:srgbClr val="B8892B"/>
                </a:solidFill>
                <a:latin typeface="Calibri" pitchFamily="34" charset="0"/>
                <a:ea typeface="Calibri" pitchFamily="34" charset="-122"/>
                <a:cs typeface="Calibri" pitchFamily="34" charset="-120"/>
              </a:rPr>
              <a:t>Why this beats a raw μ̂₁ − μ̂₀:  </a:t>
            </a:r>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for a treated customer we don't need a model to guess their outcome — we use their own real, observed Applied value, and only borrow μ̂₀ (fit on the large control group) to estimate what would've happened without the offer. The minority (treatment) arm no longer needs a full noisy model of its own — just one more regression on these pseudo effects. These are continuous, signed numbers, not 0/1 labels, and each becomes a training label in Layer 3.</a:t>
            </a:r>
            <a:endParaRPr lang="en-US" sz="11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Applied outcome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566160"/>
            <a:ext cx="11064240" cy="777240"/>
          </a:xfrm>
          <a:prstGeom prst="roundRect">
            <a:avLst>
              <a:gd name="adj" fmla="val 7059"/>
            </a:avLst>
          </a:prstGeom>
          <a:solidFill>
            <a:srgbClr val="EAF0FC"/>
          </a:solidFill>
          <a:ln/>
        </p:spPr>
      </p:sp>
      <p:sp>
        <p:nvSpPr>
          <p:cNvPr id="12" name="Text 10"/>
          <p:cNvSpPr txBox="1"/>
          <p:nvPr/>
        </p:nvSpPr>
        <p:spPr>
          <a:xfrm>
            <a:off x="777240" y="3566160"/>
            <a:ext cx="10607040" cy="777240"/>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What they output: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“how big is this customer's incremental effect” — not “how likely are they to respond.”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Why two of them: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each is trained on a different pseudo-effect sample — τC on the large control-side sample, τT on the small treatment-side one — so neither is fully trustworthy alone. Layer 4 decides how much to lean on each.</a:t>
            </a:r>
            <a:endParaRPr lang="en-US" sz="1150" dirty="0"/>
          </a:p>
        </p:txBody>
      </p:sp>
      <p:sp>
        <p:nvSpPr>
          <p:cNvPr id="13" name="Text 11"/>
          <p:cNvSpPr txBox="1"/>
          <p:nvPr/>
        </p:nvSpPr>
        <p:spPr>
          <a:xfrm>
            <a:off x="548640" y="4480560"/>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 a new customer, G, scored by both:</a:t>
            </a:r>
            <a:endParaRPr lang="en-US" sz="1300" dirty="0"/>
          </a:p>
        </p:txBody>
      </p:sp>
      <p:sp>
        <p:nvSpPr>
          <p:cNvPr id="14" name="Shape 12"/>
          <p:cNvSpPr/>
          <p:nvPr/>
        </p:nvSpPr>
        <p:spPr>
          <a:xfrm>
            <a:off x="3352648" y="4864608"/>
            <a:ext cx="2468880" cy="1005840"/>
          </a:xfrm>
          <a:prstGeom prst="roundRect">
            <a:avLst>
              <a:gd name="adj" fmla="val 7273"/>
            </a:avLst>
          </a:prstGeom>
          <a:solidFill>
            <a:srgbClr val="1B7A5A"/>
          </a:solidFill>
          <a:ln/>
        </p:spPr>
      </p:sp>
      <p:sp>
        <p:nvSpPr>
          <p:cNvPr id="15" name="Text 13"/>
          <p:cNvSpPr txBox="1"/>
          <p:nvPr/>
        </p:nvSpPr>
        <p:spPr>
          <a:xfrm>
            <a:off x="335264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τC(G)</a:t>
            </a:r>
            <a:endParaRPr lang="en-US" sz="1250" dirty="0"/>
          </a:p>
        </p:txBody>
      </p:sp>
      <p:sp>
        <p:nvSpPr>
          <p:cNvPr id="16" name="Text 14"/>
          <p:cNvSpPr txBox="1"/>
          <p:nvPr/>
        </p:nvSpPr>
        <p:spPr>
          <a:xfrm>
            <a:off x="335264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0.12</a:t>
            </a:r>
            <a:endParaRPr lang="en-US" sz="2700" dirty="0"/>
          </a:p>
        </p:txBody>
      </p:sp>
      <p:sp>
        <p:nvSpPr>
          <p:cNvPr id="17" name="Shape 15"/>
          <p:cNvSpPr/>
          <p:nvPr/>
        </p:nvSpPr>
        <p:spPr>
          <a:xfrm>
            <a:off x="6370168" y="4864608"/>
            <a:ext cx="2468880" cy="1005840"/>
          </a:xfrm>
          <a:prstGeom prst="roundRect">
            <a:avLst>
              <a:gd name="adj" fmla="val 7273"/>
            </a:avLst>
          </a:prstGeom>
          <a:solidFill>
            <a:srgbClr val="B8892B"/>
          </a:solidFill>
          <a:ln/>
        </p:spPr>
      </p:sp>
      <p:sp>
        <p:nvSpPr>
          <p:cNvPr id="18" name="Text 16"/>
          <p:cNvSpPr txBox="1"/>
          <p:nvPr/>
        </p:nvSpPr>
        <p:spPr>
          <a:xfrm>
            <a:off x="637016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τT(G)</a:t>
            </a:r>
            <a:endParaRPr lang="en-US" sz="1250" dirty="0"/>
          </a:p>
        </p:txBody>
      </p:sp>
      <p:sp>
        <p:nvSpPr>
          <p:cNvPr id="19" name="Text 17"/>
          <p:cNvSpPr txBox="1"/>
          <p:nvPr/>
        </p:nvSpPr>
        <p:spPr>
          <a:xfrm>
            <a:off x="637016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0.28</a:t>
            </a:r>
            <a:endParaRPr lang="en-US" sz="2700" dirty="0"/>
          </a:p>
        </p:txBody>
      </p:sp>
      <p:sp>
        <p:nvSpPr>
          <p:cNvPr id="20" name="Text 18"/>
          <p:cNvSpPr txBox="1"/>
          <p:nvPr/>
        </p:nvSpPr>
        <p:spPr>
          <a:xfrm>
            <a:off x="548640" y="5980176"/>
            <a:ext cx="11064240" cy="320040"/>
          </a:xfrm>
          <a:prstGeom prst="rect">
            <a:avLst/>
          </a:prstGeom>
          <a:noFill/>
          <a:ln/>
        </p:spPr>
        <p:txBody>
          <a:bodyPr wrap="square" lIns="0" tIns="0" rIns="0" bIns="0" rtlCol="0" anchor="ctr"/>
          <a:lstStyle/>
          <a:p>
            <a:pPr algn="ctr" indent="0" marL="0">
              <a:buNone/>
            </a:pPr>
            <a:r>
              <a:rPr lang="en-US" sz="115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15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67712"/>
            <a:ext cx="11064240" cy="566928"/>
          </a:xfrm>
          <a:prstGeom prst="rect">
            <a:avLst/>
          </a:prstGeom>
          <a:noFill/>
          <a:ln/>
        </p:spPr>
        <p:txBody>
          <a:bodyPr wrap="square" lIns="0" tIns="0" rIns="0" bIns="0" rtlCol="0" anchor="ctr"/>
          <a:lstStyle/>
          <a:p>
            <a:pPr algn="ctr" indent="0" marL="0">
              <a:lnSpc>
                <a:spcPct val="120000"/>
              </a:lnSpc>
              <a:buNone/>
            </a:pPr>
            <a:r>
              <a:rPr lang="en-US" sz="1150" i="1" dirty="0">
                <a:solidFill>
                  <a:srgbClr val="6B7280"/>
                </a:solidFill>
                <a:latin typeface="Calibri" pitchFamily="34" charset="0"/>
                <a:ea typeface="Calibri" pitchFamily="34" charset="-122"/>
                <a:cs typeface="Calibri" pitchFamily="34" charset="-120"/>
              </a:rPr>
              <a:t>g(x) is the propensity score. τC and τT were each built from a different-sized sample with a different kind of noise (previous slide) — neither is fully reliable alone. g(x) is how the model calibrates how much to lean on each, instead of trusting just one arm's estimate.</a:t>
            </a:r>
            <a:endParaRPr lang="en-US" sz="1150" dirty="0"/>
          </a:p>
        </p:txBody>
      </p:sp>
      <p:sp>
        <p:nvSpPr>
          <p:cNvPr id="7" name="Text 5"/>
          <p:cNvSpPr txBox="1"/>
          <p:nvPr/>
        </p:nvSpPr>
        <p:spPr>
          <a:xfrm>
            <a:off x="548640" y="2999232"/>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continuing with customer G:</a:t>
            </a:r>
            <a:endParaRPr lang="en-US" sz="1300" dirty="0"/>
          </a:p>
        </p:txBody>
      </p:sp>
      <p:sp>
        <p:nvSpPr>
          <p:cNvPr id="8" name="Shape 6"/>
          <p:cNvSpPr/>
          <p:nvPr/>
        </p:nvSpPr>
        <p:spPr>
          <a:xfrm>
            <a:off x="548640" y="3429000"/>
            <a:ext cx="8138160" cy="548640"/>
          </a:xfrm>
          <a:prstGeom prst="roundRect">
            <a:avLst>
              <a:gd name="adj" fmla="val 10000"/>
            </a:avLst>
          </a:prstGeom>
          <a:solidFill>
            <a:srgbClr val="FBF3E1"/>
          </a:solidFill>
          <a:ln/>
        </p:spPr>
      </p:sp>
      <p:sp>
        <p:nvSpPr>
          <p:cNvPr id="9" name="Text 7"/>
          <p:cNvSpPr txBox="1"/>
          <p:nvPr/>
        </p:nvSpPr>
        <p:spPr>
          <a:xfrm>
            <a:off x="777240" y="3429000"/>
            <a:ext cx="1188720" cy="548640"/>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4290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4290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4290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4290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114800"/>
            <a:ext cx="8138160" cy="548640"/>
          </a:xfrm>
          <a:prstGeom prst="roundRect">
            <a:avLst>
              <a:gd name="adj" fmla="val 10000"/>
            </a:avLst>
          </a:prstGeom>
          <a:solidFill>
            <a:srgbClr val="E4F3EC"/>
          </a:solidFill>
          <a:ln/>
        </p:spPr>
      </p:sp>
      <p:sp>
        <p:nvSpPr>
          <p:cNvPr id="17" name="Text 15"/>
          <p:cNvSpPr txBox="1"/>
          <p:nvPr/>
        </p:nvSpPr>
        <p:spPr>
          <a:xfrm>
            <a:off x="777240" y="4114800"/>
            <a:ext cx="1188720" cy="548640"/>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1148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1148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1148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1148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337560"/>
            <a:ext cx="2606040" cy="1417320"/>
          </a:xfrm>
          <a:prstGeom prst="roundRect">
            <a:avLst>
              <a:gd name="adj" fmla="val 6452"/>
            </a:avLst>
          </a:prstGeom>
          <a:solidFill>
            <a:srgbClr val="1E2761"/>
          </a:solidFill>
          <a:ln/>
        </p:spPr>
      </p:sp>
      <p:sp>
        <p:nvSpPr>
          <p:cNvPr id="25" name="Text 23"/>
          <p:cNvSpPr txBox="1"/>
          <p:nvPr/>
        </p:nvSpPr>
        <p:spPr>
          <a:xfrm>
            <a:off x="9006840" y="347472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74904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434840"/>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Mail — send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Don't mail — offer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mail down to a budget cutoff, and treat a low or negative score as a decision NOT to spend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mailing everyone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2026-08-27T04:50:44Z</dcterms:created>
  <dcterms:modified xsi:type="dcterms:W3CDTF">2026-08-27T04:50:44Z</dcterms:modified>
</cp:coreProperties>
</file>